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75" r:id="rId12"/>
    <p:sldId id="271" r:id="rId13"/>
    <p:sldId id="272" r:id="rId14"/>
    <p:sldId id="273" r:id="rId15"/>
    <p:sldId id="274" r:id="rId16"/>
    <p:sldId id="276" r:id="rId17"/>
    <p:sldId id="277" r:id="rId18"/>
    <p:sldId id="278" r:id="rId19"/>
    <p:sldId id="279" r:id="rId20"/>
    <p:sldId id="281" r:id="rId21"/>
    <p:sldId id="266" r:id="rId22"/>
    <p:sldId id="267" r:id="rId23"/>
    <p:sldId id="268" r:id="rId24"/>
    <p:sldId id="269" r:id="rId25"/>
    <p:sldId id="270"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94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0516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PhishGuard: an email phishing detection system that gives every email a 0-100 risk score and explains the verdict. The terminal card on the right shows a sample scan.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problem: phishing works through disguised links, urgency and filters that give no explanation. The mini attack path shows how one click leads to stolen data.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Each one maps to a feature that is demonstrated later in the deck.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typical spam filters with PhishGuard row by row. Existing-system points describe typical filters in general, not any specific product.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input, Flask server, the four-part analysis engine, scoring, then output. Every scan is stored in SQLite and the feedback loop retrains the model.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headline features. The live preview and highlighter make good live-demo moments.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The model catches wording patterns, rules explain specific red flags, the threat database catches known-bad domains, and user lists let each person tune the result.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 blends the model and the rules equally. Strong evidence, such as a known phishing domain, overrides the blend. Verdict bands: 60 and above Phishing, 35 to 59 Suspicious, below 35 Safe.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deliberately small: Python, Flask, scikit-learn and SQLite. The right-hand list covers extra features beyond core detection.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what the user does. The bottom row is how it is built: five modules, each with one job.</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99FA6-96CA-BC86-87D5-26F76681F0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AE14F2-2521-1618-549A-0995D57AE3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A4C746-D0A7-FF2F-F4A9-A99F94C79988}"/>
              </a:ext>
            </a:extLst>
          </p:cNvPr>
          <p:cNvSpPr>
            <a:spLocks noGrp="1"/>
          </p:cNvSpPr>
          <p:nvPr>
            <p:ph type="body" idx="1"/>
          </p:nvPr>
        </p:nvSpPr>
        <p:spPr/>
        <p:txBody>
          <a:bodyPr/>
          <a:lstStyle/>
          <a:p>
            <a:r>
              <a:rPr lang="en-US" dirty="0"/>
              <a:t>Top row is what the user does. The bottom row is how it is built: five modules, each with one job.</a:t>
            </a:r>
          </a:p>
        </p:txBody>
      </p:sp>
      <p:sp>
        <p:nvSpPr>
          <p:cNvPr id="4" name="Slide Number Placeholder 3">
            <a:extLst>
              <a:ext uri="{FF2B5EF4-FFF2-40B4-BE49-F238E27FC236}">
                <a16:creationId xmlns:a16="http://schemas.microsoft.com/office/drawing/2014/main" id="{9DBD2D14-1C17-66B0-F6D9-7420C406F1DF}"/>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1048876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2C587-73ED-C676-492E-27EC3667C3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B7957B-DDD9-3840-E285-F51E2CCA10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17C379-3FE2-9027-DAED-8E51D840B1F6}"/>
              </a:ext>
            </a:extLst>
          </p:cNvPr>
          <p:cNvSpPr>
            <a:spLocks noGrp="1"/>
          </p:cNvSpPr>
          <p:nvPr>
            <p:ph type="body" idx="1"/>
          </p:nvPr>
        </p:nvSpPr>
        <p:spPr/>
        <p:txBody>
          <a:bodyPr/>
          <a:lstStyle/>
          <a:p>
            <a:r>
              <a:rPr lang="en-US" dirty="0"/>
              <a:t>Top row is what the user does. The bottom row is how it is built: five modules, each with one job.</a:t>
            </a:r>
          </a:p>
        </p:txBody>
      </p:sp>
      <p:sp>
        <p:nvSpPr>
          <p:cNvPr id="4" name="Slide Number Placeholder 3">
            <a:extLst>
              <a:ext uri="{FF2B5EF4-FFF2-40B4-BE49-F238E27FC236}">
                <a16:creationId xmlns:a16="http://schemas.microsoft.com/office/drawing/2014/main" id="{9F73F087-690D-1E68-4761-771A59DC99CF}"/>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4702704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B3EAD-67BE-65CA-832B-4D60B21118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515D9F-6CCC-4680-5BE2-10779424C9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BC6786-C520-F64E-A742-4463F785495E}"/>
              </a:ext>
            </a:extLst>
          </p:cNvPr>
          <p:cNvSpPr>
            <a:spLocks noGrp="1"/>
          </p:cNvSpPr>
          <p:nvPr>
            <p:ph type="body" idx="1"/>
          </p:nvPr>
        </p:nvSpPr>
        <p:spPr/>
        <p:txBody>
          <a:bodyPr/>
          <a:lstStyle/>
          <a:p>
            <a:r>
              <a:rPr lang="en-US" dirty="0"/>
              <a:t>Top row is what the user does. The bottom row is how it is built: five modules, each with one job.</a:t>
            </a:r>
          </a:p>
        </p:txBody>
      </p:sp>
      <p:sp>
        <p:nvSpPr>
          <p:cNvPr id="4" name="Slide Number Placeholder 3">
            <a:extLst>
              <a:ext uri="{FF2B5EF4-FFF2-40B4-BE49-F238E27FC236}">
                <a16:creationId xmlns:a16="http://schemas.microsoft.com/office/drawing/2014/main" id="{FB8395EA-ABF4-C8AA-8630-D0DB74089680}"/>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2137030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0670C-457D-1BD3-D3D6-8214C1D16C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28907D-27CC-5413-6090-E885BDAD49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C3706B-27EC-78EA-02BC-02FC658B27E3}"/>
              </a:ext>
            </a:extLst>
          </p:cNvPr>
          <p:cNvSpPr>
            <a:spLocks noGrp="1"/>
          </p:cNvSpPr>
          <p:nvPr>
            <p:ph type="body" idx="1"/>
          </p:nvPr>
        </p:nvSpPr>
        <p:spPr/>
        <p:txBody>
          <a:bodyPr/>
          <a:lstStyle/>
          <a:p>
            <a:r>
              <a:rPr lang="en-US" dirty="0"/>
              <a:t>Top row is what the user does. The bottom row is how it is built: five modules, each with one job.</a:t>
            </a:r>
          </a:p>
        </p:txBody>
      </p:sp>
      <p:sp>
        <p:nvSpPr>
          <p:cNvPr id="4" name="Slide Number Placeholder 3">
            <a:extLst>
              <a:ext uri="{FF2B5EF4-FFF2-40B4-BE49-F238E27FC236}">
                <a16:creationId xmlns:a16="http://schemas.microsoft.com/office/drawing/2014/main" id="{C3062FAE-5AC8-6407-A608-7087C2F94937}"/>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8576554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22602-97AB-461F-4725-4B1BFDE2D8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4C008A-4A16-EE14-7159-B9CF924198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3B504F-BED6-8491-2AF3-AA5688580FE9}"/>
              </a:ext>
            </a:extLst>
          </p:cNvPr>
          <p:cNvSpPr>
            <a:spLocks noGrp="1"/>
          </p:cNvSpPr>
          <p:nvPr>
            <p:ph type="body" idx="1"/>
          </p:nvPr>
        </p:nvSpPr>
        <p:spPr/>
        <p:txBody>
          <a:bodyPr/>
          <a:lstStyle/>
          <a:p>
            <a:r>
              <a:rPr lang="en-US" dirty="0"/>
              <a:t>Top row is what the user does. The bottom row is how it is built: five modules, each with one job.</a:t>
            </a:r>
          </a:p>
        </p:txBody>
      </p:sp>
      <p:sp>
        <p:nvSpPr>
          <p:cNvPr id="4" name="Slide Number Placeholder 3">
            <a:extLst>
              <a:ext uri="{FF2B5EF4-FFF2-40B4-BE49-F238E27FC236}">
                <a16:creationId xmlns:a16="http://schemas.microsoft.com/office/drawing/2014/main" id="{C4B3DC0D-9F01-CE39-EF20-1420B4140D2C}"/>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7436224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72561-4FCA-C2FA-86AA-338FE2542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05154A-06FB-CF60-8E6F-4A9D6121A0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49A264-D69F-5151-9BBE-CD0B6FC40D6D}"/>
              </a:ext>
            </a:extLst>
          </p:cNvPr>
          <p:cNvSpPr>
            <a:spLocks noGrp="1"/>
          </p:cNvSpPr>
          <p:nvPr>
            <p:ph type="body" idx="1"/>
          </p:nvPr>
        </p:nvSpPr>
        <p:spPr/>
        <p:txBody>
          <a:bodyPr/>
          <a:lstStyle/>
          <a:p>
            <a:r>
              <a:rPr lang="en-US" dirty="0"/>
              <a:t>Top row is what the user does. The bottom row is how it is built: five modules, each with one job.</a:t>
            </a:r>
          </a:p>
        </p:txBody>
      </p:sp>
      <p:sp>
        <p:nvSpPr>
          <p:cNvPr id="4" name="Slide Number Placeholder 3">
            <a:extLst>
              <a:ext uri="{FF2B5EF4-FFF2-40B4-BE49-F238E27FC236}">
                <a16:creationId xmlns:a16="http://schemas.microsoft.com/office/drawing/2014/main" id="{B178D3BE-B67A-6E15-53E7-BA4E8DC60FF2}"/>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530339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60DD7-E7B4-85F0-E795-222714AFF9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BB304B-177D-9D30-3BC3-8632439AC0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BEF0C8-0A39-DF73-0817-7B768C4C6F8E}"/>
              </a:ext>
            </a:extLst>
          </p:cNvPr>
          <p:cNvSpPr>
            <a:spLocks noGrp="1"/>
          </p:cNvSpPr>
          <p:nvPr>
            <p:ph type="body" idx="1"/>
          </p:nvPr>
        </p:nvSpPr>
        <p:spPr/>
        <p:txBody>
          <a:bodyPr/>
          <a:lstStyle/>
          <a:p>
            <a:r>
              <a:rPr lang="en-US" dirty="0"/>
              <a:t>Top row is what the user does. The bottom row is how it is built: five modules, each with one job.</a:t>
            </a:r>
          </a:p>
        </p:txBody>
      </p:sp>
      <p:sp>
        <p:nvSpPr>
          <p:cNvPr id="4" name="Slide Number Placeholder 3">
            <a:extLst>
              <a:ext uri="{FF2B5EF4-FFF2-40B4-BE49-F238E27FC236}">
                <a16:creationId xmlns:a16="http://schemas.microsoft.com/office/drawing/2014/main" id="{BA73721A-309C-50C7-A4E1-68A4D9AD636E}"/>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0824904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FD655-8DB4-2E77-368B-21A4FA4E5B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EA72D5-3BCA-14A1-CF97-DEAED790D6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458C9C-CE39-CF95-5D7E-38B23F130CD3}"/>
              </a:ext>
            </a:extLst>
          </p:cNvPr>
          <p:cNvSpPr>
            <a:spLocks noGrp="1"/>
          </p:cNvSpPr>
          <p:nvPr>
            <p:ph type="body" idx="1"/>
          </p:nvPr>
        </p:nvSpPr>
        <p:spPr/>
        <p:txBody>
          <a:bodyPr/>
          <a:lstStyle/>
          <a:p>
            <a:r>
              <a:rPr lang="en-US" dirty="0"/>
              <a:t>Top row is what the user does. The bottom row is how it is built: five modules, each with one job.</a:t>
            </a:r>
          </a:p>
        </p:txBody>
      </p:sp>
      <p:sp>
        <p:nvSpPr>
          <p:cNvPr id="4" name="Slide Number Placeholder 3">
            <a:extLst>
              <a:ext uri="{FF2B5EF4-FFF2-40B4-BE49-F238E27FC236}">
                <a16:creationId xmlns:a16="http://schemas.microsoft.com/office/drawing/2014/main" id="{0E36DC4F-E51B-76BE-BD4A-072EB51C8986}"/>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8103519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CC326-5B35-6ECA-525F-42153EAECC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80EA27-6838-3391-0FCB-DEBB9DB8CA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81B34-31D8-8006-45D3-A41D57A669C1}"/>
              </a:ext>
            </a:extLst>
          </p:cNvPr>
          <p:cNvSpPr>
            <a:spLocks noGrp="1"/>
          </p:cNvSpPr>
          <p:nvPr>
            <p:ph type="body" idx="1"/>
          </p:nvPr>
        </p:nvSpPr>
        <p:spPr/>
        <p:txBody>
          <a:bodyPr/>
          <a:lstStyle/>
          <a:p>
            <a:r>
              <a:rPr lang="en-US" dirty="0"/>
              <a:t>Top row is what the user does. The bottom row is how it is built: five modules, each with one job.</a:t>
            </a:r>
          </a:p>
        </p:txBody>
      </p:sp>
      <p:sp>
        <p:nvSpPr>
          <p:cNvPr id="4" name="Slide Number Placeholder 3">
            <a:extLst>
              <a:ext uri="{FF2B5EF4-FFF2-40B4-BE49-F238E27FC236}">
                <a16:creationId xmlns:a16="http://schemas.microsoft.com/office/drawing/2014/main" id="{1692ECA6-99A0-9E9C-2515-08EDA8386365}"/>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707417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E5DDA-42A2-787D-68AD-249ADCDE37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1C0063-A828-1CE4-3E52-0996A3FE3B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3B69BE-5349-9095-8F71-6DA5DF598E7C}"/>
              </a:ext>
            </a:extLst>
          </p:cNvPr>
          <p:cNvSpPr>
            <a:spLocks noGrp="1"/>
          </p:cNvSpPr>
          <p:nvPr>
            <p:ph type="body" idx="1"/>
          </p:nvPr>
        </p:nvSpPr>
        <p:spPr/>
        <p:txBody>
          <a:bodyPr/>
          <a:lstStyle/>
          <a:p>
            <a:r>
              <a:rPr lang="en-US" dirty="0"/>
              <a:t>Top row is what the user does. The bottom row is how it is built: five modules, each with one job.</a:t>
            </a:r>
          </a:p>
        </p:txBody>
      </p:sp>
      <p:sp>
        <p:nvSpPr>
          <p:cNvPr id="4" name="Slide Number Placeholder 3">
            <a:extLst>
              <a:ext uri="{FF2B5EF4-FFF2-40B4-BE49-F238E27FC236}">
                <a16:creationId xmlns:a16="http://schemas.microsoft.com/office/drawing/2014/main" id="{4BDCD076-5D5F-030E-9303-1D2976E414BB}"/>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7005256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limits: the accuracy figures come from held-out data in one corpus. The lottery text was flagged as Suspicious, not Phishing, because it has no link or sender signals. That is expected behaviour, and a good example of why scores come with reasons.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three takeaways: hybrid design, a complete product, and honesty about limits.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advantages. Lead with explainability: it is what separates this project from a plain classifier.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Naming limits and how to address them shows maturity and heads off the toughest questions.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in three phases. The most valuable next step is training on larger real phishing datasets. Then thank the audience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4.jpe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4.jpeg"/><Relationship Id="rId7"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png"/><Relationship Id="rId11" Type="http://schemas.openxmlformats.org/officeDocument/2006/relationships/image" Target="../media/image19.png"/><Relationship Id="rId5" Type="http://schemas.openxmlformats.org/officeDocument/2006/relationships/image" Target="../media/image21.png"/><Relationship Id="rId10" Type="http://schemas.openxmlformats.org/officeDocument/2006/relationships/image" Target="../media/image11.png"/><Relationship Id="rId4" Type="http://schemas.openxmlformats.org/officeDocument/2006/relationships/image" Target="../media/image20.png"/><Relationship Id="rId9"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2.png"/><Relationship Id="rId3" Type="http://schemas.openxmlformats.org/officeDocument/2006/relationships/image" Target="../media/image4.jpeg"/><Relationship Id="rId7" Type="http://schemas.openxmlformats.org/officeDocument/2006/relationships/image" Target="../media/image17.png"/><Relationship Id="rId12"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0.png"/><Relationship Id="rId5" Type="http://schemas.openxmlformats.org/officeDocument/2006/relationships/image" Target="../media/image28.png"/><Relationship Id="rId10" Type="http://schemas.openxmlformats.org/officeDocument/2006/relationships/image" Target="../media/image30.png"/><Relationship Id="rId4" Type="http://schemas.openxmlformats.org/officeDocument/2006/relationships/image" Target="../media/image27.png"/><Relationship Id="rId9" Type="http://schemas.openxmlformats.org/officeDocument/2006/relationships/image" Target="../media/image15.png"/><Relationship Id="rId14" Type="http://schemas.openxmlformats.org/officeDocument/2006/relationships/image" Target="../media/image19.png"/></Relationships>
</file>

<file path=ppt/slides/_rels/slide1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4.jpeg"/><Relationship Id="rId7"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2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hyperlink" Target="https://github.com/NithinMurali-code/phishguard.git"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47.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4.jpeg"/><Relationship Id="rId7" Type="http://schemas.openxmlformats.org/officeDocument/2006/relationships/image" Target="../media/image48.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20.png"/><Relationship Id="rId4" Type="http://schemas.openxmlformats.org/officeDocument/2006/relationships/image" Target="../media/image21.png"/><Relationship Id="rId9"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jpeg"/><Relationship Id="rId7" Type="http://schemas.openxmlformats.org/officeDocument/2006/relationships/image" Target="../media/image50.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8.png"/><Relationship Id="rId4" Type="http://schemas.openxmlformats.org/officeDocument/2006/relationships/image" Target="../media/image17.png"/><Relationship Id="rId9"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498080" y="4864608"/>
            <a:ext cx="1188720" cy="182880"/>
          </a:xfrm>
          <a:prstGeom prst="rect">
            <a:avLst/>
          </a:prstGeom>
          <a:noFill/>
          <a:ln/>
        </p:spPr>
        <p:txBody>
          <a:bodyPr wrap="square" lIns="0" tIns="0" rIns="0" bIns="0" rtlCol="0" anchor="ctr"/>
          <a:lstStyle/>
          <a:p>
            <a:pPr marL="0" indent="0" algn="r">
              <a:buNone/>
            </a:pPr>
            <a:r>
              <a:rPr lang="en-US" sz="900" dirty="0">
                <a:solidFill>
                  <a:srgbClr val="9DB2CC"/>
                </a:solidFill>
                <a:latin typeface="Courier New" pitchFamily="34" charset="0"/>
                <a:ea typeface="Courier New" pitchFamily="34" charset="-122"/>
                <a:cs typeface="Courier New" pitchFamily="34" charset="-120"/>
              </a:rPr>
              <a:t>01 / 15</a:t>
            </a:r>
            <a:endParaRPr lang="en-US" sz="900" dirty="0"/>
          </a:p>
        </p:txBody>
      </p:sp>
      <p:sp>
        <p:nvSpPr>
          <p:cNvPr id="3" name="Text 1"/>
          <p:cNvSpPr txBox="1"/>
          <p:nvPr/>
        </p:nvSpPr>
        <p:spPr>
          <a:xfrm>
            <a:off x="548640" y="253570"/>
            <a:ext cx="5029200" cy="228600"/>
          </a:xfrm>
          <a:prstGeom prst="rect">
            <a:avLst/>
          </a:prstGeom>
          <a:noFill/>
          <a:ln/>
        </p:spPr>
        <p:txBody>
          <a:bodyPr wrap="square" lIns="0" tIns="0" rIns="0" bIns="0" rtlCol="0" anchor="ctr"/>
          <a:lstStyle/>
          <a:p>
            <a:pPr marL="0" indent="0">
              <a:buNone/>
            </a:pPr>
            <a:r>
              <a:rPr lang="en-US" sz="1100" b="1" kern="0" spc="200" dirty="0">
                <a:solidFill>
                  <a:srgbClr val="2DE2C0"/>
                </a:solidFill>
                <a:latin typeface="Courier New" pitchFamily="34" charset="0"/>
                <a:ea typeface="Courier New" pitchFamily="34" charset="-122"/>
                <a:cs typeface="Courier New" pitchFamily="34" charset="-120"/>
              </a:rPr>
              <a:t>// PROJECT INTRODUCTION</a:t>
            </a:r>
            <a:endParaRPr lang="en-US" sz="1100" dirty="0"/>
          </a:p>
        </p:txBody>
      </p:sp>
      <p:sp>
        <p:nvSpPr>
          <p:cNvPr id="4" name="Text 2"/>
          <p:cNvSpPr txBox="1"/>
          <p:nvPr/>
        </p:nvSpPr>
        <p:spPr>
          <a:xfrm>
            <a:off x="548640" y="434275"/>
            <a:ext cx="5029200" cy="868680"/>
          </a:xfrm>
          <a:prstGeom prst="rect">
            <a:avLst/>
          </a:prstGeom>
          <a:noFill/>
          <a:ln/>
        </p:spPr>
        <p:txBody>
          <a:bodyPr wrap="square" lIns="0" tIns="0" rIns="0" bIns="0" rtlCol="0" anchor="ctr"/>
          <a:lstStyle/>
          <a:p>
            <a:pPr marL="0" indent="0">
              <a:buNone/>
            </a:pPr>
            <a:r>
              <a:rPr lang="en-US" sz="5600" b="1" dirty="0">
                <a:solidFill>
                  <a:srgbClr val="EAF2FF"/>
                </a:solidFill>
                <a:latin typeface="Calibri" pitchFamily="34" charset="0"/>
                <a:ea typeface="Calibri" pitchFamily="34" charset="-122"/>
                <a:cs typeface="Calibri" pitchFamily="34" charset="-120"/>
              </a:rPr>
              <a:t>PhishGuard</a:t>
            </a:r>
            <a:endParaRPr lang="en-US" sz="5600" dirty="0"/>
          </a:p>
        </p:txBody>
      </p:sp>
      <p:sp>
        <p:nvSpPr>
          <p:cNvPr id="5" name="Text 3"/>
          <p:cNvSpPr txBox="1"/>
          <p:nvPr/>
        </p:nvSpPr>
        <p:spPr>
          <a:xfrm>
            <a:off x="548640" y="1367775"/>
            <a:ext cx="5029200" cy="411480"/>
          </a:xfrm>
          <a:prstGeom prst="rect">
            <a:avLst/>
          </a:prstGeom>
          <a:noFill/>
          <a:ln/>
        </p:spPr>
        <p:txBody>
          <a:bodyPr wrap="square" lIns="0" tIns="0" rIns="0" bIns="0" rtlCol="0" anchor="ctr"/>
          <a:lstStyle/>
          <a:p>
            <a:pPr marL="0" indent="0">
              <a:buNone/>
            </a:pPr>
            <a:r>
              <a:rPr lang="en-US" sz="2200" b="1" dirty="0">
                <a:solidFill>
                  <a:srgbClr val="2DE2C0"/>
                </a:solidFill>
                <a:latin typeface="Calibri" pitchFamily="34" charset="0"/>
                <a:ea typeface="Calibri" pitchFamily="34" charset="-122"/>
                <a:cs typeface="Calibri" pitchFamily="34" charset="-120"/>
              </a:rPr>
              <a:t>Email Phishing Detection System</a:t>
            </a:r>
            <a:endParaRPr lang="en-US" sz="2200" dirty="0"/>
          </a:p>
        </p:txBody>
      </p:sp>
      <p:sp>
        <p:nvSpPr>
          <p:cNvPr id="6" name="Text 4"/>
          <p:cNvSpPr txBox="1"/>
          <p:nvPr/>
        </p:nvSpPr>
        <p:spPr>
          <a:xfrm>
            <a:off x="548640" y="1913557"/>
            <a:ext cx="4754880" cy="868680"/>
          </a:xfrm>
          <a:prstGeom prst="rect">
            <a:avLst/>
          </a:prstGeom>
          <a:noFill/>
          <a:ln/>
        </p:spPr>
        <p:txBody>
          <a:bodyPr wrap="square" lIns="0" tIns="0" rIns="0" bIns="0" rtlCol="0" anchor="t"/>
          <a:lstStyle/>
          <a:p>
            <a:pPr marL="0" indent="0">
              <a:buNone/>
            </a:pPr>
            <a:r>
              <a:rPr lang="en-US" sz="1400" dirty="0">
                <a:solidFill>
                  <a:srgbClr val="9DB2CC"/>
                </a:solidFill>
                <a:latin typeface="Calibri" pitchFamily="34" charset="0"/>
                <a:ea typeface="Calibri" pitchFamily="34" charset="-122"/>
                <a:cs typeface="Calibri" pitchFamily="34" charset="-120"/>
              </a:rPr>
              <a:t>A web-based system that scans emails, scores phishing risk from 0 to 100 and explains every verdict using machine learning, rules and real threat intelligence.</a:t>
            </a:r>
            <a:endParaRPr lang="en-US" sz="1400" dirty="0"/>
          </a:p>
        </p:txBody>
      </p:sp>
      <p:sp>
        <p:nvSpPr>
          <p:cNvPr id="7" name="Shape 5"/>
          <p:cNvSpPr/>
          <p:nvPr/>
        </p:nvSpPr>
        <p:spPr>
          <a:xfrm>
            <a:off x="548640" y="2696908"/>
            <a:ext cx="1417320" cy="310896"/>
          </a:xfrm>
          <a:prstGeom prst="roundRect">
            <a:avLst>
              <a:gd name="adj" fmla="val 50000"/>
            </a:avLst>
          </a:prstGeom>
          <a:solidFill>
            <a:srgbClr val="0C2233"/>
          </a:solidFill>
          <a:ln w="12700">
            <a:solidFill>
              <a:srgbClr val="2DE2C0"/>
            </a:solidFill>
            <a:prstDash val="solid"/>
          </a:ln>
        </p:spPr>
      </p:sp>
      <p:sp>
        <p:nvSpPr>
          <p:cNvPr id="8" name="Text 6"/>
          <p:cNvSpPr txBox="1"/>
          <p:nvPr/>
        </p:nvSpPr>
        <p:spPr>
          <a:xfrm>
            <a:off x="548640" y="2696029"/>
            <a:ext cx="1417320" cy="310896"/>
          </a:xfrm>
          <a:prstGeom prst="rect">
            <a:avLst/>
          </a:prstGeom>
          <a:noFill/>
          <a:ln/>
        </p:spPr>
        <p:txBody>
          <a:bodyPr wrap="square" lIns="0" tIns="0" rIns="0" bIns="0" rtlCol="0" anchor="ctr"/>
          <a:lstStyle/>
          <a:p>
            <a:pPr marL="0" indent="0" algn="ctr">
              <a:buNone/>
            </a:pPr>
            <a:r>
              <a:rPr lang="en-US" sz="1100" b="1" dirty="0">
                <a:solidFill>
                  <a:srgbClr val="2DE2C0"/>
                </a:solidFill>
                <a:latin typeface="Calibri" pitchFamily="34" charset="0"/>
                <a:ea typeface="Calibri" pitchFamily="34" charset="-122"/>
                <a:cs typeface="Calibri" pitchFamily="34" charset="-120"/>
              </a:rPr>
              <a:t>Machine learning</a:t>
            </a:r>
            <a:endParaRPr lang="en-US" sz="1100" dirty="0"/>
          </a:p>
        </p:txBody>
      </p:sp>
      <p:sp>
        <p:nvSpPr>
          <p:cNvPr id="9" name="Shape 7"/>
          <p:cNvSpPr/>
          <p:nvPr/>
        </p:nvSpPr>
        <p:spPr>
          <a:xfrm>
            <a:off x="2075688" y="2694974"/>
            <a:ext cx="1417320" cy="310896"/>
          </a:xfrm>
          <a:prstGeom prst="roundRect">
            <a:avLst>
              <a:gd name="adj" fmla="val 50000"/>
            </a:avLst>
          </a:prstGeom>
          <a:solidFill>
            <a:srgbClr val="0C2233"/>
          </a:solidFill>
          <a:ln w="12700">
            <a:solidFill>
              <a:srgbClr val="2DE2C0"/>
            </a:solidFill>
            <a:prstDash val="solid"/>
          </a:ln>
        </p:spPr>
        <p:txBody>
          <a:bodyPr/>
          <a:lstStyle/>
          <a:p>
            <a:endParaRPr lang="en-IN" dirty="0"/>
          </a:p>
        </p:txBody>
      </p:sp>
      <p:sp>
        <p:nvSpPr>
          <p:cNvPr id="10" name="Text 8"/>
          <p:cNvSpPr txBox="1"/>
          <p:nvPr/>
        </p:nvSpPr>
        <p:spPr>
          <a:xfrm>
            <a:off x="2075688" y="2680247"/>
            <a:ext cx="1417320" cy="310896"/>
          </a:xfrm>
          <a:prstGeom prst="rect">
            <a:avLst/>
          </a:prstGeom>
          <a:noFill/>
          <a:ln/>
        </p:spPr>
        <p:txBody>
          <a:bodyPr wrap="square" lIns="0" tIns="0" rIns="0" bIns="0" rtlCol="0" anchor="ctr"/>
          <a:lstStyle/>
          <a:p>
            <a:pPr marL="0" indent="0" algn="ctr">
              <a:buNone/>
            </a:pPr>
            <a:r>
              <a:rPr lang="en-US" sz="1100" b="1" dirty="0">
                <a:solidFill>
                  <a:srgbClr val="2DE2C0"/>
                </a:solidFill>
                <a:latin typeface="Calibri" pitchFamily="34" charset="0"/>
                <a:ea typeface="Calibri" pitchFamily="34" charset="-122"/>
                <a:cs typeface="Calibri" pitchFamily="34" charset="-120"/>
              </a:rPr>
              <a:t>Threat intelligence</a:t>
            </a:r>
            <a:endParaRPr lang="en-US" sz="1100" dirty="0"/>
          </a:p>
        </p:txBody>
      </p:sp>
      <p:sp>
        <p:nvSpPr>
          <p:cNvPr id="11" name="Shape 9"/>
          <p:cNvSpPr/>
          <p:nvPr/>
        </p:nvSpPr>
        <p:spPr>
          <a:xfrm>
            <a:off x="3604143" y="2671806"/>
            <a:ext cx="1417320" cy="310896"/>
          </a:xfrm>
          <a:prstGeom prst="roundRect">
            <a:avLst>
              <a:gd name="adj" fmla="val 50000"/>
            </a:avLst>
          </a:prstGeom>
          <a:solidFill>
            <a:srgbClr val="0C2233"/>
          </a:solidFill>
          <a:ln w="12700">
            <a:solidFill>
              <a:srgbClr val="2DE2C0"/>
            </a:solidFill>
            <a:prstDash val="solid"/>
          </a:ln>
        </p:spPr>
      </p:sp>
      <p:sp>
        <p:nvSpPr>
          <p:cNvPr id="12" name="Text 10"/>
          <p:cNvSpPr txBox="1"/>
          <p:nvPr/>
        </p:nvSpPr>
        <p:spPr>
          <a:xfrm>
            <a:off x="3534156" y="2662134"/>
            <a:ext cx="1417320" cy="310896"/>
          </a:xfrm>
          <a:prstGeom prst="rect">
            <a:avLst/>
          </a:prstGeom>
          <a:noFill/>
          <a:ln/>
        </p:spPr>
        <p:txBody>
          <a:bodyPr wrap="square" lIns="0" tIns="0" rIns="0" bIns="0" rtlCol="0" anchor="ctr"/>
          <a:lstStyle/>
          <a:p>
            <a:pPr marL="0" indent="0" algn="ctr">
              <a:buNone/>
            </a:pPr>
            <a:r>
              <a:rPr lang="en-US" sz="1100" b="1" dirty="0">
                <a:solidFill>
                  <a:srgbClr val="2DE2C0"/>
                </a:solidFill>
                <a:latin typeface="Calibri" pitchFamily="34" charset="0"/>
                <a:ea typeface="Calibri" pitchFamily="34" charset="-122"/>
                <a:cs typeface="Calibri" pitchFamily="34" charset="-120"/>
              </a:rPr>
              <a:t>Explainable</a:t>
            </a:r>
            <a:endParaRPr lang="en-US" sz="1100" dirty="0"/>
          </a:p>
        </p:txBody>
      </p:sp>
      <p:sp>
        <p:nvSpPr>
          <p:cNvPr id="13" name="Text 11"/>
          <p:cNvSpPr txBox="1"/>
          <p:nvPr/>
        </p:nvSpPr>
        <p:spPr>
          <a:xfrm>
            <a:off x="548640" y="3633686"/>
            <a:ext cx="5760720" cy="1633610"/>
          </a:xfrm>
          <a:prstGeom prst="rect">
            <a:avLst/>
          </a:prstGeom>
          <a:noFill/>
          <a:ln/>
        </p:spPr>
        <p:txBody>
          <a:bodyPr wrap="square" lIns="0" tIns="0" rIns="0" bIns="0" rtlCol="0" anchor="ctr"/>
          <a:lstStyle/>
          <a:p>
            <a:pPr algn="ctr"/>
            <a:r>
              <a:rPr lang="en-US" sz="1500" b="1" dirty="0">
                <a:solidFill>
                  <a:schemeClr val="bg1"/>
                </a:solidFill>
                <a:ea typeface="Calibri" pitchFamily="34" charset="-122"/>
                <a:cs typeface="Calibri" pitchFamily="34" charset="-120"/>
              </a:rPr>
              <a:t>TEAM </a:t>
            </a:r>
            <a:r>
              <a:rPr lang="en-IN" sz="1500" b="1" dirty="0">
                <a:solidFill>
                  <a:schemeClr val="bg1"/>
                </a:solidFill>
                <a:cs typeface="Times New Roman" panose="02020603050405020304" pitchFamily="18" charset="0"/>
              </a:rPr>
              <a:t>MEMBERS</a:t>
            </a:r>
            <a:endParaRPr lang="en-US" sz="1500" b="1" dirty="0">
              <a:solidFill>
                <a:schemeClr val="bg1"/>
              </a:solidFill>
              <a:ea typeface="Calibri" pitchFamily="34" charset="-122"/>
              <a:cs typeface="Calibri" pitchFamily="34" charset="-120"/>
            </a:endParaRPr>
          </a:p>
          <a:p>
            <a:pPr algn="ctr"/>
            <a:r>
              <a:rPr lang="en-US" sz="1500" b="1" dirty="0">
                <a:solidFill>
                  <a:schemeClr val="bg1"/>
                </a:solidFill>
                <a:latin typeface="Calibri" pitchFamily="34" charset="0"/>
                <a:ea typeface="Calibri" pitchFamily="34" charset="-122"/>
                <a:cs typeface="Calibri" pitchFamily="34" charset="-120"/>
              </a:rPr>
              <a:t>Vemula Nithin Murali                                                    500477121</a:t>
            </a:r>
          </a:p>
          <a:p>
            <a:pPr algn="ctr"/>
            <a:r>
              <a:rPr lang="en-US" sz="1500" b="1" dirty="0">
                <a:solidFill>
                  <a:schemeClr val="bg1"/>
                </a:solidFill>
                <a:latin typeface="Calibri" pitchFamily="34" charset="0"/>
                <a:ea typeface="Calibri" pitchFamily="34" charset="-122"/>
                <a:cs typeface="Calibri" pitchFamily="34" charset="-120"/>
              </a:rPr>
              <a:t>Sri Varshitha Gollapalli                                                  500477127</a:t>
            </a:r>
          </a:p>
          <a:p>
            <a:pPr algn="ctr"/>
            <a:r>
              <a:rPr lang="en-US" sz="1500" b="1" dirty="0" err="1">
                <a:solidFill>
                  <a:schemeClr val="bg1"/>
                </a:solidFill>
                <a:latin typeface="Calibri" pitchFamily="34" charset="0"/>
                <a:ea typeface="Calibri" pitchFamily="34" charset="-122"/>
                <a:cs typeface="Calibri" pitchFamily="34" charset="-120"/>
              </a:rPr>
              <a:t>Nidadavolu</a:t>
            </a:r>
            <a:r>
              <a:rPr lang="en-US" sz="1500" b="1" dirty="0">
                <a:solidFill>
                  <a:schemeClr val="bg1"/>
                </a:solidFill>
                <a:latin typeface="Calibri" pitchFamily="34" charset="0"/>
                <a:ea typeface="Calibri" pitchFamily="34" charset="-122"/>
                <a:cs typeface="Calibri" pitchFamily="34" charset="-120"/>
              </a:rPr>
              <a:t> Vara </a:t>
            </a:r>
            <a:r>
              <a:rPr lang="en-US" sz="1500" b="1" dirty="0" err="1">
                <a:solidFill>
                  <a:schemeClr val="bg1"/>
                </a:solidFill>
                <a:latin typeface="Calibri" pitchFamily="34" charset="0"/>
                <a:ea typeface="Calibri" pitchFamily="34" charset="-122"/>
                <a:cs typeface="Calibri" pitchFamily="34" charset="-120"/>
              </a:rPr>
              <a:t>laxmi</a:t>
            </a:r>
            <a:r>
              <a:rPr lang="en-US" sz="1500" b="1" dirty="0">
                <a:solidFill>
                  <a:schemeClr val="bg1"/>
                </a:solidFill>
                <a:latin typeface="Calibri" pitchFamily="34" charset="0"/>
                <a:ea typeface="Calibri" pitchFamily="34" charset="-122"/>
                <a:cs typeface="Calibri" pitchFamily="34" charset="-120"/>
              </a:rPr>
              <a:t>                                                   500477174</a:t>
            </a:r>
          </a:p>
          <a:p>
            <a:pPr algn="ctr"/>
            <a:r>
              <a:rPr lang="en-US" sz="1500" b="1" dirty="0" err="1">
                <a:solidFill>
                  <a:schemeClr val="bg1"/>
                </a:solidFill>
                <a:latin typeface="Calibri" pitchFamily="34" charset="0"/>
                <a:ea typeface="Calibri" pitchFamily="34" charset="-122"/>
                <a:cs typeface="Calibri" pitchFamily="34" charset="-120"/>
              </a:rPr>
              <a:t>Kolguri</a:t>
            </a:r>
            <a:r>
              <a:rPr lang="en-US" sz="1500" b="1" dirty="0">
                <a:solidFill>
                  <a:schemeClr val="bg1"/>
                </a:solidFill>
                <a:latin typeface="Calibri" pitchFamily="34" charset="0"/>
                <a:ea typeface="Calibri" pitchFamily="34" charset="-122"/>
                <a:cs typeface="Calibri" pitchFamily="34" charset="-120"/>
              </a:rPr>
              <a:t> Shirisha                                                                500477128</a:t>
            </a:r>
          </a:p>
          <a:p>
            <a:pPr algn="ctr"/>
            <a:r>
              <a:rPr lang="en-US" sz="1500" b="1" dirty="0" err="1">
                <a:solidFill>
                  <a:schemeClr val="bg1"/>
                </a:solidFill>
                <a:latin typeface="Calibri" pitchFamily="34" charset="0"/>
                <a:ea typeface="Calibri" pitchFamily="34" charset="-122"/>
                <a:cs typeface="Calibri" pitchFamily="34" charset="-120"/>
              </a:rPr>
              <a:t>Budime</a:t>
            </a:r>
            <a:r>
              <a:rPr lang="en-US" sz="1500" b="1" dirty="0">
                <a:solidFill>
                  <a:schemeClr val="bg1"/>
                </a:solidFill>
                <a:latin typeface="Calibri" pitchFamily="34" charset="0"/>
                <a:ea typeface="Calibri" pitchFamily="34" charset="-122"/>
                <a:cs typeface="Calibri" pitchFamily="34" charset="-120"/>
              </a:rPr>
              <a:t> Ajay                                                                     500477976</a:t>
            </a:r>
          </a:p>
          <a:p>
            <a:pPr marL="0" indent="0" algn="ctr">
              <a:buNone/>
            </a:pPr>
            <a:endParaRPr lang="en-US" sz="1500" dirty="0">
              <a:solidFill>
                <a:schemeClr val="bg1"/>
              </a:solidFill>
            </a:endParaRPr>
          </a:p>
        </p:txBody>
      </p:sp>
      <p:sp>
        <p:nvSpPr>
          <p:cNvPr id="15" name="Shape 13"/>
          <p:cNvSpPr/>
          <p:nvPr/>
        </p:nvSpPr>
        <p:spPr>
          <a:xfrm>
            <a:off x="6016752" y="1572768"/>
            <a:ext cx="2518117" cy="1563624"/>
          </a:xfrm>
          <a:prstGeom prst="roundRect">
            <a:avLst>
              <a:gd name="adj" fmla="val 3721"/>
            </a:avLst>
          </a:prstGeom>
          <a:solidFill>
            <a:srgbClr val="050B14"/>
          </a:solidFill>
          <a:ln w="12700">
            <a:solidFill>
              <a:srgbClr val="1D3A5C"/>
            </a:solidFill>
            <a:prstDash val="solid"/>
          </a:ln>
          <a:effectLst>
            <a:outerShdw blurRad="127000" dist="38100" dir="5400000" algn="bl" rotWithShape="0">
              <a:srgbClr val="000000">
                <a:alpha val="35000"/>
              </a:srgbClr>
            </a:outerShdw>
          </a:effectLst>
        </p:spPr>
        <p:txBody>
          <a:bodyPr/>
          <a:lstStyle/>
          <a:p>
            <a:endParaRPr lang="en-IN" dirty="0"/>
          </a:p>
        </p:txBody>
      </p:sp>
      <p:sp>
        <p:nvSpPr>
          <p:cNvPr id="16" name="Shape 14"/>
          <p:cNvSpPr/>
          <p:nvPr/>
        </p:nvSpPr>
        <p:spPr>
          <a:xfrm>
            <a:off x="5833872" y="1394460"/>
            <a:ext cx="109728" cy="109728"/>
          </a:xfrm>
          <a:prstGeom prst="ellipse">
            <a:avLst/>
          </a:prstGeom>
          <a:solidFill>
            <a:srgbClr val="FF5C5C"/>
          </a:solidFill>
          <a:ln w="12700">
            <a:solidFill>
              <a:srgbClr val="FF5C5C"/>
            </a:solidFill>
            <a:prstDash val="solid"/>
          </a:ln>
        </p:spPr>
      </p:sp>
      <p:sp>
        <p:nvSpPr>
          <p:cNvPr id="17" name="Shape 15"/>
          <p:cNvSpPr/>
          <p:nvPr/>
        </p:nvSpPr>
        <p:spPr>
          <a:xfrm>
            <a:off x="6016752" y="1400087"/>
            <a:ext cx="109728" cy="109728"/>
          </a:xfrm>
          <a:prstGeom prst="ellipse">
            <a:avLst/>
          </a:prstGeom>
          <a:solidFill>
            <a:srgbClr val="FFB547"/>
          </a:solidFill>
          <a:ln w="12700">
            <a:solidFill>
              <a:srgbClr val="FFB547"/>
            </a:solidFill>
            <a:prstDash val="solid"/>
          </a:ln>
        </p:spPr>
        <p:txBody>
          <a:bodyPr/>
          <a:lstStyle/>
          <a:p>
            <a:endParaRPr lang="en-IN" dirty="0"/>
          </a:p>
        </p:txBody>
      </p:sp>
      <p:sp>
        <p:nvSpPr>
          <p:cNvPr id="18" name="Shape 16"/>
          <p:cNvSpPr/>
          <p:nvPr/>
        </p:nvSpPr>
        <p:spPr>
          <a:xfrm>
            <a:off x="6245352" y="1400087"/>
            <a:ext cx="109728" cy="109728"/>
          </a:xfrm>
          <a:prstGeom prst="ellipse">
            <a:avLst/>
          </a:prstGeom>
          <a:solidFill>
            <a:srgbClr val="2DE2C0"/>
          </a:solidFill>
          <a:ln w="12700">
            <a:solidFill>
              <a:srgbClr val="2DE2C0"/>
            </a:solidFill>
            <a:prstDash val="solid"/>
          </a:ln>
        </p:spPr>
      </p:sp>
      <p:sp>
        <p:nvSpPr>
          <p:cNvPr id="19" name="Text 17"/>
          <p:cNvSpPr txBox="1"/>
          <p:nvPr/>
        </p:nvSpPr>
        <p:spPr>
          <a:xfrm>
            <a:off x="6119446" y="1814294"/>
            <a:ext cx="2743200" cy="1417320"/>
          </a:xfrm>
          <a:prstGeom prst="rect">
            <a:avLst/>
          </a:prstGeom>
          <a:noFill/>
          <a:ln/>
        </p:spPr>
        <p:txBody>
          <a:bodyPr wrap="square" lIns="0" tIns="0" rIns="0" bIns="0" rtlCol="0" anchor="t"/>
          <a:lstStyle/>
          <a:p>
            <a:pPr marL="0" indent="0">
              <a:spcAft>
                <a:spcPts val="400"/>
              </a:spcAft>
              <a:buNone/>
            </a:pPr>
            <a:r>
              <a:rPr lang="en-US" sz="1050" dirty="0">
                <a:solidFill>
                  <a:srgbClr val="EAF2FF"/>
                </a:solidFill>
                <a:latin typeface="Courier New" pitchFamily="34" charset="0"/>
                <a:ea typeface="Courier New" pitchFamily="34" charset="-122"/>
                <a:cs typeface="Courier New" pitchFamily="34" charset="-120"/>
              </a:rPr>
              <a:t>$ phishguard scan mail.eml</a:t>
            </a:r>
            <a:endParaRPr lang="en-US" sz="1050" dirty="0"/>
          </a:p>
          <a:p>
            <a:pPr marL="0" indent="0">
              <a:spcAft>
                <a:spcPts val="400"/>
              </a:spcAft>
              <a:buNone/>
            </a:pPr>
            <a:r>
              <a:rPr lang="en-US" sz="1050" dirty="0">
                <a:solidFill>
                  <a:srgbClr val="2DE2C0"/>
                </a:solidFill>
                <a:latin typeface="Courier New" pitchFamily="34" charset="0"/>
                <a:ea typeface="Courier New" pitchFamily="34" charset="-122"/>
                <a:cs typeface="Courier New" pitchFamily="34" charset="-120"/>
              </a:rPr>
              <a:t>&gt; checking 392,068 domains</a:t>
            </a:r>
            <a:endParaRPr lang="en-US" sz="1050" dirty="0"/>
          </a:p>
          <a:p>
            <a:pPr marL="0" indent="0">
              <a:spcAft>
                <a:spcPts val="400"/>
              </a:spcAft>
              <a:buNone/>
            </a:pPr>
            <a:r>
              <a:rPr lang="en-US" sz="1050" dirty="0">
                <a:solidFill>
                  <a:srgbClr val="FFB547"/>
                </a:solidFill>
                <a:latin typeface="Courier New" pitchFamily="34" charset="0"/>
                <a:ea typeface="Courier New" pitchFamily="34" charset="-122"/>
                <a:cs typeface="Courier New" pitchFamily="34" charset="-120"/>
              </a:rPr>
              <a:t>&gt; link host: 192.168.4.7 [IP]</a:t>
            </a:r>
            <a:endParaRPr lang="en-US" sz="1050" dirty="0"/>
          </a:p>
          <a:p>
            <a:pPr marL="0" indent="0">
              <a:spcAft>
                <a:spcPts val="400"/>
              </a:spcAft>
              <a:buNone/>
            </a:pPr>
            <a:r>
              <a:rPr lang="en-US" sz="1050" b="1" dirty="0">
                <a:solidFill>
                  <a:srgbClr val="FF5C5C"/>
                </a:solidFill>
                <a:latin typeface="Courier New" pitchFamily="34" charset="0"/>
                <a:ea typeface="Courier New" pitchFamily="34" charset="-122"/>
                <a:cs typeface="Courier New" pitchFamily="34" charset="-120"/>
              </a:rPr>
              <a:t>&gt; verdict: PHISHING</a:t>
            </a:r>
            <a:endParaRPr lang="en-US" sz="1050" dirty="0"/>
          </a:p>
          <a:p>
            <a:pPr marL="0" indent="0">
              <a:spcAft>
                <a:spcPts val="400"/>
              </a:spcAft>
              <a:buNone/>
            </a:pPr>
            <a:r>
              <a:rPr lang="en-US" sz="1050" b="1" dirty="0">
                <a:solidFill>
                  <a:srgbClr val="FF5C5C"/>
                </a:solidFill>
                <a:latin typeface="Courier New" pitchFamily="34" charset="0"/>
                <a:ea typeface="Courier New" pitchFamily="34" charset="-122"/>
                <a:cs typeface="Courier New" pitchFamily="34" charset="-120"/>
              </a:rPr>
              <a:t>&gt; risk score: 99 / 100</a:t>
            </a:r>
            <a:endParaRPr lang="en-US" sz="1050" dirty="0"/>
          </a:p>
        </p:txBody>
      </p:sp>
      <p:sp>
        <p:nvSpPr>
          <p:cNvPr id="20" name="Shape 18"/>
          <p:cNvSpPr/>
          <p:nvPr/>
        </p:nvSpPr>
        <p:spPr>
          <a:xfrm>
            <a:off x="6355080" y="3246120"/>
            <a:ext cx="1737360" cy="1737360"/>
          </a:xfrm>
          <a:prstGeom prst="ellipse">
            <a:avLst/>
          </a:prstGeom>
          <a:solidFill>
            <a:srgbClr val="08111F">
              <a:alpha val="0"/>
            </a:srgbClr>
          </a:solidFill>
          <a:ln w="12700">
            <a:solidFill>
              <a:srgbClr val="2DE2C0">
                <a:alpha val="70000"/>
              </a:srgbClr>
            </a:solidFill>
            <a:prstDash val="solid"/>
          </a:ln>
        </p:spPr>
      </p:sp>
      <p:sp>
        <p:nvSpPr>
          <p:cNvPr id="21" name="Shape 19"/>
          <p:cNvSpPr/>
          <p:nvPr/>
        </p:nvSpPr>
        <p:spPr>
          <a:xfrm>
            <a:off x="6606540" y="3484040"/>
            <a:ext cx="1234440" cy="1234440"/>
          </a:xfrm>
          <a:prstGeom prst="ellipse">
            <a:avLst/>
          </a:prstGeom>
          <a:solidFill>
            <a:srgbClr val="08111F">
              <a:alpha val="0"/>
            </a:srgbClr>
          </a:solidFill>
          <a:ln w="12700">
            <a:solidFill>
              <a:srgbClr val="2DE2C0">
                <a:alpha val="50000"/>
              </a:srgbClr>
            </a:solidFill>
            <a:prstDash val="solid"/>
          </a:ln>
        </p:spPr>
      </p:sp>
      <p:sp>
        <p:nvSpPr>
          <p:cNvPr id="22" name="Shape 20"/>
          <p:cNvSpPr/>
          <p:nvPr/>
        </p:nvSpPr>
        <p:spPr>
          <a:xfrm>
            <a:off x="6858000" y="3753700"/>
            <a:ext cx="731520" cy="731520"/>
          </a:xfrm>
          <a:prstGeom prst="ellipse">
            <a:avLst/>
          </a:prstGeom>
          <a:solidFill>
            <a:srgbClr val="08111F">
              <a:alpha val="0"/>
            </a:srgbClr>
          </a:solidFill>
          <a:ln w="12700">
            <a:solidFill>
              <a:srgbClr val="2DE2C0">
                <a:alpha val="30000"/>
              </a:srgbClr>
            </a:solidFill>
            <a:prstDash val="solid"/>
          </a:ln>
        </p:spPr>
      </p:sp>
      <p:pic>
        <p:nvPicPr>
          <p:cNvPr id="23" name="Image 0" descr="preencoded.png"/>
          <p:cNvPicPr>
            <a:picLocks noChangeAspect="1"/>
          </p:cNvPicPr>
          <p:nvPr/>
        </p:nvPicPr>
        <p:blipFill>
          <a:blip r:embed="rId4"/>
          <a:stretch>
            <a:fillRect/>
          </a:stretch>
        </p:blipFill>
        <p:spPr>
          <a:xfrm>
            <a:off x="6949440" y="3863340"/>
            <a:ext cx="548640" cy="548640"/>
          </a:xfrm>
          <a:prstGeom prst="rect">
            <a:avLst/>
          </a:prstGeom>
        </p:spPr>
      </p:pic>
      <p:pic>
        <p:nvPicPr>
          <p:cNvPr id="24" name="Picture 23" descr="Tata STRIVE YDSC">
            <a:extLst>
              <a:ext uri="{FF2B5EF4-FFF2-40B4-BE49-F238E27FC236}">
                <a16:creationId xmlns:a16="http://schemas.microsoft.com/office/drawing/2014/main" id="{2E828164-68EC-79B4-4F52-7AD67C553033}"/>
              </a:ext>
            </a:extLst>
          </p:cNvPr>
          <p:cNvPicPr>
            <a:picLocks noChangeAspect="1"/>
          </p:cNvPicPr>
          <p:nvPr/>
        </p:nvPicPr>
        <p:blipFill>
          <a:blip r:embed="rId5"/>
          <a:stretch>
            <a:fillRect/>
          </a:stretch>
        </p:blipFill>
        <p:spPr>
          <a:xfrm>
            <a:off x="5693899" y="82779"/>
            <a:ext cx="3351628" cy="1256861"/>
          </a:xfrm>
          <a:prstGeom prst="rect">
            <a:avLst/>
          </a:prstGeom>
        </p:spPr>
      </p:pic>
      <p:sp>
        <p:nvSpPr>
          <p:cNvPr id="25" name="TextBox 24">
            <a:extLst>
              <a:ext uri="{FF2B5EF4-FFF2-40B4-BE49-F238E27FC236}">
                <a16:creationId xmlns:a16="http://schemas.microsoft.com/office/drawing/2014/main" id="{474C6E94-AC31-A341-5435-02DFD753DD02}"/>
              </a:ext>
            </a:extLst>
          </p:cNvPr>
          <p:cNvSpPr txBox="1"/>
          <p:nvPr/>
        </p:nvSpPr>
        <p:spPr>
          <a:xfrm>
            <a:off x="858130" y="3068871"/>
            <a:ext cx="4975742" cy="553998"/>
          </a:xfrm>
          <a:prstGeom prst="rect">
            <a:avLst/>
          </a:prstGeom>
          <a:noFill/>
        </p:spPr>
        <p:txBody>
          <a:bodyPr wrap="square" rtlCol="0">
            <a:spAutoFit/>
          </a:bodyPr>
          <a:lstStyle/>
          <a:p>
            <a:pPr algn="ctr"/>
            <a:r>
              <a:rPr lang="en-IN" sz="1500" b="1" dirty="0">
                <a:solidFill>
                  <a:schemeClr val="bg1"/>
                </a:solidFill>
              </a:rPr>
              <a:t>PROJECT INCHARGE </a:t>
            </a:r>
          </a:p>
          <a:p>
            <a:pPr algn="ctr"/>
            <a:r>
              <a:rPr lang="en-IN" sz="1500" b="1" dirty="0" err="1">
                <a:solidFill>
                  <a:schemeClr val="bg1"/>
                </a:solidFill>
              </a:rPr>
              <a:t>Gathpa</a:t>
            </a:r>
            <a:r>
              <a:rPr lang="en-IN" sz="1500" b="1" dirty="0">
                <a:solidFill>
                  <a:schemeClr val="bg1"/>
                </a:solidFill>
              </a:rPr>
              <a:t> Srilatha Reddy Madam</a:t>
            </a: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rgbClr val="2DE2C0"/>
                </a:solidFill>
                <a:latin typeface="Courier New" pitchFamily="34" charset="0"/>
                <a:ea typeface="Courier New" pitchFamily="34" charset="-122"/>
                <a:cs typeface="Courier New" pitchFamily="34" charset="-120"/>
              </a:rPr>
              <a:t>// 02  PROBLEM STATEMENT</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b="1" dirty="0">
                <a:solidFill>
                  <a:srgbClr val="EAF2FF"/>
                </a:solidFill>
                <a:latin typeface="Calibri" pitchFamily="34" charset="0"/>
                <a:ea typeface="Calibri" pitchFamily="34" charset="-122"/>
                <a:cs typeface="Calibri" pitchFamily="34" charset="-120"/>
              </a:rPr>
              <a:t>Phishing is easy to launch and hard to spot</a:t>
            </a:r>
            <a:endParaRPr lang="en-US" sz="3000" dirty="0"/>
          </a:p>
        </p:txBody>
      </p:sp>
      <p:sp>
        <p:nvSpPr>
          <p:cNvPr id="4" name="Text 2"/>
          <p:cNvSpPr txBox="1"/>
          <p:nvPr/>
        </p:nvSpPr>
        <p:spPr>
          <a:xfrm>
            <a:off x="7498080" y="4864608"/>
            <a:ext cx="1188720" cy="182880"/>
          </a:xfrm>
          <a:prstGeom prst="rect">
            <a:avLst/>
          </a:prstGeom>
          <a:noFill/>
          <a:ln/>
        </p:spPr>
        <p:txBody>
          <a:bodyPr wrap="square" lIns="0" tIns="0" rIns="0" bIns="0" rtlCol="0" anchor="ctr"/>
          <a:lstStyle/>
          <a:p>
            <a:pPr marL="0" indent="0" algn="r">
              <a:buNone/>
            </a:pPr>
            <a:r>
              <a:rPr lang="en-US" sz="900" dirty="0">
                <a:solidFill>
                  <a:srgbClr val="9DB2CC"/>
                </a:solidFill>
                <a:latin typeface="Courier New" pitchFamily="34" charset="0"/>
                <a:ea typeface="Courier New" pitchFamily="34" charset="-122"/>
                <a:cs typeface="Courier New" pitchFamily="34" charset="-120"/>
              </a:rPr>
              <a:t>02 / 15</a:t>
            </a:r>
            <a:endParaRPr lang="en-US" sz="900" dirty="0"/>
          </a:p>
        </p:txBody>
      </p:sp>
      <p:sp>
        <p:nvSpPr>
          <p:cNvPr id="5" name="Shape 3"/>
          <p:cNvSpPr/>
          <p:nvPr/>
        </p:nvSpPr>
        <p:spPr>
          <a:xfrm>
            <a:off x="457200" y="1234440"/>
            <a:ext cx="3931920" cy="1645920"/>
          </a:xfrm>
          <a:prstGeom prst="roundRect">
            <a:avLst>
              <a:gd name="adj" fmla="val 4444"/>
            </a:avLst>
          </a:prstGeom>
          <a:solidFill>
            <a:srgbClr val="0F2036"/>
          </a:solidFill>
          <a:ln w="12700">
            <a:solidFill>
              <a:srgbClr val="1D3A5C"/>
            </a:solidFill>
            <a:prstDash val="solid"/>
          </a:ln>
        </p:spPr>
      </p:sp>
      <p:sp>
        <p:nvSpPr>
          <p:cNvPr id="6" name="Text 4"/>
          <p:cNvSpPr txBox="1"/>
          <p:nvPr/>
        </p:nvSpPr>
        <p:spPr>
          <a:xfrm>
            <a:off x="640080" y="1371600"/>
            <a:ext cx="3566160" cy="1371600"/>
          </a:xfrm>
          <a:prstGeom prst="rect">
            <a:avLst/>
          </a:prstGeom>
          <a:noFill/>
          <a:ln/>
        </p:spPr>
        <p:txBody>
          <a:bodyPr wrap="square" lIns="0" tIns="0" rIns="0" bIns="0" rtlCol="0" anchor="t"/>
          <a:lstStyle/>
          <a:p>
            <a:pPr marL="0" indent="0">
              <a:buNone/>
            </a:pPr>
            <a:r>
              <a:rPr lang="en-US" sz="1400" dirty="0">
                <a:solidFill>
                  <a:srgbClr val="EAF2FF"/>
                </a:solidFill>
                <a:latin typeface="Calibri" pitchFamily="34" charset="0"/>
                <a:ea typeface="Calibri" pitchFamily="34" charset="-122"/>
                <a:cs typeface="Calibri" pitchFamily="34" charset="-120"/>
              </a:rPr>
              <a:t>Phishing emails imitate trusted brands to steal passwords and money. Basic filters miss many of them and rarely explain why an email was flagged, so users cannot learn to spot the next one.</a:t>
            </a:r>
            <a:endParaRPr lang="en-US" sz="1400" dirty="0"/>
          </a:p>
        </p:txBody>
      </p:sp>
      <p:sp>
        <p:nvSpPr>
          <p:cNvPr id="7" name="Text 5"/>
          <p:cNvSpPr txBox="1"/>
          <p:nvPr/>
        </p:nvSpPr>
        <p:spPr>
          <a:xfrm>
            <a:off x="457200" y="3108960"/>
            <a:ext cx="3931920" cy="201168"/>
          </a:xfrm>
          <a:prstGeom prst="rect">
            <a:avLst/>
          </a:prstGeom>
          <a:noFill/>
          <a:ln/>
        </p:spPr>
        <p:txBody>
          <a:bodyPr wrap="square" lIns="0" tIns="0" rIns="0" bIns="0" rtlCol="0" anchor="ctr"/>
          <a:lstStyle/>
          <a:p>
            <a:pPr marL="0" indent="0">
              <a:buNone/>
            </a:pPr>
            <a:r>
              <a:rPr lang="en-US" sz="1000" b="1" kern="0" spc="200" dirty="0">
                <a:solidFill>
                  <a:srgbClr val="2DE2C0"/>
                </a:solidFill>
                <a:latin typeface="Courier New" pitchFamily="34" charset="0"/>
                <a:ea typeface="Courier New" pitchFamily="34" charset="-122"/>
                <a:cs typeface="Courier New" pitchFamily="34" charset="-120"/>
              </a:rPr>
              <a:t>HOW AN ATTACK WORKS</a:t>
            </a:r>
            <a:endParaRPr lang="en-US" sz="1000" dirty="0"/>
          </a:p>
        </p:txBody>
      </p:sp>
      <p:sp>
        <p:nvSpPr>
          <p:cNvPr id="8" name="Shape 6"/>
          <p:cNvSpPr/>
          <p:nvPr/>
        </p:nvSpPr>
        <p:spPr>
          <a:xfrm>
            <a:off x="457200" y="3429000"/>
            <a:ext cx="868680" cy="640080"/>
          </a:xfrm>
          <a:prstGeom prst="roundRect">
            <a:avLst>
              <a:gd name="adj" fmla="val 50000"/>
            </a:avLst>
          </a:prstGeom>
          <a:solidFill>
            <a:srgbClr val="0C2233"/>
          </a:solidFill>
          <a:ln w="12700">
            <a:solidFill>
              <a:srgbClr val="2DE2C0"/>
            </a:solidFill>
            <a:prstDash val="solid"/>
          </a:ln>
        </p:spPr>
      </p:sp>
      <p:sp>
        <p:nvSpPr>
          <p:cNvPr id="9" name="Text 7"/>
          <p:cNvSpPr txBox="1"/>
          <p:nvPr/>
        </p:nvSpPr>
        <p:spPr>
          <a:xfrm>
            <a:off x="457200" y="3429000"/>
            <a:ext cx="868680" cy="640080"/>
          </a:xfrm>
          <a:prstGeom prst="rect">
            <a:avLst/>
          </a:prstGeom>
          <a:noFill/>
          <a:ln/>
        </p:spPr>
        <p:txBody>
          <a:bodyPr wrap="square" lIns="0" tIns="0" rIns="0" bIns="0" rtlCol="0" anchor="ctr"/>
          <a:lstStyle/>
          <a:p>
            <a:pPr marL="0" indent="0" algn="ctr">
              <a:buNone/>
            </a:pPr>
            <a:r>
              <a:rPr lang="en-US" sz="1050" b="1" dirty="0">
                <a:solidFill>
                  <a:srgbClr val="2DE2C0"/>
                </a:solidFill>
                <a:latin typeface="Calibri" pitchFamily="34" charset="0"/>
                <a:ea typeface="Calibri" pitchFamily="34" charset="-122"/>
                <a:cs typeface="Calibri" pitchFamily="34" charset="-120"/>
              </a:rPr>
              <a:t>Fake email</a:t>
            </a:r>
            <a:endParaRPr lang="en-US" sz="1050" dirty="0"/>
          </a:p>
        </p:txBody>
      </p:sp>
      <p:sp>
        <p:nvSpPr>
          <p:cNvPr id="10" name="Shape 8"/>
          <p:cNvSpPr/>
          <p:nvPr/>
        </p:nvSpPr>
        <p:spPr>
          <a:xfrm>
            <a:off x="1344168" y="3657600"/>
            <a:ext cx="109728" cy="182880"/>
          </a:xfrm>
          <a:prstGeom prst="chevron">
            <a:avLst/>
          </a:prstGeom>
          <a:solidFill>
            <a:srgbClr val="9DB2CC"/>
          </a:solidFill>
          <a:ln w="12700">
            <a:solidFill>
              <a:srgbClr val="9DB2CC"/>
            </a:solidFill>
            <a:prstDash val="solid"/>
          </a:ln>
        </p:spPr>
      </p:sp>
      <p:sp>
        <p:nvSpPr>
          <p:cNvPr id="11" name="Shape 9"/>
          <p:cNvSpPr/>
          <p:nvPr/>
        </p:nvSpPr>
        <p:spPr>
          <a:xfrm>
            <a:off x="1481328" y="3429000"/>
            <a:ext cx="868680" cy="640080"/>
          </a:xfrm>
          <a:prstGeom prst="roundRect">
            <a:avLst>
              <a:gd name="adj" fmla="val 50000"/>
            </a:avLst>
          </a:prstGeom>
          <a:solidFill>
            <a:srgbClr val="0C2233"/>
          </a:solidFill>
          <a:ln w="12700">
            <a:solidFill>
              <a:srgbClr val="2DE2C0"/>
            </a:solidFill>
            <a:prstDash val="solid"/>
          </a:ln>
        </p:spPr>
      </p:sp>
      <p:sp>
        <p:nvSpPr>
          <p:cNvPr id="12" name="Text 10"/>
          <p:cNvSpPr txBox="1"/>
          <p:nvPr/>
        </p:nvSpPr>
        <p:spPr>
          <a:xfrm>
            <a:off x="1481328" y="3429000"/>
            <a:ext cx="868680" cy="640080"/>
          </a:xfrm>
          <a:prstGeom prst="rect">
            <a:avLst/>
          </a:prstGeom>
          <a:noFill/>
          <a:ln/>
        </p:spPr>
        <p:txBody>
          <a:bodyPr wrap="square" lIns="0" tIns="0" rIns="0" bIns="0" rtlCol="0" anchor="ctr"/>
          <a:lstStyle/>
          <a:p>
            <a:pPr marL="0" indent="0" algn="ctr">
              <a:buNone/>
            </a:pPr>
            <a:r>
              <a:rPr lang="en-US" sz="1050" b="1" dirty="0">
                <a:solidFill>
                  <a:srgbClr val="2DE2C0"/>
                </a:solidFill>
                <a:latin typeface="Calibri" pitchFamily="34" charset="0"/>
                <a:ea typeface="Calibri" pitchFamily="34" charset="-122"/>
                <a:cs typeface="Calibri" pitchFamily="34" charset="-120"/>
              </a:rPr>
              <a:t>Click link</a:t>
            </a:r>
            <a:endParaRPr lang="en-US" sz="1050" dirty="0"/>
          </a:p>
        </p:txBody>
      </p:sp>
      <p:sp>
        <p:nvSpPr>
          <p:cNvPr id="13" name="Shape 11"/>
          <p:cNvSpPr/>
          <p:nvPr/>
        </p:nvSpPr>
        <p:spPr>
          <a:xfrm>
            <a:off x="2368296" y="3657600"/>
            <a:ext cx="109728" cy="182880"/>
          </a:xfrm>
          <a:prstGeom prst="chevron">
            <a:avLst/>
          </a:prstGeom>
          <a:solidFill>
            <a:srgbClr val="9DB2CC"/>
          </a:solidFill>
          <a:ln w="12700">
            <a:solidFill>
              <a:srgbClr val="9DB2CC"/>
            </a:solidFill>
            <a:prstDash val="solid"/>
          </a:ln>
        </p:spPr>
      </p:sp>
      <p:sp>
        <p:nvSpPr>
          <p:cNvPr id="14" name="Shape 12"/>
          <p:cNvSpPr/>
          <p:nvPr/>
        </p:nvSpPr>
        <p:spPr>
          <a:xfrm>
            <a:off x="2505456" y="3429000"/>
            <a:ext cx="868680" cy="640080"/>
          </a:xfrm>
          <a:prstGeom prst="roundRect">
            <a:avLst>
              <a:gd name="adj" fmla="val 50000"/>
            </a:avLst>
          </a:prstGeom>
          <a:solidFill>
            <a:srgbClr val="0C2233"/>
          </a:solidFill>
          <a:ln w="12700">
            <a:solidFill>
              <a:srgbClr val="FFB547"/>
            </a:solidFill>
            <a:prstDash val="solid"/>
          </a:ln>
        </p:spPr>
      </p:sp>
      <p:sp>
        <p:nvSpPr>
          <p:cNvPr id="15" name="Text 13"/>
          <p:cNvSpPr txBox="1"/>
          <p:nvPr/>
        </p:nvSpPr>
        <p:spPr>
          <a:xfrm>
            <a:off x="2505456" y="3429000"/>
            <a:ext cx="868680" cy="640080"/>
          </a:xfrm>
          <a:prstGeom prst="rect">
            <a:avLst/>
          </a:prstGeom>
          <a:noFill/>
          <a:ln/>
        </p:spPr>
        <p:txBody>
          <a:bodyPr wrap="square" lIns="0" tIns="0" rIns="0" bIns="0" rtlCol="0" anchor="ctr"/>
          <a:lstStyle/>
          <a:p>
            <a:pPr marL="0" indent="0" algn="ctr">
              <a:buNone/>
            </a:pPr>
            <a:r>
              <a:rPr lang="en-US" sz="1050" b="1" dirty="0">
                <a:solidFill>
                  <a:srgbClr val="FFB547"/>
                </a:solidFill>
                <a:latin typeface="Calibri" pitchFamily="34" charset="0"/>
                <a:ea typeface="Calibri" pitchFamily="34" charset="-122"/>
                <a:cs typeface="Calibri" pitchFamily="34" charset="-120"/>
              </a:rPr>
              <a:t>Fake login</a:t>
            </a:r>
            <a:endParaRPr lang="en-US" sz="1050" dirty="0"/>
          </a:p>
        </p:txBody>
      </p:sp>
      <p:sp>
        <p:nvSpPr>
          <p:cNvPr id="16" name="Shape 14"/>
          <p:cNvSpPr/>
          <p:nvPr/>
        </p:nvSpPr>
        <p:spPr>
          <a:xfrm>
            <a:off x="3392424" y="3657600"/>
            <a:ext cx="109728" cy="182880"/>
          </a:xfrm>
          <a:prstGeom prst="chevron">
            <a:avLst/>
          </a:prstGeom>
          <a:solidFill>
            <a:srgbClr val="9DB2CC"/>
          </a:solidFill>
          <a:ln w="12700">
            <a:solidFill>
              <a:srgbClr val="9DB2CC"/>
            </a:solidFill>
            <a:prstDash val="solid"/>
          </a:ln>
        </p:spPr>
      </p:sp>
      <p:sp>
        <p:nvSpPr>
          <p:cNvPr id="17" name="Shape 15"/>
          <p:cNvSpPr/>
          <p:nvPr/>
        </p:nvSpPr>
        <p:spPr>
          <a:xfrm>
            <a:off x="3529584" y="3429000"/>
            <a:ext cx="868680" cy="640080"/>
          </a:xfrm>
          <a:prstGeom prst="roundRect">
            <a:avLst>
              <a:gd name="adj" fmla="val 50000"/>
            </a:avLst>
          </a:prstGeom>
          <a:solidFill>
            <a:srgbClr val="0C2233"/>
          </a:solidFill>
          <a:ln w="12700">
            <a:solidFill>
              <a:srgbClr val="FF5C5C"/>
            </a:solidFill>
            <a:prstDash val="solid"/>
          </a:ln>
        </p:spPr>
      </p:sp>
      <p:sp>
        <p:nvSpPr>
          <p:cNvPr id="18" name="Text 16"/>
          <p:cNvSpPr txBox="1"/>
          <p:nvPr/>
        </p:nvSpPr>
        <p:spPr>
          <a:xfrm>
            <a:off x="3529584" y="3429000"/>
            <a:ext cx="868680" cy="640080"/>
          </a:xfrm>
          <a:prstGeom prst="rect">
            <a:avLst/>
          </a:prstGeom>
          <a:noFill/>
          <a:ln/>
        </p:spPr>
        <p:txBody>
          <a:bodyPr wrap="square" lIns="0" tIns="0" rIns="0" bIns="0" rtlCol="0" anchor="ctr"/>
          <a:lstStyle/>
          <a:p>
            <a:pPr marL="0" indent="0" algn="ctr">
              <a:buNone/>
            </a:pPr>
            <a:r>
              <a:rPr lang="en-US" sz="1050" b="1" dirty="0">
                <a:solidFill>
                  <a:srgbClr val="FF5C5C"/>
                </a:solidFill>
                <a:latin typeface="Calibri" pitchFamily="34" charset="0"/>
                <a:ea typeface="Calibri" pitchFamily="34" charset="-122"/>
                <a:cs typeface="Calibri" pitchFamily="34" charset="-120"/>
              </a:rPr>
              <a:t>Data stolen</a:t>
            </a:r>
            <a:endParaRPr lang="en-US" sz="1050" dirty="0"/>
          </a:p>
        </p:txBody>
      </p:sp>
      <p:sp>
        <p:nvSpPr>
          <p:cNvPr id="19" name="Shape 17"/>
          <p:cNvSpPr/>
          <p:nvPr/>
        </p:nvSpPr>
        <p:spPr>
          <a:xfrm>
            <a:off x="4663440" y="1234440"/>
            <a:ext cx="4023360" cy="960120"/>
          </a:xfrm>
          <a:prstGeom prst="roundRect">
            <a:avLst>
              <a:gd name="adj" fmla="val 7619"/>
            </a:avLst>
          </a:prstGeom>
          <a:solidFill>
            <a:srgbClr val="0F2036"/>
          </a:solidFill>
          <a:ln w="12700">
            <a:solidFill>
              <a:srgbClr val="1D3A5C"/>
            </a:solidFill>
            <a:prstDash val="solid"/>
          </a:ln>
        </p:spPr>
      </p:sp>
      <p:sp>
        <p:nvSpPr>
          <p:cNvPr id="20" name="Shape 18"/>
          <p:cNvSpPr/>
          <p:nvPr/>
        </p:nvSpPr>
        <p:spPr>
          <a:xfrm>
            <a:off x="4846320" y="1463040"/>
            <a:ext cx="502920" cy="502920"/>
          </a:xfrm>
          <a:prstGeom prst="ellipse">
            <a:avLst/>
          </a:prstGeom>
          <a:solidFill>
            <a:srgbClr val="0C2233"/>
          </a:solidFill>
          <a:ln w="15875">
            <a:solidFill>
              <a:srgbClr val="2DE2C0"/>
            </a:solidFill>
            <a:prstDash val="solid"/>
          </a:ln>
        </p:spPr>
      </p:sp>
      <p:pic>
        <p:nvPicPr>
          <p:cNvPr id="21" name="Image 0" descr="preencoded.png"/>
          <p:cNvPicPr>
            <a:picLocks noChangeAspect="1"/>
          </p:cNvPicPr>
          <p:nvPr/>
        </p:nvPicPr>
        <p:blipFill>
          <a:blip r:embed="rId4"/>
          <a:stretch>
            <a:fillRect/>
          </a:stretch>
        </p:blipFill>
        <p:spPr>
          <a:xfrm>
            <a:off x="4977079" y="1593799"/>
            <a:ext cx="241402" cy="241402"/>
          </a:xfrm>
          <a:prstGeom prst="rect">
            <a:avLst/>
          </a:prstGeom>
        </p:spPr>
      </p:pic>
      <p:sp>
        <p:nvSpPr>
          <p:cNvPr id="22" name="Text 19"/>
          <p:cNvSpPr txBox="1"/>
          <p:nvPr/>
        </p:nvSpPr>
        <p:spPr>
          <a:xfrm>
            <a:off x="5532120" y="1344168"/>
            <a:ext cx="3017520" cy="256032"/>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Deceptive links</a:t>
            </a:r>
            <a:endParaRPr lang="en-US" sz="1400" dirty="0"/>
          </a:p>
        </p:txBody>
      </p:sp>
      <p:sp>
        <p:nvSpPr>
          <p:cNvPr id="23" name="Text 20"/>
          <p:cNvSpPr txBox="1"/>
          <p:nvPr/>
        </p:nvSpPr>
        <p:spPr>
          <a:xfrm>
            <a:off x="5532120" y="1618488"/>
            <a:ext cx="3017520" cy="50292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Fake domains, raw IP addresses and shortened URLs hide the real destination.</a:t>
            </a:r>
            <a:endParaRPr lang="en-US" sz="1150" dirty="0"/>
          </a:p>
        </p:txBody>
      </p:sp>
      <p:sp>
        <p:nvSpPr>
          <p:cNvPr id="24" name="Shape 21"/>
          <p:cNvSpPr/>
          <p:nvPr/>
        </p:nvSpPr>
        <p:spPr>
          <a:xfrm>
            <a:off x="4663440" y="2331720"/>
            <a:ext cx="4023360" cy="960120"/>
          </a:xfrm>
          <a:prstGeom prst="roundRect">
            <a:avLst>
              <a:gd name="adj" fmla="val 7619"/>
            </a:avLst>
          </a:prstGeom>
          <a:solidFill>
            <a:srgbClr val="0F2036"/>
          </a:solidFill>
          <a:ln w="12700">
            <a:solidFill>
              <a:srgbClr val="1D3A5C"/>
            </a:solidFill>
            <a:prstDash val="solid"/>
          </a:ln>
        </p:spPr>
      </p:sp>
      <p:sp>
        <p:nvSpPr>
          <p:cNvPr id="25" name="Shape 22"/>
          <p:cNvSpPr/>
          <p:nvPr/>
        </p:nvSpPr>
        <p:spPr>
          <a:xfrm>
            <a:off x="4846320" y="2560320"/>
            <a:ext cx="502920" cy="502920"/>
          </a:xfrm>
          <a:prstGeom prst="ellipse">
            <a:avLst/>
          </a:prstGeom>
          <a:solidFill>
            <a:srgbClr val="0C2233"/>
          </a:solidFill>
          <a:ln w="15875">
            <a:solidFill>
              <a:srgbClr val="FFB547"/>
            </a:solidFill>
            <a:prstDash val="solid"/>
          </a:ln>
        </p:spPr>
      </p:sp>
      <p:pic>
        <p:nvPicPr>
          <p:cNvPr id="26" name="Image 1" descr="preencoded.png"/>
          <p:cNvPicPr>
            <a:picLocks noChangeAspect="1"/>
          </p:cNvPicPr>
          <p:nvPr/>
        </p:nvPicPr>
        <p:blipFill>
          <a:blip r:embed="rId5"/>
          <a:stretch>
            <a:fillRect/>
          </a:stretch>
        </p:blipFill>
        <p:spPr>
          <a:xfrm>
            <a:off x="4977079" y="2691079"/>
            <a:ext cx="241402" cy="241402"/>
          </a:xfrm>
          <a:prstGeom prst="rect">
            <a:avLst/>
          </a:prstGeom>
        </p:spPr>
      </p:pic>
      <p:sp>
        <p:nvSpPr>
          <p:cNvPr id="27" name="Text 23"/>
          <p:cNvSpPr txBox="1"/>
          <p:nvPr/>
        </p:nvSpPr>
        <p:spPr>
          <a:xfrm>
            <a:off x="5532120" y="2441448"/>
            <a:ext cx="3017520" cy="256032"/>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Pressure tactics</a:t>
            </a:r>
            <a:endParaRPr lang="en-US" sz="1400" dirty="0"/>
          </a:p>
        </p:txBody>
      </p:sp>
      <p:sp>
        <p:nvSpPr>
          <p:cNvPr id="28" name="Text 24"/>
          <p:cNvSpPr txBox="1"/>
          <p:nvPr/>
        </p:nvSpPr>
        <p:spPr>
          <a:xfrm>
            <a:off x="5532120" y="2715768"/>
            <a:ext cx="3017520" cy="50292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Wording like "verify within 24 hours" pushes people to act before thinking.</a:t>
            </a:r>
            <a:endParaRPr lang="en-US" sz="1150" dirty="0"/>
          </a:p>
        </p:txBody>
      </p:sp>
      <p:sp>
        <p:nvSpPr>
          <p:cNvPr id="29" name="Shape 25"/>
          <p:cNvSpPr/>
          <p:nvPr/>
        </p:nvSpPr>
        <p:spPr>
          <a:xfrm>
            <a:off x="4663440" y="3429000"/>
            <a:ext cx="4023360" cy="960120"/>
          </a:xfrm>
          <a:prstGeom prst="roundRect">
            <a:avLst>
              <a:gd name="adj" fmla="val 7619"/>
            </a:avLst>
          </a:prstGeom>
          <a:solidFill>
            <a:srgbClr val="0F2036"/>
          </a:solidFill>
          <a:ln w="12700">
            <a:solidFill>
              <a:srgbClr val="1D3A5C"/>
            </a:solidFill>
            <a:prstDash val="solid"/>
          </a:ln>
        </p:spPr>
      </p:sp>
      <p:sp>
        <p:nvSpPr>
          <p:cNvPr id="30" name="Shape 26"/>
          <p:cNvSpPr/>
          <p:nvPr/>
        </p:nvSpPr>
        <p:spPr>
          <a:xfrm>
            <a:off x="4846320" y="3657600"/>
            <a:ext cx="502920" cy="502920"/>
          </a:xfrm>
          <a:prstGeom prst="ellipse">
            <a:avLst/>
          </a:prstGeom>
          <a:solidFill>
            <a:srgbClr val="0C2233"/>
          </a:solidFill>
          <a:ln w="15875">
            <a:solidFill>
              <a:srgbClr val="2DE2C0"/>
            </a:solidFill>
            <a:prstDash val="solid"/>
          </a:ln>
        </p:spPr>
      </p:sp>
      <p:pic>
        <p:nvPicPr>
          <p:cNvPr id="31" name="Image 2" descr="preencoded.png"/>
          <p:cNvPicPr>
            <a:picLocks noChangeAspect="1"/>
          </p:cNvPicPr>
          <p:nvPr/>
        </p:nvPicPr>
        <p:blipFill>
          <a:blip r:embed="rId6"/>
          <a:stretch>
            <a:fillRect/>
          </a:stretch>
        </p:blipFill>
        <p:spPr>
          <a:xfrm>
            <a:off x="4977079" y="3788359"/>
            <a:ext cx="241402" cy="241402"/>
          </a:xfrm>
          <a:prstGeom prst="rect">
            <a:avLst/>
          </a:prstGeom>
        </p:spPr>
      </p:pic>
      <p:sp>
        <p:nvSpPr>
          <p:cNvPr id="32" name="Text 27"/>
          <p:cNvSpPr txBox="1"/>
          <p:nvPr/>
        </p:nvSpPr>
        <p:spPr>
          <a:xfrm>
            <a:off x="5532120" y="3538728"/>
            <a:ext cx="3017520" cy="256032"/>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Opaque filters</a:t>
            </a:r>
            <a:endParaRPr lang="en-US" sz="1400" dirty="0"/>
          </a:p>
        </p:txBody>
      </p:sp>
      <p:sp>
        <p:nvSpPr>
          <p:cNvPr id="33" name="Text 28"/>
          <p:cNvSpPr txBox="1"/>
          <p:nvPr/>
        </p:nvSpPr>
        <p:spPr>
          <a:xfrm>
            <a:off x="5532120" y="3813048"/>
            <a:ext cx="3017520" cy="50292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A block or a pass with no explanation teaches the user nothing.</a:t>
            </a:r>
            <a:endParaRPr lang="en-US" sz="1150" dirty="0"/>
          </a:p>
        </p:txBody>
      </p:sp>
    </p:spTree>
  </p:cSld>
  <p:clrMapOvr>
    <a:masterClrMapping/>
  </p:clrMapOvr>
  <p:transition spd="med">
    <p:push/>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rgbClr val="2DE2C0"/>
                </a:solidFill>
                <a:latin typeface="Courier New" pitchFamily="34" charset="0"/>
                <a:ea typeface="Courier New" pitchFamily="34" charset="-122"/>
                <a:cs typeface="Courier New" pitchFamily="34" charset="-120"/>
              </a:rPr>
              <a:t>// 03  OBJECTIVES</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b="1" dirty="0">
                <a:solidFill>
                  <a:srgbClr val="EAF2FF"/>
                </a:solidFill>
                <a:latin typeface="Calibri" pitchFamily="34" charset="0"/>
                <a:ea typeface="Calibri" pitchFamily="34" charset="-122"/>
                <a:cs typeface="Calibri" pitchFamily="34" charset="-120"/>
              </a:rPr>
              <a:t>What the project sets out to achieve</a:t>
            </a:r>
            <a:endParaRPr lang="en-US" sz="3000" dirty="0"/>
          </a:p>
        </p:txBody>
      </p:sp>
      <p:sp>
        <p:nvSpPr>
          <p:cNvPr id="4" name="Text 2"/>
          <p:cNvSpPr txBox="1"/>
          <p:nvPr/>
        </p:nvSpPr>
        <p:spPr>
          <a:xfrm>
            <a:off x="7498080" y="4864608"/>
            <a:ext cx="1188720" cy="182880"/>
          </a:xfrm>
          <a:prstGeom prst="rect">
            <a:avLst/>
          </a:prstGeom>
          <a:noFill/>
          <a:ln/>
        </p:spPr>
        <p:txBody>
          <a:bodyPr wrap="square" lIns="0" tIns="0" rIns="0" bIns="0" rtlCol="0" anchor="ctr"/>
          <a:lstStyle/>
          <a:p>
            <a:pPr marL="0" indent="0" algn="r">
              <a:buNone/>
            </a:pPr>
            <a:r>
              <a:rPr lang="en-US" sz="900" dirty="0">
                <a:solidFill>
                  <a:srgbClr val="9DB2CC"/>
                </a:solidFill>
                <a:latin typeface="Courier New" pitchFamily="34" charset="0"/>
                <a:ea typeface="Courier New" pitchFamily="34" charset="-122"/>
                <a:cs typeface="Courier New" pitchFamily="34" charset="-120"/>
              </a:rPr>
              <a:t>03 / 15</a:t>
            </a:r>
            <a:endParaRPr lang="en-US" sz="900" dirty="0"/>
          </a:p>
        </p:txBody>
      </p:sp>
      <p:sp>
        <p:nvSpPr>
          <p:cNvPr id="5" name="Shape 3"/>
          <p:cNvSpPr/>
          <p:nvPr/>
        </p:nvSpPr>
        <p:spPr>
          <a:xfrm>
            <a:off x="457200" y="1234440"/>
            <a:ext cx="4023360" cy="1051560"/>
          </a:xfrm>
          <a:prstGeom prst="roundRect">
            <a:avLst>
              <a:gd name="adj" fmla="val 6957"/>
            </a:avLst>
          </a:prstGeom>
          <a:solidFill>
            <a:srgbClr val="0F2036"/>
          </a:solidFill>
          <a:ln w="12700">
            <a:solidFill>
              <a:srgbClr val="1D3A5C"/>
            </a:solidFill>
            <a:prstDash val="solid"/>
          </a:ln>
        </p:spPr>
      </p:sp>
      <p:sp>
        <p:nvSpPr>
          <p:cNvPr id="6" name="Shape 4"/>
          <p:cNvSpPr/>
          <p:nvPr/>
        </p:nvSpPr>
        <p:spPr>
          <a:xfrm>
            <a:off x="640080" y="1508760"/>
            <a:ext cx="502920" cy="502920"/>
          </a:xfrm>
          <a:prstGeom prst="ellipse">
            <a:avLst/>
          </a:prstGeom>
          <a:solidFill>
            <a:srgbClr val="0C2233"/>
          </a:solidFill>
          <a:ln w="15875">
            <a:solidFill>
              <a:srgbClr val="2DE2C0"/>
            </a:solidFill>
            <a:prstDash val="solid"/>
          </a:ln>
        </p:spPr>
      </p:sp>
      <p:sp>
        <p:nvSpPr>
          <p:cNvPr id="7" name="Text 5"/>
          <p:cNvSpPr txBox="1"/>
          <p:nvPr/>
        </p:nvSpPr>
        <p:spPr>
          <a:xfrm>
            <a:off x="640080" y="1508760"/>
            <a:ext cx="502920" cy="502920"/>
          </a:xfrm>
          <a:prstGeom prst="rect">
            <a:avLst/>
          </a:prstGeom>
          <a:noFill/>
          <a:ln/>
        </p:spPr>
        <p:txBody>
          <a:bodyPr wrap="square" lIns="0" tIns="0" rIns="0" bIns="0" rtlCol="0" anchor="ctr"/>
          <a:lstStyle/>
          <a:p>
            <a:pPr marL="0" indent="0" algn="ctr">
              <a:buNone/>
            </a:pPr>
            <a:r>
              <a:rPr lang="en-US" sz="1600" b="1" dirty="0">
                <a:solidFill>
                  <a:srgbClr val="2DE2C0"/>
                </a:solidFill>
                <a:latin typeface="Courier New" pitchFamily="34" charset="0"/>
                <a:ea typeface="Courier New" pitchFamily="34" charset="-122"/>
                <a:cs typeface="Courier New" pitchFamily="34" charset="-120"/>
              </a:rPr>
              <a:t>1</a:t>
            </a:r>
            <a:endParaRPr lang="en-US" sz="1600" dirty="0"/>
          </a:p>
        </p:txBody>
      </p:sp>
      <p:sp>
        <p:nvSpPr>
          <p:cNvPr id="8" name="Text 6"/>
          <p:cNvSpPr txBox="1"/>
          <p:nvPr/>
        </p:nvSpPr>
        <p:spPr>
          <a:xfrm>
            <a:off x="1325880" y="1371600"/>
            <a:ext cx="3017520" cy="274320"/>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Detect</a:t>
            </a:r>
            <a:endParaRPr lang="en-US" sz="1400" dirty="0"/>
          </a:p>
        </p:txBody>
      </p:sp>
      <p:sp>
        <p:nvSpPr>
          <p:cNvPr id="9" name="Text 7"/>
          <p:cNvSpPr txBox="1"/>
          <p:nvPr/>
        </p:nvSpPr>
        <p:spPr>
          <a:xfrm>
            <a:off x="1325880" y="1664208"/>
            <a:ext cx="3017520" cy="54864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Classify every email as Safe, Suspicious or Phishing.</a:t>
            </a:r>
            <a:endParaRPr lang="en-US" sz="1150" dirty="0"/>
          </a:p>
        </p:txBody>
      </p:sp>
      <p:sp>
        <p:nvSpPr>
          <p:cNvPr id="10" name="Shape 8"/>
          <p:cNvSpPr/>
          <p:nvPr/>
        </p:nvSpPr>
        <p:spPr>
          <a:xfrm>
            <a:off x="4663440" y="1234440"/>
            <a:ext cx="4023360" cy="1051560"/>
          </a:xfrm>
          <a:prstGeom prst="roundRect">
            <a:avLst>
              <a:gd name="adj" fmla="val 6957"/>
            </a:avLst>
          </a:prstGeom>
          <a:solidFill>
            <a:srgbClr val="0F2036"/>
          </a:solidFill>
          <a:ln w="12700">
            <a:solidFill>
              <a:srgbClr val="1D3A5C"/>
            </a:solidFill>
            <a:prstDash val="solid"/>
          </a:ln>
        </p:spPr>
      </p:sp>
      <p:sp>
        <p:nvSpPr>
          <p:cNvPr id="11" name="Shape 9"/>
          <p:cNvSpPr/>
          <p:nvPr/>
        </p:nvSpPr>
        <p:spPr>
          <a:xfrm>
            <a:off x="4846320" y="1508760"/>
            <a:ext cx="502920" cy="502920"/>
          </a:xfrm>
          <a:prstGeom prst="ellipse">
            <a:avLst/>
          </a:prstGeom>
          <a:solidFill>
            <a:srgbClr val="0C2233"/>
          </a:solidFill>
          <a:ln w="15875">
            <a:solidFill>
              <a:srgbClr val="2DE2C0"/>
            </a:solidFill>
            <a:prstDash val="solid"/>
          </a:ln>
        </p:spPr>
      </p:sp>
      <p:sp>
        <p:nvSpPr>
          <p:cNvPr id="12" name="Text 10"/>
          <p:cNvSpPr txBox="1"/>
          <p:nvPr/>
        </p:nvSpPr>
        <p:spPr>
          <a:xfrm>
            <a:off x="4846320" y="1508760"/>
            <a:ext cx="502920" cy="502920"/>
          </a:xfrm>
          <a:prstGeom prst="rect">
            <a:avLst/>
          </a:prstGeom>
          <a:noFill/>
          <a:ln/>
        </p:spPr>
        <p:txBody>
          <a:bodyPr wrap="square" lIns="0" tIns="0" rIns="0" bIns="0" rtlCol="0" anchor="ctr"/>
          <a:lstStyle/>
          <a:p>
            <a:pPr marL="0" indent="0" algn="ctr">
              <a:buNone/>
            </a:pPr>
            <a:r>
              <a:rPr lang="en-US" sz="1600" b="1" dirty="0">
                <a:solidFill>
                  <a:srgbClr val="2DE2C0"/>
                </a:solidFill>
                <a:latin typeface="Courier New" pitchFamily="34" charset="0"/>
                <a:ea typeface="Courier New" pitchFamily="34" charset="-122"/>
                <a:cs typeface="Courier New" pitchFamily="34" charset="-120"/>
              </a:rPr>
              <a:t>2</a:t>
            </a:r>
            <a:endParaRPr lang="en-US" sz="1600" dirty="0"/>
          </a:p>
        </p:txBody>
      </p:sp>
      <p:sp>
        <p:nvSpPr>
          <p:cNvPr id="13" name="Text 11"/>
          <p:cNvSpPr txBox="1"/>
          <p:nvPr/>
        </p:nvSpPr>
        <p:spPr>
          <a:xfrm>
            <a:off x="5532120" y="1371600"/>
            <a:ext cx="3017520" cy="274320"/>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Explain</a:t>
            </a:r>
            <a:endParaRPr lang="en-US" sz="1400" dirty="0"/>
          </a:p>
        </p:txBody>
      </p:sp>
      <p:sp>
        <p:nvSpPr>
          <p:cNvPr id="14" name="Text 12"/>
          <p:cNvSpPr txBox="1"/>
          <p:nvPr/>
        </p:nvSpPr>
        <p:spPr>
          <a:xfrm>
            <a:off x="5532120" y="1664208"/>
            <a:ext cx="3017520" cy="54864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Give a 0-100 score with plain-English reasons for each verdict.</a:t>
            </a:r>
            <a:endParaRPr lang="en-US" sz="1150" dirty="0"/>
          </a:p>
        </p:txBody>
      </p:sp>
      <p:sp>
        <p:nvSpPr>
          <p:cNvPr id="15" name="Shape 13"/>
          <p:cNvSpPr/>
          <p:nvPr/>
        </p:nvSpPr>
        <p:spPr>
          <a:xfrm>
            <a:off x="457200" y="2423160"/>
            <a:ext cx="4023360" cy="1051560"/>
          </a:xfrm>
          <a:prstGeom prst="roundRect">
            <a:avLst>
              <a:gd name="adj" fmla="val 6957"/>
            </a:avLst>
          </a:prstGeom>
          <a:solidFill>
            <a:srgbClr val="0F2036"/>
          </a:solidFill>
          <a:ln w="12700">
            <a:solidFill>
              <a:srgbClr val="1D3A5C"/>
            </a:solidFill>
            <a:prstDash val="solid"/>
          </a:ln>
        </p:spPr>
      </p:sp>
      <p:sp>
        <p:nvSpPr>
          <p:cNvPr id="16" name="Shape 14"/>
          <p:cNvSpPr/>
          <p:nvPr/>
        </p:nvSpPr>
        <p:spPr>
          <a:xfrm>
            <a:off x="640080" y="2697480"/>
            <a:ext cx="502920" cy="502920"/>
          </a:xfrm>
          <a:prstGeom prst="ellipse">
            <a:avLst/>
          </a:prstGeom>
          <a:solidFill>
            <a:srgbClr val="0C2233"/>
          </a:solidFill>
          <a:ln w="15875">
            <a:solidFill>
              <a:srgbClr val="2DE2C0"/>
            </a:solidFill>
            <a:prstDash val="solid"/>
          </a:ln>
        </p:spPr>
      </p:sp>
      <p:sp>
        <p:nvSpPr>
          <p:cNvPr id="17" name="Text 15"/>
          <p:cNvSpPr txBox="1"/>
          <p:nvPr/>
        </p:nvSpPr>
        <p:spPr>
          <a:xfrm>
            <a:off x="640080" y="2697480"/>
            <a:ext cx="502920" cy="502920"/>
          </a:xfrm>
          <a:prstGeom prst="rect">
            <a:avLst/>
          </a:prstGeom>
          <a:noFill/>
          <a:ln/>
        </p:spPr>
        <p:txBody>
          <a:bodyPr wrap="square" lIns="0" tIns="0" rIns="0" bIns="0" rtlCol="0" anchor="ctr"/>
          <a:lstStyle/>
          <a:p>
            <a:pPr marL="0" indent="0" algn="ctr">
              <a:buNone/>
            </a:pPr>
            <a:r>
              <a:rPr lang="en-US" sz="1600" b="1" dirty="0">
                <a:solidFill>
                  <a:srgbClr val="2DE2C0"/>
                </a:solidFill>
                <a:latin typeface="Courier New" pitchFamily="34" charset="0"/>
                <a:ea typeface="Courier New" pitchFamily="34" charset="-122"/>
                <a:cs typeface="Courier New" pitchFamily="34" charset="-120"/>
              </a:rPr>
              <a:t>3</a:t>
            </a:r>
            <a:endParaRPr lang="en-US" sz="1600" dirty="0"/>
          </a:p>
        </p:txBody>
      </p:sp>
      <p:sp>
        <p:nvSpPr>
          <p:cNvPr id="18" name="Text 16"/>
          <p:cNvSpPr txBox="1"/>
          <p:nvPr/>
        </p:nvSpPr>
        <p:spPr>
          <a:xfrm>
            <a:off x="1325880" y="2560320"/>
            <a:ext cx="3017520" cy="274320"/>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Use real data</a:t>
            </a:r>
            <a:endParaRPr lang="en-US" sz="1400" dirty="0"/>
          </a:p>
        </p:txBody>
      </p:sp>
      <p:sp>
        <p:nvSpPr>
          <p:cNvPr id="19" name="Text 17"/>
          <p:cNvSpPr txBox="1"/>
          <p:nvPr/>
        </p:nvSpPr>
        <p:spPr>
          <a:xfrm>
            <a:off x="1325880" y="2852928"/>
            <a:ext cx="3017520" cy="54864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Check links against a real phishing-domain database and train on real emails.</a:t>
            </a:r>
            <a:endParaRPr lang="en-US" sz="1150" dirty="0"/>
          </a:p>
        </p:txBody>
      </p:sp>
      <p:sp>
        <p:nvSpPr>
          <p:cNvPr id="20" name="Shape 18"/>
          <p:cNvSpPr/>
          <p:nvPr/>
        </p:nvSpPr>
        <p:spPr>
          <a:xfrm>
            <a:off x="4663440" y="2423160"/>
            <a:ext cx="4023360" cy="1051560"/>
          </a:xfrm>
          <a:prstGeom prst="roundRect">
            <a:avLst>
              <a:gd name="adj" fmla="val 6957"/>
            </a:avLst>
          </a:prstGeom>
          <a:solidFill>
            <a:srgbClr val="0F2036"/>
          </a:solidFill>
          <a:ln w="12700">
            <a:solidFill>
              <a:srgbClr val="1D3A5C"/>
            </a:solidFill>
            <a:prstDash val="solid"/>
          </a:ln>
        </p:spPr>
      </p:sp>
      <p:sp>
        <p:nvSpPr>
          <p:cNvPr id="21" name="Shape 19"/>
          <p:cNvSpPr/>
          <p:nvPr/>
        </p:nvSpPr>
        <p:spPr>
          <a:xfrm>
            <a:off x="4846320" y="2697480"/>
            <a:ext cx="502920" cy="502920"/>
          </a:xfrm>
          <a:prstGeom prst="ellipse">
            <a:avLst/>
          </a:prstGeom>
          <a:solidFill>
            <a:srgbClr val="0C2233"/>
          </a:solidFill>
          <a:ln w="15875">
            <a:solidFill>
              <a:srgbClr val="2DE2C0"/>
            </a:solidFill>
            <a:prstDash val="solid"/>
          </a:ln>
        </p:spPr>
      </p:sp>
      <p:sp>
        <p:nvSpPr>
          <p:cNvPr id="22" name="Text 20"/>
          <p:cNvSpPr txBox="1"/>
          <p:nvPr/>
        </p:nvSpPr>
        <p:spPr>
          <a:xfrm>
            <a:off x="4846320" y="2697480"/>
            <a:ext cx="502920" cy="502920"/>
          </a:xfrm>
          <a:prstGeom prst="rect">
            <a:avLst/>
          </a:prstGeom>
          <a:noFill/>
          <a:ln/>
        </p:spPr>
        <p:txBody>
          <a:bodyPr wrap="square" lIns="0" tIns="0" rIns="0" bIns="0" rtlCol="0" anchor="ctr"/>
          <a:lstStyle/>
          <a:p>
            <a:pPr marL="0" indent="0" algn="ctr">
              <a:buNone/>
            </a:pPr>
            <a:r>
              <a:rPr lang="en-US" sz="1600" b="1" dirty="0">
                <a:solidFill>
                  <a:srgbClr val="2DE2C0"/>
                </a:solidFill>
                <a:latin typeface="Courier New" pitchFamily="34" charset="0"/>
                <a:ea typeface="Courier New" pitchFamily="34" charset="-122"/>
                <a:cs typeface="Courier New" pitchFamily="34" charset="-120"/>
              </a:rPr>
              <a:t>4</a:t>
            </a:r>
            <a:endParaRPr lang="en-US" sz="1600" dirty="0"/>
          </a:p>
        </p:txBody>
      </p:sp>
      <p:sp>
        <p:nvSpPr>
          <p:cNvPr id="23" name="Text 21"/>
          <p:cNvSpPr txBox="1"/>
          <p:nvPr/>
        </p:nvSpPr>
        <p:spPr>
          <a:xfrm>
            <a:off x="5532120" y="2560320"/>
            <a:ext cx="3017520" cy="274320"/>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Remember and learn</a:t>
            </a:r>
            <a:endParaRPr lang="en-US" sz="1400" dirty="0"/>
          </a:p>
        </p:txBody>
      </p:sp>
      <p:sp>
        <p:nvSpPr>
          <p:cNvPr id="24" name="Text 22"/>
          <p:cNvSpPr txBox="1"/>
          <p:nvPr/>
        </p:nvSpPr>
        <p:spPr>
          <a:xfrm>
            <a:off x="5532120" y="2852928"/>
            <a:ext cx="3017520" cy="54864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Store every scan and let users correct verdicts to retrain the model.</a:t>
            </a:r>
            <a:endParaRPr lang="en-US" sz="1150" dirty="0"/>
          </a:p>
        </p:txBody>
      </p:sp>
      <p:sp>
        <p:nvSpPr>
          <p:cNvPr id="25" name="Shape 23"/>
          <p:cNvSpPr/>
          <p:nvPr/>
        </p:nvSpPr>
        <p:spPr>
          <a:xfrm>
            <a:off x="457200" y="3611880"/>
            <a:ext cx="4023360" cy="1051560"/>
          </a:xfrm>
          <a:prstGeom prst="roundRect">
            <a:avLst>
              <a:gd name="adj" fmla="val 6957"/>
            </a:avLst>
          </a:prstGeom>
          <a:solidFill>
            <a:srgbClr val="0F2036"/>
          </a:solidFill>
          <a:ln w="12700">
            <a:solidFill>
              <a:srgbClr val="1D3A5C"/>
            </a:solidFill>
            <a:prstDash val="solid"/>
          </a:ln>
        </p:spPr>
      </p:sp>
      <p:sp>
        <p:nvSpPr>
          <p:cNvPr id="26" name="Shape 24"/>
          <p:cNvSpPr/>
          <p:nvPr/>
        </p:nvSpPr>
        <p:spPr>
          <a:xfrm>
            <a:off x="640080" y="3886200"/>
            <a:ext cx="502920" cy="502920"/>
          </a:xfrm>
          <a:prstGeom prst="ellipse">
            <a:avLst/>
          </a:prstGeom>
          <a:solidFill>
            <a:srgbClr val="0C2233"/>
          </a:solidFill>
          <a:ln w="15875">
            <a:solidFill>
              <a:srgbClr val="2DE2C0"/>
            </a:solidFill>
            <a:prstDash val="solid"/>
          </a:ln>
        </p:spPr>
      </p:sp>
      <p:sp>
        <p:nvSpPr>
          <p:cNvPr id="27" name="Text 25"/>
          <p:cNvSpPr txBox="1"/>
          <p:nvPr/>
        </p:nvSpPr>
        <p:spPr>
          <a:xfrm>
            <a:off x="640080" y="3886200"/>
            <a:ext cx="502920" cy="502920"/>
          </a:xfrm>
          <a:prstGeom prst="rect">
            <a:avLst/>
          </a:prstGeom>
          <a:noFill/>
          <a:ln/>
        </p:spPr>
        <p:txBody>
          <a:bodyPr wrap="square" lIns="0" tIns="0" rIns="0" bIns="0" rtlCol="0" anchor="ctr"/>
          <a:lstStyle/>
          <a:p>
            <a:pPr marL="0" indent="0" algn="ctr">
              <a:buNone/>
            </a:pPr>
            <a:r>
              <a:rPr lang="en-US" sz="1600" b="1" dirty="0">
                <a:solidFill>
                  <a:srgbClr val="2DE2C0"/>
                </a:solidFill>
                <a:latin typeface="Courier New" pitchFamily="34" charset="0"/>
                <a:ea typeface="Courier New" pitchFamily="34" charset="-122"/>
                <a:cs typeface="Courier New" pitchFamily="34" charset="-120"/>
              </a:rPr>
              <a:t>5</a:t>
            </a:r>
            <a:endParaRPr lang="en-US" sz="1600" dirty="0"/>
          </a:p>
        </p:txBody>
      </p:sp>
      <p:sp>
        <p:nvSpPr>
          <p:cNvPr id="28" name="Text 26"/>
          <p:cNvSpPr txBox="1"/>
          <p:nvPr/>
        </p:nvSpPr>
        <p:spPr>
          <a:xfrm>
            <a:off x="1325880" y="3749040"/>
            <a:ext cx="3017520" cy="274320"/>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Be easy to use</a:t>
            </a:r>
            <a:endParaRPr lang="en-US" sz="1400" dirty="0"/>
          </a:p>
        </p:txBody>
      </p:sp>
      <p:sp>
        <p:nvSpPr>
          <p:cNvPr id="29" name="Text 27"/>
          <p:cNvSpPr txBox="1"/>
          <p:nvPr/>
        </p:nvSpPr>
        <p:spPr>
          <a:xfrm>
            <a:off x="1325880" y="4041648"/>
            <a:ext cx="3017520" cy="54864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Offer a web app, bulk CSV scanning and a REST API.</a:t>
            </a:r>
            <a:endParaRPr lang="en-US" sz="1150" dirty="0"/>
          </a:p>
        </p:txBody>
      </p:sp>
      <p:sp>
        <p:nvSpPr>
          <p:cNvPr id="30" name="Shape 28"/>
          <p:cNvSpPr/>
          <p:nvPr/>
        </p:nvSpPr>
        <p:spPr>
          <a:xfrm>
            <a:off x="4663440" y="3611880"/>
            <a:ext cx="4023360" cy="1051560"/>
          </a:xfrm>
          <a:prstGeom prst="roundRect">
            <a:avLst>
              <a:gd name="adj" fmla="val 6957"/>
            </a:avLst>
          </a:prstGeom>
          <a:solidFill>
            <a:srgbClr val="0F2036"/>
          </a:solidFill>
          <a:ln w="12700">
            <a:solidFill>
              <a:srgbClr val="1D3A5C"/>
            </a:solidFill>
            <a:prstDash val="solid"/>
          </a:ln>
        </p:spPr>
      </p:sp>
      <p:sp>
        <p:nvSpPr>
          <p:cNvPr id="31" name="Shape 29"/>
          <p:cNvSpPr/>
          <p:nvPr/>
        </p:nvSpPr>
        <p:spPr>
          <a:xfrm>
            <a:off x="4846320" y="3886200"/>
            <a:ext cx="502920" cy="502920"/>
          </a:xfrm>
          <a:prstGeom prst="ellipse">
            <a:avLst/>
          </a:prstGeom>
          <a:solidFill>
            <a:srgbClr val="0C2233"/>
          </a:solidFill>
          <a:ln w="15875">
            <a:solidFill>
              <a:srgbClr val="2DE2C0"/>
            </a:solidFill>
            <a:prstDash val="solid"/>
          </a:ln>
        </p:spPr>
      </p:sp>
      <p:sp>
        <p:nvSpPr>
          <p:cNvPr id="32" name="Text 30"/>
          <p:cNvSpPr txBox="1"/>
          <p:nvPr/>
        </p:nvSpPr>
        <p:spPr>
          <a:xfrm>
            <a:off x="4846320" y="3886200"/>
            <a:ext cx="502920" cy="502920"/>
          </a:xfrm>
          <a:prstGeom prst="rect">
            <a:avLst/>
          </a:prstGeom>
          <a:noFill/>
          <a:ln/>
        </p:spPr>
        <p:txBody>
          <a:bodyPr wrap="square" lIns="0" tIns="0" rIns="0" bIns="0" rtlCol="0" anchor="ctr"/>
          <a:lstStyle/>
          <a:p>
            <a:pPr marL="0" indent="0" algn="ctr">
              <a:buNone/>
            </a:pPr>
            <a:r>
              <a:rPr lang="en-US" sz="1600" b="1" dirty="0">
                <a:solidFill>
                  <a:srgbClr val="2DE2C0"/>
                </a:solidFill>
                <a:latin typeface="Courier New" pitchFamily="34" charset="0"/>
                <a:ea typeface="Courier New" pitchFamily="34" charset="-122"/>
                <a:cs typeface="Courier New" pitchFamily="34" charset="-120"/>
              </a:rPr>
              <a:t>6</a:t>
            </a:r>
            <a:endParaRPr lang="en-US" sz="1600" dirty="0"/>
          </a:p>
        </p:txBody>
      </p:sp>
      <p:sp>
        <p:nvSpPr>
          <p:cNvPr id="33" name="Text 31"/>
          <p:cNvSpPr txBox="1"/>
          <p:nvPr/>
        </p:nvSpPr>
        <p:spPr>
          <a:xfrm>
            <a:off x="5532120" y="3749040"/>
            <a:ext cx="3017520" cy="274320"/>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Build awareness</a:t>
            </a:r>
            <a:endParaRPr lang="en-US" sz="1400" dirty="0"/>
          </a:p>
        </p:txBody>
      </p:sp>
      <p:sp>
        <p:nvSpPr>
          <p:cNvPr id="34" name="Text 32"/>
          <p:cNvSpPr txBox="1"/>
          <p:nvPr/>
        </p:nvSpPr>
        <p:spPr>
          <a:xfrm>
            <a:off x="5532120" y="4041648"/>
            <a:ext cx="3017520" cy="54864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Help users practise spotting scams with live highlights and a quiz.</a:t>
            </a:r>
            <a:endParaRPr lang="en-US" sz="1150" dirty="0"/>
          </a:p>
        </p:txBody>
      </p:sp>
    </p:spTree>
  </p:cSld>
  <p:clrMapOvr>
    <a:masterClrMapping/>
  </p:clrMapOvr>
  <p:transition spd="med">
    <p:push/>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rgbClr val="2DE2C0"/>
                </a:solidFill>
                <a:latin typeface="Courier New" pitchFamily="34" charset="0"/>
                <a:ea typeface="Courier New" pitchFamily="34" charset="-122"/>
                <a:cs typeface="Courier New" pitchFamily="34" charset="-120"/>
              </a:rPr>
              <a:t>// 04  EXISTING VS PROPOSED</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b="1" dirty="0">
                <a:solidFill>
                  <a:srgbClr val="EAF2FF"/>
                </a:solidFill>
                <a:latin typeface="Calibri" pitchFamily="34" charset="0"/>
                <a:ea typeface="Calibri" pitchFamily="34" charset="-122"/>
                <a:cs typeface="Calibri" pitchFamily="34" charset="-120"/>
              </a:rPr>
              <a:t>From a silent filter to an explainable detector</a:t>
            </a:r>
            <a:endParaRPr lang="en-US" sz="3000" dirty="0"/>
          </a:p>
        </p:txBody>
      </p:sp>
      <p:sp>
        <p:nvSpPr>
          <p:cNvPr id="4" name="Text 2"/>
          <p:cNvSpPr txBox="1"/>
          <p:nvPr/>
        </p:nvSpPr>
        <p:spPr>
          <a:xfrm>
            <a:off x="7498080" y="4864608"/>
            <a:ext cx="1188720" cy="182880"/>
          </a:xfrm>
          <a:prstGeom prst="rect">
            <a:avLst/>
          </a:prstGeom>
          <a:noFill/>
          <a:ln/>
        </p:spPr>
        <p:txBody>
          <a:bodyPr wrap="square" lIns="0" tIns="0" rIns="0" bIns="0" rtlCol="0" anchor="ctr"/>
          <a:lstStyle/>
          <a:p>
            <a:pPr marL="0" indent="0" algn="r">
              <a:buNone/>
            </a:pPr>
            <a:r>
              <a:rPr lang="en-US" sz="900" dirty="0">
                <a:solidFill>
                  <a:srgbClr val="9DB2CC"/>
                </a:solidFill>
                <a:latin typeface="Courier New" pitchFamily="34" charset="0"/>
                <a:ea typeface="Courier New" pitchFamily="34" charset="-122"/>
                <a:cs typeface="Courier New" pitchFamily="34" charset="-120"/>
              </a:rPr>
              <a:t>04 / 15</a:t>
            </a:r>
            <a:endParaRPr lang="en-US" sz="900" dirty="0"/>
          </a:p>
        </p:txBody>
      </p:sp>
      <p:sp>
        <p:nvSpPr>
          <p:cNvPr id="5" name="Shape 3"/>
          <p:cNvSpPr/>
          <p:nvPr/>
        </p:nvSpPr>
        <p:spPr>
          <a:xfrm>
            <a:off x="2377440" y="1188720"/>
            <a:ext cx="3108960" cy="365760"/>
          </a:xfrm>
          <a:prstGeom prst="roundRect">
            <a:avLst>
              <a:gd name="adj" fmla="val 50000"/>
            </a:avLst>
          </a:prstGeom>
          <a:solidFill>
            <a:srgbClr val="0C2233"/>
          </a:solidFill>
          <a:ln w="12700">
            <a:solidFill>
              <a:srgbClr val="FF5C5C"/>
            </a:solidFill>
            <a:prstDash val="solid"/>
          </a:ln>
        </p:spPr>
      </p:sp>
      <p:sp>
        <p:nvSpPr>
          <p:cNvPr id="6" name="Text 4"/>
          <p:cNvSpPr txBox="1"/>
          <p:nvPr/>
        </p:nvSpPr>
        <p:spPr>
          <a:xfrm>
            <a:off x="2377440" y="1188720"/>
            <a:ext cx="3108960" cy="365760"/>
          </a:xfrm>
          <a:prstGeom prst="rect">
            <a:avLst/>
          </a:prstGeom>
          <a:noFill/>
          <a:ln/>
        </p:spPr>
        <p:txBody>
          <a:bodyPr wrap="square" lIns="0" tIns="0" rIns="0" bIns="0" rtlCol="0" anchor="ctr"/>
          <a:lstStyle/>
          <a:p>
            <a:pPr marL="0" indent="0" algn="ctr">
              <a:buNone/>
            </a:pPr>
            <a:r>
              <a:rPr lang="en-US" sz="1100" b="1" dirty="0">
                <a:solidFill>
                  <a:srgbClr val="FF5C5C"/>
                </a:solidFill>
                <a:latin typeface="Calibri" pitchFamily="34" charset="0"/>
                <a:ea typeface="Calibri" pitchFamily="34" charset="-122"/>
                <a:cs typeface="Calibri" pitchFamily="34" charset="-120"/>
              </a:rPr>
              <a:t>EXISTING  (typical filters)</a:t>
            </a:r>
            <a:endParaRPr lang="en-US" sz="1100" dirty="0"/>
          </a:p>
        </p:txBody>
      </p:sp>
      <p:sp>
        <p:nvSpPr>
          <p:cNvPr id="7" name="Shape 5"/>
          <p:cNvSpPr/>
          <p:nvPr/>
        </p:nvSpPr>
        <p:spPr>
          <a:xfrm>
            <a:off x="5577840" y="1188720"/>
            <a:ext cx="3108960" cy="365760"/>
          </a:xfrm>
          <a:prstGeom prst="roundRect">
            <a:avLst>
              <a:gd name="adj" fmla="val 50000"/>
            </a:avLst>
          </a:prstGeom>
          <a:solidFill>
            <a:srgbClr val="0C2233"/>
          </a:solidFill>
          <a:ln w="12700">
            <a:solidFill>
              <a:srgbClr val="2DE2C0"/>
            </a:solidFill>
            <a:prstDash val="solid"/>
          </a:ln>
        </p:spPr>
      </p:sp>
      <p:sp>
        <p:nvSpPr>
          <p:cNvPr id="8" name="Text 6"/>
          <p:cNvSpPr txBox="1"/>
          <p:nvPr/>
        </p:nvSpPr>
        <p:spPr>
          <a:xfrm>
            <a:off x="5577840" y="1188720"/>
            <a:ext cx="3108960" cy="365760"/>
          </a:xfrm>
          <a:prstGeom prst="rect">
            <a:avLst/>
          </a:prstGeom>
          <a:noFill/>
          <a:ln/>
        </p:spPr>
        <p:txBody>
          <a:bodyPr wrap="square" lIns="0" tIns="0" rIns="0" bIns="0" rtlCol="0" anchor="ctr"/>
          <a:lstStyle/>
          <a:p>
            <a:pPr marL="0" indent="0" algn="ctr">
              <a:buNone/>
            </a:pPr>
            <a:r>
              <a:rPr lang="en-US" sz="1100" b="1" dirty="0">
                <a:solidFill>
                  <a:srgbClr val="2DE2C0"/>
                </a:solidFill>
                <a:latin typeface="Calibri" pitchFamily="34" charset="0"/>
                <a:ea typeface="Calibri" pitchFamily="34" charset="-122"/>
                <a:cs typeface="Calibri" pitchFamily="34" charset="-120"/>
              </a:rPr>
              <a:t>PROPOSED  (PhishGuard)</a:t>
            </a:r>
            <a:endParaRPr lang="en-US" sz="1100" dirty="0"/>
          </a:p>
        </p:txBody>
      </p:sp>
      <p:sp>
        <p:nvSpPr>
          <p:cNvPr id="9" name="Text 7"/>
          <p:cNvSpPr txBox="1"/>
          <p:nvPr/>
        </p:nvSpPr>
        <p:spPr>
          <a:xfrm>
            <a:off x="457200" y="1691640"/>
            <a:ext cx="1828800" cy="530352"/>
          </a:xfrm>
          <a:prstGeom prst="rect">
            <a:avLst/>
          </a:prstGeom>
          <a:noFill/>
          <a:ln/>
        </p:spPr>
        <p:txBody>
          <a:bodyPr wrap="square" lIns="0" tIns="0" rIns="0" bIns="0" rtlCol="0" anchor="ctr"/>
          <a:lstStyle/>
          <a:p>
            <a:pPr marL="0" indent="0">
              <a:buNone/>
            </a:pPr>
            <a:r>
              <a:rPr lang="en-US" sz="1250" b="1" dirty="0">
                <a:solidFill>
                  <a:srgbClr val="9DB2CC"/>
                </a:solidFill>
                <a:latin typeface="Calibri" pitchFamily="34" charset="0"/>
                <a:ea typeface="Calibri" pitchFamily="34" charset="-122"/>
                <a:cs typeface="Calibri" pitchFamily="34" charset="-120"/>
              </a:rPr>
              <a:t>Verdict</a:t>
            </a:r>
            <a:endParaRPr lang="en-US" sz="1250" dirty="0"/>
          </a:p>
        </p:txBody>
      </p:sp>
      <p:sp>
        <p:nvSpPr>
          <p:cNvPr id="10" name="Shape 8"/>
          <p:cNvSpPr/>
          <p:nvPr/>
        </p:nvSpPr>
        <p:spPr>
          <a:xfrm>
            <a:off x="2377440" y="1691640"/>
            <a:ext cx="3108960" cy="530352"/>
          </a:xfrm>
          <a:prstGeom prst="roundRect">
            <a:avLst>
              <a:gd name="adj" fmla="val 13793"/>
            </a:avLst>
          </a:prstGeom>
          <a:solidFill>
            <a:srgbClr val="24141F"/>
          </a:solidFill>
          <a:ln w="12700">
            <a:solidFill>
              <a:srgbClr val="5A2A33"/>
            </a:solidFill>
            <a:prstDash val="solid"/>
          </a:ln>
        </p:spPr>
      </p:sp>
      <p:sp>
        <p:nvSpPr>
          <p:cNvPr id="11" name="Text 9"/>
          <p:cNvSpPr txBox="1"/>
          <p:nvPr/>
        </p:nvSpPr>
        <p:spPr>
          <a:xfrm>
            <a:off x="2542032" y="1691640"/>
            <a:ext cx="2788920" cy="530352"/>
          </a:xfrm>
          <a:prstGeom prst="rect">
            <a:avLst/>
          </a:prstGeom>
          <a:noFill/>
          <a:ln/>
        </p:spPr>
        <p:txBody>
          <a:bodyPr wrap="square" lIns="0" tIns="0" rIns="0" bIns="0" rtlCol="0" anchor="ctr"/>
          <a:lstStyle/>
          <a:p>
            <a:pPr marL="0" indent="0">
              <a:buNone/>
            </a:pPr>
            <a:r>
              <a:rPr lang="en-US" sz="1150" dirty="0">
                <a:solidFill>
                  <a:srgbClr val="EAF2FF"/>
                </a:solidFill>
                <a:latin typeface="Calibri" pitchFamily="34" charset="0"/>
                <a:ea typeface="Calibri" pitchFamily="34" charset="-122"/>
                <a:cs typeface="Calibri" pitchFamily="34" charset="-120"/>
              </a:rPr>
              <a:t>Block or pass, usually with no score</a:t>
            </a:r>
            <a:endParaRPr lang="en-US" sz="1150" dirty="0"/>
          </a:p>
        </p:txBody>
      </p:sp>
      <p:sp>
        <p:nvSpPr>
          <p:cNvPr id="12" name="Shape 10"/>
          <p:cNvSpPr/>
          <p:nvPr/>
        </p:nvSpPr>
        <p:spPr>
          <a:xfrm>
            <a:off x="5577840" y="1691640"/>
            <a:ext cx="3108960" cy="530352"/>
          </a:xfrm>
          <a:prstGeom prst="roundRect">
            <a:avLst>
              <a:gd name="adj" fmla="val 13793"/>
            </a:avLst>
          </a:prstGeom>
          <a:solidFill>
            <a:srgbClr val="0C2D2E"/>
          </a:solidFill>
          <a:ln w="12700">
            <a:solidFill>
              <a:srgbClr val="1B6B62"/>
            </a:solidFill>
            <a:prstDash val="solid"/>
          </a:ln>
        </p:spPr>
      </p:sp>
      <p:sp>
        <p:nvSpPr>
          <p:cNvPr id="13" name="Text 11"/>
          <p:cNvSpPr txBox="1"/>
          <p:nvPr/>
        </p:nvSpPr>
        <p:spPr>
          <a:xfrm>
            <a:off x="5742432" y="1691640"/>
            <a:ext cx="2788920" cy="530352"/>
          </a:xfrm>
          <a:prstGeom prst="rect">
            <a:avLst/>
          </a:prstGeom>
          <a:noFill/>
          <a:ln/>
        </p:spPr>
        <p:txBody>
          <a:bodyPr wrap="square" lIns="0" tIns="0" rIns="0" bIns="0" rtlCol="0" anchor="ctr"/>
          <a:lstStyle/>
          <a:p>
            <a:pPr marL="0" indent="0">
              <a:buNone/>
            </a:pPr>
            <a:r>
              <a:rPr lang="en-US" sz="1150" dirty="0">
                <a:solidFill>
                  <a:srgbClr val="EAF2FF"/>
                </a:solidFill>
                <a:latin typeface="Calibri" pitchFamily="34" charset="0"/>
                <a:ea typeface="Calibri" pitchFamily="34" charset="-122"/>
                <a:cs typeface="Calibri" pitchFamily="34" charset="-120"/>
              </a:rPr>
              <a:t>Risk score 0-100 with three verdicts</a:t>
            </a:r>
            <a:endParaRPr lang="en-US" sz="1150" dirty="0"/>
          </a:p>
        </p:txBody>
      </p:sp>
      <p:sp>
        <p:nvSpPr>
          <p:cNvPr id="14" name="Text 12"/>
          <p:cNvSpPr txBox="1"/>
          <p:nvPr/>
        </p:nvSpPr>
        <p:spPr>
          <a:xfrm>
            <a:off x="457200" y="2295144"/>
            <a:ext cx="1828800" cy="530352"/>
          </a:xfrm>
          <a:prstGeom prst="rect">
            <a:avLst/>
          </a:prstGeom>
          <a:noFill/>
          <a:ln/>
        </p:spPr>
        <p:txBody>
          <a:bodyPr wrap="square" lIns="0" tIns="0" rIns="0" bIns="0" rtlCol="0" anchor="ctr"/>
          <a:lstStyle/>
          <a:p>
            <a:pPr marL="0" indent="0">
              <a:buNone/>
            </a:pPr>
            <a:r>
              <a:rPr lang="en-US" sz="1250" b="1" dirty="0">
                <a:solidFill>
                  <a:srgbClr val="9DB2CC"/>
                </a:solidFill>
                <a:latin typeface="Calibri" pitchFamily="34" charset="0"/>
                <a:ea typeface="Calibri" pitchFamily="34" charset="-122"/>
                <a:cs typeface="Calibri" pitchFamily="34" charset="-120"/>
              </a:rPr>
              <a:t>Detection basis</a:t>
            </a:r>
            <a:endParaRPr lang="en-US" sz="1250" dirty="0"/>
          </a:p>
        </p:txBody>
      </p:sp>
      <p:sp>
        <p:nvSpPr>
          <p:cNvPr id="15" name="Shape 13"/>
          <p:cNvSpPr/>
          <p:nvPr/>
        </p:nvSpPr>
        <p:spPr>
          <a:xfrm>
            <a:off x="2377440" y="2295144"/>
            <a:ext cx="3108960" cy="530352"/>
          </a:xfrm>
          <a:prstGeom prst="roundRect">
            <a:avLst>
              <a:gd name="adj" fmla="val 13793"/>
            </a:avLst>
          </a:prstGeom>
          <a:solidFill>
            <a:srgbClr val="24141F"/>
          </a:solidFill>
          <a:ln w="12700">
            <a:solidFill>
              <a:srgbClr val="5A2A33"/>
            </a:solidFill>
            <a:prstDash val="solid"/>
          </a:ln>
        </p:spPr>
      </p:sp>
      <p:sp>
        <p:nvSpPr>
          <p:cNvPr id="16" name="Text 14"/>
          <p:cNvSpPr txBox="1"/>
          <p:nvPr/>
        </p:nvSpPr>
        <p:spPr>
          <a:xfrm>
            <a:off x="2542032" y="2295144"/>
            <a:ext cx="2788920" cy="530352"/>
          </a:xfrm>
          <a:prstGeom prst="rect">
            <a:avLst/>
          </a:prstGeom>
          <a:noFill/>
          <a:ln/>
        </p:spPr>
        <p:txBody>
          <a:bodyPr wrap="square" lIns="0" tIns="0" rIns="0" bIns="0" rtlCol="0" anchor="ctr"/>
          <a:lstStyle/>
          <a:p>
            <a:pPr marL="0" indent="0">
              <a:buNone/>
            </a:pPr>
            <a:r>
              <a:rPr lang="en-US" sz="1150" dirty="0">
                <a:solidFill>
                  <a:srgbClr val="EAF2FF"/>
                </a:solidFill>
                <a:latin typeface="Calibri" pitchFamily="34" charset="0"/>
                <a:ea typeface="Calibri" pitchFamily="34" charset="-122"/>
                <a:cs typeface="Calibri" pitchFamily="34" charset="-120"/>
              </a:rPr>
              <a:t>Keyword lists or static blocklists</a:t>
            </a:r>
            <a:endParaRPr lang="en-US" sz="1150" dirty="0"/>
          </a:p>
        </p:txBody>
      </p:sp>
      <p:sp>
        <p:nvSpPr>
          <p:cNvPr id="17" name="Shape 15"/>
          <p:cNvSpPr/>
          <p:nvPr/>
        </p:nvSpPr>
        <p:spPr>
          <a:xfrm>
            <a:off x="5577840" y="2295144"/>
            <a:ext cx="3108960" cy="530352"/>
          </a:xfrm>
          <a:prstGeom prst="roundRect">
            <a:avLst>
              <a:gd name="adj" fmla="val 13793"/>
            </a:avLst>
          </a:prstGeom>
          <a:solidFill>
            <a:srgbClr val="0C2D2E"/>
          </a:solidFill>
          <a:ln w="12700">
            <a:solidFill>
              <a:srgbClr val="1B6B62"/>
            </a:solidFill>
            <a:prstDash val="solid"/>
          </a:ln>
        </p:spPr>
      </p:sp>
      <p:sp>
        <p:nvSpPr>
          <p:cNvPr id="18" name="Text 16"/>
          <p:cNvSpPr txBox="1"/>
          <p:nvPr/>
        </p:nvSpPr>
        <p:spPr>
          <a:xfrm>
            <a:off x="5742432" y="2295144"/>
            <a:ext cx="2788920" cy="530352"/>
          </a:xfrm>
          <a:prstGeom prst="rect">
            <a:avLst/>
          </a:prstGeom>
          <a:noFill/>
          <a:ln/>
        </p:spPr>
        <p:txBody>
          <a:bodyPr wrap="square" lIns="0" tIns="0" rIns="0" bIns="0" rtlCol="0" anchor="ctr"/>
          <a:lstStyle/>
          <a:p>
            <a:pPr marL="0" indent="0">
              <a:buNone/>
            </a:pPr>
            <a:r>
              <a:rPr lang="en-US" sz="1150" dirty="0">
                <a:solidFill>
                  <a:srgbClr val="EAF2FF"/>
                </a:solidFill>
                <a:latin typeface="Calibri" pitchFamily="34" charset="0"/>
                <a:ea typeface="Calibri" pitchFamily="34" charset="-122"/>
                <a:cs typeface="Calibri" pitchFamily="34" charset="-120"/>
              </a:rPr>
              <a:t>ML model + rules + 392K-domain threat database</a:t>
            </a:r>
            <a:endParaRPr lang="en-US" sz="1150" dirty="0"/>
          </a:p>
        </p:txBody>
      </p:sp>
      <p:sp>
        <p:nvSpPr>
          <p:cNvPr id="19" name="Text 17"/>
          <p:cNvSpPr txBox="1"/>
          <p:nvPr/>
        </p:nvSpPr>
        <p:spPr>
          <a:xfrm>
            <a:off x="457200" y="2898648"/>
            <a:ext cx="1828800" cy="530352"/>
          </a:xfrm>
          <a:prstGeom prst="rect">
            <a:avLst/>
          </a:prstGeom>
          <a:noFill/>
          <a:ln/>
        </p:spPr>
        <p:txBody>
          <a:bodyPr wrap="square" lIns="0" tIns="0" rIns="0" bIns="0" rtlCol="0" anchor="ctr"/>
          <a:lstStyle/>
          <a:p>
            <a:pPr marL="0" indent="0">
              <a:buNone/>
            </a:pPr>
            <a:r>
              <a:rPr lang="en-US" sz="1250" b="1" dirty="0">
                <a:solidFill>
                  <a:srgbClr val="9DB2CC"/>
                </a:solidFill>
                <a:latin typeface="Calibri" pitchFamily="34" charset="0"/>
                <a:ea typeface="Calibri" pitchFamily="34" charset="-122"/>
                <a:cs typeface="Calibri" pitchFamily="34" charset="-120"/>
              </a:rPr>
              <a:t>Explainability</a:t>
            </a:r>
            <a:endParaRPr lang="en-US" sz="1250" dirty="0"/>
          </a:p>
        </p:txBody>
      </p:sp>
      <p:sp>
        <p:nvSpPr>
          <p:cNvPr id="20" name="Shape 18"/>
          <p:cNvSpPr/>
          <p:nvPr/>
        </p:nvSpPr>
        <p:spPr>
          <a:xfrm>
            <a:off x="2377440" y="2898648"/>
            <a:ext cx="3108960" cy="530352"/>
          </a:xfrm>
          <a:prstGeom prst="roundRect">
            <a:avLst>
              <a:gd name="adj" fmla="val 13793"/>
            </a:avLst>
          </a:prstGeom>
          <a:solidFill>
            <a:srgbClr val="24141F"/>
          </a:solidFill>
          <a:ln w="12700">
            <a:solidFill>
              <a:srgbClr val="5A2A33"/>
            </a:solidFill>
            <a:prstDash val="solid"/>
          </a:ln>
        </p:spPr>
      </p:sp>
      <p:sp>
        <p:nvSpPr>
          <p:cNvPr id="21" name="Text 19"/>
          <p:cNvSpPr txBox="1"/>
          <p:nvPr/>
        </p:nvSpPr>
        <p:spPr>
          <a:xfrm>
            <a:off x="2542032" y="2898648"/>
            <a:ext cx="2788920" cy="530352"/>
          </a:xfrm>
          <a:prstGeom prst="rect">
            <a:avLst/>
          </a:prstGeom>
          <a:noFill/>
          <a:ln/>
        </p:spPr>
        <p:txBody>
          <a:bodyPr wrap="square" lIns="0" tIns="0" rIns="0" bIns="0" rtlCol="0" anchor="ctr"/>
          <a:lstStyle/>
          <a:p>
            <a:pPr marL="0" indent="0">
              <a:buNone/>
            </a:pPr>
            <a:r>
              <a:rPr lang="en-US" sz="1150" dirty="0">
                <a:solidFill>
                  <a:srgbClr val="EAF2FF"/>
                </a:solidFill>
                <a:latin typeface="Calibri" pitchFamily="34" charset="0"/>
                <a:ea typeface="Calibri" pitchFamily="34" charset="-122"/>
                <a:cs typeface="Calibri" pitchFamily="34" charset="-120"/>
              </a:rPr>
              <a:t>Little or no reason shown</a:t>
            </a:r>
            <a:endParaRPr lang="en-US" sz="1150" dirty="0"/>
          </a:p>
        </p:txBody>
      </p:sp>
      <p:sp>
        <p:nvSpPr>
          <p:cNvPr id="22" name="Shape 20"/>
          <p:cNvSpPr/>
          <p:nvPr/>
        </p:nvSpPr>
        <p:spPr>
          <a:xfrm>
            <a:off x="5577840" y="2898648"/>
            <a:ext cx="3108960" cy="530352"/>
          </a:xfrm>
          <a:prstGeom prst="roundRect">
            <a:avLst>
              <a:gd name="adj" fmla="val 13793"/>
            </a:avLst>
          </a:prstGeom>
          <a:solidFill>
            <a:srgbClr val="0C2D2E"/>
          </a:solidFill>
          <a:ln w="12700">
            <a:solidFill>
              <a:srgbClr val="1B6B62"/>
            </a:solidFill>
            <a:prstDash val="solid"/>
          </a:ln>
        </p:spPr>
      </p:sp>
      <p:sp>
        <p:nvSpPr>
          <p:cNvPr id="23" name="Text 21"/>
          <p:cNvSpPr txBox="1"/>
          <p:nvPr/>
        </p:nvSpPr>
        <p:spPr>
          <a:xfrm>
            <a:off x="5742432" y="2898648"/>
            <a:ext cx="2788920" cy="530352"/>
          </a:xfrm>
          <a:prstGeom prst="rect">
            <a:avLst/>
          </a:prstGeom>
          <a:noFill/>
          <a:ln/>
        </p:spPr>
        <p:txBody>
          <a:bodyPr wrap="square" lIns="0" tIns="0" rIns="0" bIns="0" rtlCol="0" anchor="ctr"/>
          <a:lstStyle/>
          <a:p>
            <a:pPr marL="0" indent="0">
              <a:buNone/>
            </a:pPr>
            <a:r>
              <a:rPr lang="en-US" sz="1150" dirty="0">
                <a:solidFill>
                  <a:srgbClr val="EAF2FF"/>
                </a:solidFill>
                <a:latin typeface="Calibri" pitchFamily="34" charset="0"/>
                <a:ea typeface="Calibri" pitchFamily="34" charset="-122"/>
                <a:cs typeface="Calibri" pitchFamily="34" charset="-120"/>
              </a:rPr>
              <a:t>Plain-English reasons and highlighted warning signs</a:t>
            </a:r>
            <a:endParaRPr lang="en-US" sz="1150" dirty="0"/>
          </a:p>
        </p:txBody>
      </p:sp>
      <p:sp>
        <p:nvSpPr>
          <p:cNvPr id="24" name="Text 22"/>
          <p:cNvSpPr txBox="1"/>
          <p:nvPr/>
        </p:nvSpPr>
        <p:spPr>
          <a:xfrm>
            <a:off x="457200" y="3502152"/>
            <a:ext cx="1828800" cy="530352"/>
          </a:xfrm>
          <a:prstGeom prst="rect">
            <a:avLst/>
          </a:prstGeom>
          <a:noFill/>
          <a:ln/>
        </p:spPr>
        <p:txBody>
          <a:bodyPr wrap="square" lIns="0" tIns="0" rIns="0" bIns="0" rtlCol="0" anchor="ctr"/>
          <a:lstStyle/>
          <a:p>
            <a:pPr marL="0" indent="0">
              <a:buNone/>
            </a:pPr>
            <a:r>
              <a:rPr lang="en-US" sz="1250" b="1" dirty="0">
                <a:solidFill>
                  <a:srgbClr val="9DB2CC"/>
                </a:solidFill>
                <a:latin typeface="Calibri" pitchFamily="34" charset="0"/>
                <a:ea typeface="Calibri" pitchFamily="34" charset="-122"/>
                <a:cs typeface="Calibri" pitchFamily="34" charset="-120"/>
              </a:rPr>
              <a:t>Records and access</a:t>
            </a:r>
            <a:endParaRPr lang="en-US" sz="1250" dirty="0"/>
          </a:p>
        </p:txBody>
      </p:sp>
      <p:sp>
        <p:nvSpPr>
          <p:cNvPr id="25" name="Shape 23"/>
          <p:cNvSpPr/>
          <p:nvPr/>
        </p:nvSpPr>
        <p:spPr>
          <a:xfrm>
            <a:off x="2377440" y="3502152"/>
            <a:ext cx="3108960" cy="530352"/>
          </a:xfrm>
          <a:prstGeom prst="roundRect">
            <a:avLst>
              <a:gd name="adj" fmla="val 13793"/>
            </a:avLst>
          </a:prstGeom>
          <a:solidFill>
            <a:srgbClr val="24141F"/>
          </a:solidFill>
          <a:ln w="12700">
            <a:solidFill>
              <a:srgbClr val="5A2A33"/>
            </a:solidFill>
            <a:prstDash val="solid"/>
          </a:ln>
        </p:spPr>
      </p:sp>
      <p:sp>
        <p:nvSpPr>
          <p:cNvPr id="26" name="Text 24"/>
          <p:cNvSpPr txBox="1"/>
          <p:nvPr/>
        </p:nvSpPr>
        <p:spPr>
          <a:xfrm>
            <a:off x="2542032" y="3502152"/>
            <a:ext cx="2788920" cy="530352"/>
          </a:xfrm>
          <a:prstGeom prst="rect">
            <a:avLst/>
          </a:prstGeom>
          <a:noFill/>
          <a:ln/>
        </p:spPr>
        <p:txBody>
          <a:bodyPr wrap="square" lIns="0" tIns="0" rIns="0" bIns="0" rtlCol="0" anchor="ctr"/>
          <a:lstStyle/>
          <a:p>
            <a:pPr marL="0" indent="0">
              <a:buNone/>
            </a:pPr>
            <a:r>
              <a:rPr lang="en-US" sz="1150" dirty="0">
                <a:solidFill>
                  <a:srgbClr val="EAF2FF"/>
                </a:solidFill>
                <a:latin typeface="Calibri" pitchFamily="34" charset="0"/>
                <a:ea typeface="Calibri" pitchFamily="34" charset="-122"/>
                <a:cs typeface="Calibri" pitchFamily="34" charset="-120"/>
              </a:rPr>
              <a:t>Limited history, no open API</a:t>
            </a:r>
            <a:endParaRPr lang="en-US" sz="1150" dirty="0"/>
          </a:p>
        </p:txBody>
      </p:sp>
      <p:sp>
        <p:nvSpPr>
          <p:cNvPr id="27" name="Shape 25"/>
          <p:cNvSpPr/>
          <p:nvPr/>
        </p:nvSpPr>
        <p:spPr>
          <a:xfrm>
            <a:off x="5577840" y="3502152"/>
            <a:ext cx="3108960" cy="530352"/>
          </a:xfrm>
          <a:prstGeom prst="roundRect">
            <a:avLst>
              <a:gd name="adj" fmla="val 13793"/>
            </a:avLst>
          </a:prstGeom>
          <a:solidFill>
            <a:srgbClr val="0C2D2E"/>
          </a:solidFill>
          <a:ln w="12700">
            <a:solidFill>
              <a:srgbClr val="1B6B62"/>
            </a:solidFill>
            <a:prstDash val="solid"/>
          </a:ln>
        </p:spPr>
      </p:sp>
      <p:sp>
        <p:nvSpPr>
          <p:cNvPr id="28" name="Text 26"/>
          <p:cNvSpPr txBox="1"/>
          <p:nvPr/>
        </p:nvSpPr>
        <p:spPr>
          <a:xfrm>
            <a:off x="5742432" y="3502152"/>
            <a:ext cx="2788920" cy="530352"/>
          </a:xfrm>
          <a:prstGeom prst="rect">
            <a:avLst/>
          </a:prstGeom>
          <a:noFill/>
          <a:ln/>
        </p:spPr>
        <p:txBody>
          <a:bodyPr wrap="square" lIns="0" tIns="0" rIns="0" bIns="0" rtlCol="0" anchor="ctr"/>
          <a:lstStyle/>
          <a:p>
            <a:pPr marL="0" indent="0">
              <a:buNone/>
            </a:pPr>
            <a:r>
              <a:rPr lang="en-US" sz="1150" dirty="0">
                <a:solidFill>
                  <a:srgbClr val="EAF2FF"/>
                </a:solidFill>
                <a:latin typeface="Calibri" pitchFamily="34" charset="0"/>
                <a:ea typeface="Calibri" pitchFamily="34" charset="-122"/>
                <a:cs typeface="Calibri" pitchFamily="34" charset="-120"/>
              </a:rPr>
              <a:t>SQLite history, CSV export and REST API</a:t>
            </a:r>
            <a:endParaRPr lang="en-US" sz="1150" dirty="0"/>
          </a:p>
        </p:txBody>
      </p:sp>
      <p:sp>
        <p:nvSpPr>
          <p:cNvPr id="29" name="Text 27"/>
          <p:cNvSpPr txBox="1"/>
          <p:nvPr/>
        </p:nvSpPr>
        <p:spPr>
          <a:xfrm>
            <a:off x="457200" y="4105656"/>
            <a:ext cx="1828800" cy="530352"/>
          </a:xfrm>
          <a:prstGeom prst="rect">
            <a:avLst/>
          </a:prstGeom>
          <a:noFill/>
          <a:ln/>
        </p:spPr>
        <p:txBody>
          <a:bodyPr wrap="square" lIns="0" tIns="0" rIns="0" bIns="0" rtlCol="0" anchor="ctr"/>
          <a:lstStyle/>
          <a:p>
            <a:pPr marL="0" indent="0">
              <a:buNone/>
            </a:pPr>
            <a:r>
              <a:rPr lang="en-US" sz="1250" b="1" dirty="0">
                <a:solidFill>
                  <a:srgbClr val="9DB2CC"/>
                </a:solidFill>
                <a:latin typeface="Calibri" pitchFamily="34" charset="0"/>
                <a:ea typeface="Calibri" pitchFamily="34" charset="-122"/>
                <a:cs typeface="Calibri" pitchFamily="34" charset="-120"/>
              </a:rPr>
              <a:t>Adaptation</a:t>
            </a:r>
            <a:endParaRPr lang="en-US" sz="1250" dirty="0"/>
          </a:p>
        </p:txBody>
      </p:sp>
      <p:sp>
        <p:nvSpPr>
          <p:cNvPr id="30" name="Shape 28"/>
          <p:cNvSpPr/>
          <p:nvPr/>
        </p:nvSpPr>
        <p:spPr>
          <a:xfrm>
            <a:off x="2377440" y="4105656"/>
            <a:ext cx="3108960" cy="530352"/>
          </a:xfrm>
          <a:prstGeom prst="roundRect">
            <a:avLst>
              <a:gd name="adj" fmla="val 13793"/>
            </a:avLst>
          </a:prstGeom>
          <a:solidFill>
            <a:srgbClr val="24141F"/>
          </a:solidFill>
          <a:ln w="12700">
            <a:solidFill>
              <a:srgbClr val="5A2A33"/>
            </a:solidFill>
            <a:prstDash val="solid"/>
          </a:ln>
        </p:spPr>
      </p:sp>
      <p:sp>
        <p:nvSpPr>
          <p:cNvPr id="31" name="Text 29"/>
          <p:cNvSpPr txBox="1"/>
          <p:nvPr/>
        </p:nvSpPr>
        <p:spPr>
          <a:xfrm>
            <a:off x="2542032" y="4105656"/>
            <a:ext cx="2788920" cy="530352"/>
          </a:xfrm>
          <a:prstGeom prst="rect">
            <a:avLst/>
          </a:prstGeom>
          <a:noFill/>
          <a:ln/>
        </p:spPr>
        <p:txBody>
          <a:bodyPr wrap="square" lIns="0" tIns="0" rIns="0" bIns="0" rtlCol="0" anchor="ctr"/>
          <a:lstStyle/>
          <a:p>
            <a:pPr marL="0" indent="0">
              <a:buNone/>
            </a:pPr>
            <a:r>
              <a:rPr lang="en-US" sz="1150" dirty="0">
                <a:solidFill>
                  <a:srgbClr val="EAF2FF"/>
                </a:solidFill>
                <a:latin typeface="Calibri" pitchFamily="34" charset="0"/>
                <a:ea typeface="Calibri" pitchFamily="34" charset="-122"/>
                <a:cs typeface="Calibri" pitchFamily="34" charset="-120"/>
              </a:rPr>
              <a:t>Fixed rules, slow to update</a:t>
            </a:r>
            <a:endParaRPr lang="en-US" sz="1150" dirty="0"/>
          </a:p>
        </p:txBody>
      </p:sp>
      <p:sp>
        <p:nvSpPr>
          <p:cNvPr id="32" name="Shape 30"/>
          <p:cNvSpPr/>
          <p:nvPr/>
        </p:nvSpPr>
        <p:spPr>
          <a:xfrm>
            <a:off x="5577840" y="4105656"/>
            <a:ext cx="3108960" cy="530352"/>
          </a:xfrm>
          <a:prstGeom prst="roundRect">
            <a:avLst>
              <a:gd name="adj" fmla="val 13793"/>
            </a:avLst>
          </a:prstGeom>
          <a:solidFill>
            <a:srgbClr val="0C2D2E"/>
          </a:solidFill>
          <a:ln w="12700">
            <a:solidFill>
              <a:srgbClr val="1B6B62"/>
            </a:solidFill>
            <a:prstDash val="solid"/>
          </a:ln>
        </p:spPr>
      </p:sp>
      <p:sp>
        <p:nvSpPr>
          <p:cNvPr id="33" name="Text 31"/>
          <p:cNvSpPr txBox="1"/>
          <p:nvPr/>
        </p:nvSpPr>
        <p:spPr>
          <a:xfrm>
            <a:off x="5742432" y="4105656"/>
            <a:ext cx="2788920" cy="530352"/>
          </a:xfrm>
          <a:prstGeom prst="rect">
            <a:avLst/>
          </a:prstGeom>
          <a:noFill/>
          <a:ln/>
        </p:spPr>
        <p:txBody>
          <a:bodyPr wrap="square" lIns="0" tIns="0" rIns="0" bIns="0" rtlCol="0" anchor="ctr"/>
          <a:lstStyle/>
          <a:p>
            <a:pPr marL="0" indent="0">
              <a:buNone/>
            </a:pPr>
            <a:r>
              <a:rPr lang="en-US" sz="1150" dirty="0">
                <a:solidFill>
                  <a:srgbClr val="EAF2FF"/>
                </a:solidFill>
                <a:latin typeface="Calibri" pitchFamily="34" charset="0"/>
                <a:ea typeface="Calibri" pitchFamily="34" charset="-122"/>
                <a:cs typeface="Calibri" pitchFamily="34" charset="-120"/>
              </a:rPr>
              <a:t>Allow/block lists, feedback retraining, feed refresh</a:t>
            </a:r>
            <a:endParaRPr lang="en-US" sz="1150" dirty="0"/>
          </a:p>
        </p:txBody>
      </p:sp>
    </p:spTree>
  </p:cSld>
  <p:clrMapOvr>
    <a:masterClrMapping/>
  </p:clrMapOvr>
  <p:transition spd="med">
    <p:push/>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rgbClr val="2DE2C0"/>
                </a:solidFill>
                <a:latin typeface="Courier New" pitchFamily="34" charset="0"/>
                <a:ea typeface="Courier New" pitchFamily="34" charset="-122"/>
                <a:cs typeface="Courier New" pitchFamily="34" charset="-120"/>
              </a:rPr>
              <a:t>// 05  SYSTEM ARCHITECTURE</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b="1" dirty="0">
                <a:solidFill>
                  <a:srgbClr val="EAF2FF"/>
                </a:solidFill>
                <a:latin typeface="Calibri" pitchFamily="34" charset="0"/>
                <a:ea typeface="Calibri" pitchFamily="34" charset="-122"/>
                <a:cs typeface="Calibri" pitchFamily="34" charset="-120"/>
              </a:rPr>
              <a:t>How the pieces fit together</a:t>
            </a:r>
            <a:endParaRPr lang="en-US" sz="3000" dirty="0"/>
          </a:p>
        </p:txBody>
      </p:sp>
      <p:sp>
        <p:nvSpPr>
          <p:cNvPr id="4" name="Text 2"/>
          <p:cNvSpPr txBox="1"/>
          <p:nvPr/>
        </p:nvSpPr>
        <p:spPr>
          <a:xfrm>
            <a:off x="7498080" y="4864608"/>
            <a:ext cx="1188720" cy="182880"/>
          </a:xfrm>
          <a:prstGeom prst="rect">
            <a:avLst/>
          </a:prstGeom>
          <a:noFill/>
          <a:ln/>
        </p:spPr>
        <p:txBody>
          <a:bodyPr wrap="square" lIns="0" tIns="0" rIns="0" bIns="0" rtlCol="0" anchor="ctr"/>
          <a:lstStyle/>
          <a:p>
            <a:pPr marL="0" indent="0" algn="r">
              <a:buNone/>
            </a:pPr>
            <a:r>
              <a:rPr lang="en-US" sz="900" dirty="0">
                <a:solidFill>
                  <a:srgbClr val="9DB2CC"/>
                </a:solidFill>
                <a:latin typeface="Courier New" pitchFamily="34" charset="0"/>
                <a:ea typeface="Courier New" pitchFamily="34" charset="-122"/>
                <a:cs typeface="Courier New" pitchFamily="34" charset="-120"/>
              </a:rPr>
              <a:t>05 / 15</a:t>
            </a:r>
            <a:endParaRPr lang="en-US" sz="900" dirty="0"/>
          </a:p>
        </p:txBody>
      </p:sp>
      <p:sp>
        <p:nvSpPr>
          <p:cNvPr id="5" name="Text 3"/>
          <p:cNvSpPr txBox="1"/>
          <p:nvPr/>
        </p:nvSpPr>
        <p:spPr>
          <a:xfrm>
            <a:off x="457200" y="1234440"/>
            <a:ext cx="1325880" cy="228600"/>
          </a:xfrm>
          <a:prstGeom prst="rect">
            <a:avLst/>
          </a:prstGeom>
          <a:noFill/>
          <a:ln/>
        </p:spPr>
        <p:txBody>
          <a:bodyPr wrap="square" lIns="0" tIns="0" rIns="0" bIns="0" rtlCol="0" anchor="ctr"/>
          <a:lstStyle/>
          <a:p>
            <a:pPr marL="0" indent="0">
              <a:buNone/>
            </a:pPr>
            <a:r>
              <a:rPr lang="en-US" sz="1000" b="1" kern="0" spc="100" dirty="0">
                <a:solidFill>
                  <a:srgbClr val="2DE2C0"/>
                </a:solidFill>
                <a:latin typeface="Courier New" pitchFamily="34" charset="0"/>
                <a:ea typeface="Courier New" pitchFamily="34" charset="-122"/>
                <a:cs typeface="Courier New" pitchFamily="34" charset="-120"/>
              </a:rPr>
              <a:t>INPUT</a:t>
            </a:r>
            <a:endParaRPr lang="en-US" sz="1000" dirty="0"/>
          </a:p>
        </p:txBody>
      </p:sp>
      <p:sp>
        <p:nvSpPr>
          <p:cNvPr id="6" name="Text 4"/>
          <p:cNvSpPr txBox="1"/>
          <p:nvPr/>
        </p:nvSpPr>
        <p:spPr>
          <a:xfrm>
            <a:off x="2011680" y="1234440"/>
            <a:ext cx="1234440" cy="228600"/>
          </a:xfrm>
          <a:prstGeom prst="rect">
            <a:avLst/>
          </a:prstGeom>
          <a:noFill/>
          <a:ln/>
        </p:spPr>
        <p:txBody>
          <a:bodyPr wrap="square" lIns="0" tIns="0" rIns="0" bIns="0" rtlCol="0" anchor="ctr"/>
          <a:lstStyle/>
          <a:p>
            <a:pPr marL="0" indent="0">
              <a:buNone/>
            </a:pPr>
            <a:r>
              <a:rPr lang="en-US" sz="1000" b="1" kern="0" spc="100" dirty="0">
                <a:solidFill>
                  <a:srgbClr val="2DE2C0"/>
                </a:solidFill>
                <a:latin typeface="Courier New" pitchFamily="34" charset="0"/>
                <a:ea typeface="Courier New" pitchFamily="34" charset="-122"/>
                <a:cs typeface="Courier New" pitchFamily="34" charset="-120"/>
              </a:rPr>
              <a:t>FLASK SERVER</a:t>
            </a:r>
            <a:endParaRPr lang="en-US" sz="1000" dirty="0"/>
          </a:p>
        </p:txBody>
      </p:sp>
      <p:sp>
        <p:nvSpPr>
          <p:cNvPr id="7" name="Text 5"/>
          <p:cNvSpPr txBox="1"/>
          <p:nvPr/>
        </p:nvSpPr>
        <p:spPr>
          <a:xfrm>
            <a:off x="3474720" y="1234440"/>
            <a:ext cx="2240280" cy="228600"/>
          </a:xfrm>
          <a:prstGeom prst="rect">
            <a:avLst/>
          </a:prstGeom>
          <a:noFill/>
          <a:ln/>
        </p:spPr>
        <p:txBody>
          <a:bodyPr wrap="square" lIns="0" tIns="0" rIns="0" bIns="0" rtlCol="0" anchor="ctr"/>
          <a:lstStyle/>
          <a:p>
            <a:pPr marL="0" indent="0">
              <a:buNone/>
            </a:pPr>
            <a:r>
              <a:rPr lang="en-US" sz="1000" b="1" kern="0" spc="100" dirty="0">
                <a:solidFill>
                  <a:srgbClr val="2DE2C0"/>
                </a:solidFill>
                <a:latin typeface="Courier New" pitchFamily="34" charset="0"/>
                <a:ea typeface="Courier New" pitchFamily="34" charset="-122"/>
                <a:cs typeface="Courier New" pitchFamily="34" charset="-120"/>
              </a:rPr>
              <a:t>ANALYSIS ENGINE</a:t>
            </a:r>
            <a:endParaRPr lang="en-US" sz="1000" dirty="0"/>
          </a:p>
        </p:txBody>
      </p:sp>
      <p:sp>
        <p:nvSpPr>
          <p:cNvPr id="8" name="Text 6"/>
          <p:cNvSpPr txBox="1"/>
          <p:nvPr/>
        </p:nvSpPr>
        <p:spPr>
          <a:xfrm>
            <a:off x="5943600" y="1234440"/>
            <a:ext cx="1097280" cy="228600"/>
          </a:xfrm>
          <a:prstGeom prst="rect">
            <a:avLst/>
          </a:prstGeom>
          <a:noFill/>
          <a:ln/>
        </p:spPr>
        <p:txBody>
          <a:bodyPr wrap="square" lIns="0" tIns="0" rIns="0" bIns="0" rtlCol="0" anchor="ctr"/>
          <a:lstStyle/>
          <a:p>
            <a:pPr marL="0" indent="0">
              <a:buNone/>
            </a:pPr>
            <a:r>
              <a:rPr lang="en-US" sz="1000" b="1" kern="0" spc="100" dirty="0">
                <a:solidFill>
                  <a:srgbClr val="2DE2C0"/>
                </a:solidFill>
                <a:latin typeface="Courier New" pitchFamily="34" charset="0"/>
                <a:ea typeface="Courier New" pitchFamily="34" charset="-122"/>
                <a:cs typeface="Courier New" pitchFamily="34" charset="-120"/>
              </a:rPr>
              <a:t>SCORING</a:t>
            </a:r>
            <a:endParaRPr lang="en-US" sz="1000" dirty="0"/>
          </a:p>
        </p:txBody>
      </p:sp>
      <p:sp>
        <p:nvSpPr>
          <p:cNvPr id="9" name="Text 7"/>
          <p:cNvSpPr txBox="1"/>
          <p:nvPr/>
        </p:nvSpPr>
        <p:spPr>
          <a:xfrm>
            <a:off x="7269480" y="1234440"/>
            <a:ext cx="1417320" cy="228600"/>
          </a:xfrm>
          <a:prstGeom prst="rect">
            <a:avLst/>
          </a:prstGeom>
          <a:noFill/>
          <a:ln/>
        </p:spPr>
        <p:txBody>
          <a:bodyPr wrap="square" lIns="0" tIns="0" rIns="0" bIns="0" rtlCol="0" anchor="ctr"/>
          <a:lstStyle/>
          <a:p>
            <a:pPr marL="0" indent="0">
              <a:buNone/>
            </a:pPr>
            <a:r>
              <a:rPr lang="en-US" sz="1000" b="1" kern="0" spc="100" dirty="0">
                <a:solidFill>
                  <a:srgbClr val="2DE2C0"/>
                </a:solidFill>
                <a:latin typeface="Courier New" pitchFamily="34" charset="0"/>
                <a:ea typeface="Courier New" pitchFamily="34" charset="-122"/>
                <a:cs typeface="Courier New" pitchFamily="34" charset="-120"/>
              </a:rPr>
              <a:t>OUTPUT + STORE</a:t>
            </a:r>
            <a:endParaRPr lang="en-US" sz="1000" dirty="0"/>
          </a:p>
        </p:txBody>
      </p:sp>
      <p:sp>
        <p:nvSpPr>
          <p:cNvPr id="10" name="Shape 8"/>
          <p:cNvSpPr/>
          <p:nvPr/>
        </p:nvSpPr>
        <p:spPr>
          <a:xfrm>
            <a:off x="457200" y="1554480"/>
            <a:ext cx="1325880" cy="685800"/>
          </a:xfrm>
          <a:prstGeom prst="roundRect">
            <a:avLst>
              <a:gd name="adj" fmla="val 10667"/>
            </a:avLst>
          </a:prstGeom>
          <a:solidFill>
            <a:srgbClr val="0F2036"/>
          </a:solidFill>
          <a:ln w="12700">
            <a:solidFill>
              <a:srgbClr val="1D3A5C"/>
            </a:solidFill>
            <a:prstDash val="solid"/>
          </a:ln>
        </p:spPr>
      </p:sp>
      <p:sp>
        <p:nvSpPr>
          <p:cNvPr id="11" name="Shape 9"/>
          <p:cNvSpPr/>
          <p:nvPr/>
        </p:nvSpPr>
        <p:spPr>
          <a:xfrm>
            <a:off x="548640" y="1709928"/>
            <a:ext cx="365760" cy="365760"/>
          </a:xfrm>
          <a:prstGeom prst="ellipse">
            <a:avLst/>
          </a:prstGeom>
          <a:solidFill>
            <a:srgbClr val="0C2233"/>
          </a:solidFill>
          <a:ln w="15875">
            <a:solidFill>
              <a:srgbClr val="2DE2C0"/>
            </a:solidFill>
            <a:prstDash val="solid"/>
          </a:ln>
        </p:spPr>
      </p:sp>
      <p:pic>
        <p:nvPicPr>
          <p:cNvPr id="12" name="Image 0" descr="preencoded.png"/>
          <p:cNvPicPr>
            <a:picLocks noChangeAspect="1"/>
          </p:cNvPicPr>
          <p:nvPr/>
        </p:nvPicPr>
        <p:blipFill>
          <a:blip r:embed="rId4"/>
          <a:stretch>
            <a:fillRect/>
          </a:stretch>
        </p:blipFill>
        <p:spPr>
          <a:xfrm>
            <a:off x="643738" y="1805026"/>
            <a:ext cx="175565" cy="175565"/>
          </a:xfrm>
          <a:prstGeom prst="rect">
            <a:avLst/>
          </a:prstGeom>
        </p:spPr>
      </p:pic>
      <p:sp>
        <p:nvSpPr>
          <p:cNvPr id="13" name="Text 10"/>
          <p:cNvSpPr txBox="1"/>
          <p:nvPr/>
        </p:nvSpPr>
        <p:spPr>
          <a:xfrm>
            <a:off x="1005840" y="1554480"/>
            <a:ext cx="731520" cy="685800"/>
          </a:xfrm>
          <a:prstGeom prst="rect">
            <a:avLst/>
          </a:prstGeom>
          <a:noFill/>
          <a:ln/>
        </p:spPr>
        <p:txBody>
          <a:bodyPr wrap="square" lIns="0" tIns="0" rIns="0" bIns="0" rtlCol="0" anchor="ctr"/>
          <a:lstStyle/>
          <a:p>
            <a:pPr marL="0" indent="0">
              <a:buNone/>
            </a:pPr>
            <a:r>
              <a:rPr lang="en-US" sz="1100" b="1" dirty="0">
                <a:solidFill>
                  <a:srgbClr val="EAF2FF"/>
                </a:solidFill>
                <a:latin typeface="Calibri" pitchFamily="34" charset="0"/>
                <a:ea typeface="Calibri" pitchFamily="34" charset="-122"/>
                <a:cs typeface="Calibri" pitchFamily="34" charset="-120"/>
              </a:rPr>
              <a:t>Pasted email</a:t>
            </a:r>
            <a:endParaRPr lang="en-US" sz="1100" dirty="0"/>
          </a:p>
        </p:txBody>
      </p:sp>
      <p:sp>
        <p:nvSpPr>
          <p:cNvPr id="14" name="Shape 11"/>
          <p:cNvSpPr/>
          <p:nvPr/>
        </p:nvSpPr>
        <p:spPr>
          <a:xfrm>
            <a:off x="457200" y="2331720"/>
            <a:ext cx="1325880" cy="685800"/>
          </a:xfrm>
          <a:prstGeom prst="roundRect">
            <a:avLst>
              <a:gd name="adj" fmla="val 10667"/>
            </a:avLst>
          </a:prstGeom>
          <a:solidFill>
            <a:srgbClr val="0F2036"/>
          </a:solidFill>
          <a:ln w="12700">
            <a:solidFill>
              <a:srgbClr val="1D3A5C"/>
            </a:solidFill>
            <a:prstDash val="solid"/>
          </a:ln>
        </p:spPr>
      </p:sp>
      <p:sp>
        <p:nvSpPr>
          <p:cNvPr id="15" name="Shape 12"/>
          <p:cNvSpPr/>
          <p:nvPr/>
        </p:nvSpPr>
        <p:spPr>
          <a:xfrm>
            <a:off x="548640" y="2487168"/>
            <a:ext cx="365760" cy="365760"/>
          </a:xfrm>
          <a:prstGeom prst="ellipse">
            <a:avLst/>
          </a:prstGeom>
          <a:solidFill>
            <a:srgbClr val="0C2233"/>
          </a:solidFill>
          <a:ln w="15875">
            <a:solidFill>
              <a:srgbClr val="2DE2C0"/>
            </a:solidFill>
            <a:prstDash val="solid"/>
          </a:ln>
        </p:spPr>
      </p:sp>
      <p:pic>
        <p:nvPicPr>
          <p:cNvPr id="16" name="Image 1" descr="preencoded.png"/>
          <p:cNvPicPr>
            <a:picLocks noChangeAspect="1"/>
          </p:cNvPicPr>
          <p:nvPr/>
        </p:nvPicPr>
        <p:blipFill>
          <a:blip r:embed="rId5"/>
          <a:stretch>
            <a:fillRect/>
          </a:stretch>
        </p:blipFill>
        <p:spPr>
          <a:xfrm>
            <a:off x="643738" y="2582266"/>
            <a:ext cx="175565" cy="175565"/>
          </a:xfrm>
          <a:prstGeom prst="rect">
            <a:avLst/>
          </a:prstGeom>
        </p:spPr>
      </p:pic>
      <p:sp>
        <p:nvSpPr>
          <p:cNvPr id="17" name="Text 13"/>
          <p:cNvSpPr txBox="1"/>
          <p:nvPr/>
        </p:nvSpPr>
        <p:spPr>
          <a:xfrm>
            <a:off x="1005840" y="2331720"/>
            <a:ext cx="731520" cy="685800"/>
          </a:xfrm>
          <a:prstGeom prst="rect">
            <a:avLst/>
          </a:prstGeom>
          <a:noFill/>
          <a:ln/>
        </p:spPr>
        <p:txBody>
          <a:bodyPr wrap="square" lIns="0" tIns="0" rIns="0" bIns="0" rtlCol="0" anchor="ctr"/>
          <a:lstStyle/>
          <a:p>
            <a:pPr marL="0" indent="0">
              <a:buNone/>
            </a:pPr>
            <a:r>
              <a:rPr lang="en-US" sz="1100" b="1" dirty="0">
                <a:solidFill>
                  <a:srgbClr val="EAF2FF"/>
                </a:solidFill>
                <a:latin typeface="Calibri" pitchFamily="34" charset="0"/>
                <a:ea typeface="Calibri" pitchFamily="34" charset="-122"/>
                <a:cs typeface="Calibri" pitchFamily="34" charset="-120"/>
              </a:rPr>
              <a:t>.eml upload</a:t>
            </a:r>
            <a:endParaRPr lang="en-US" sz="1100" dirty="0"/>
          </a:p>
        </p:txBody>
      </p:sp>
      <p:sp>
        <p:nvSpPr>
          <p:cNvPr id="18" name="Shape 14"/>
          <p:cNvSpPr/>
          <p:nvPr/>
        </p:nvSpPr>
        <p:spPr>
          <a:xfrm>
            <a:off x="457200" y="3108960"/>
            <a:ext cx="1325880" cy="685800"/>
          </a:xfrm>
          <a:prstGeom prst="roundRect">
            <a:avLst>
              <a:gd name="adj" fmla="val 10667"/>
            </a:avLst>
          </a:prstGeom>
          <a:solidFill>
            <a:srgbClr val="0F2036"/>
          </a:solidFill>
          <a:ln w="12700">
            <a:solidFill>
              <a:srgbClr val="1D3A5C"/>
            </a:solidFill>
            <a:prstDash val="solid"/>
          </a:ln>
        </p:spPr>
      </p:sp>
      <p:sp>
        <p:nvSpPr>
          <p:cNvPr id="19" name="Shape 15"/>
          <p:cNvSpPr/>
          <p:nvPr/>
        </p:nvSpPr>
        <p:spPr>
          <a:xfrm>
            <a:off x="548640" y="3264408"/>
            <a:ext cx="365760" cy="365760"/>
          </a:xfrm>
          <a:prstGeom prst="ellipse">
            <a:avLst/>
          </a:prstGeom>
          <a:solidFill>
            <a:srgbClr val="0C2233"/>
          </a:solidFill>
          <a:ln w="15875">
            <a:solidFill>
              <a:srgbClr val="2DE2C0"/>
            </a:solidFill>
            <a:prstDash val="solid"/>
          </a:ln>
        </p:spPr>
      </p:sp>
      <p:pic>
        <p:nvPicPr>
          <p:cNvPr id="20" name="Image 2" descr="preencoded.png"/>
          <p:cNvPicPr>
            <a:picLocks noChangeAspect="1"/>
          </p:cNvPicPr>
          <p:nvPr/>
        </p:nvPicPr>
        <p:blipFill>
          <a:blip r:embed="rId6"/>
          <a:stretch>
            <a:fillRect/>
          </a:stretch>
        </p:blipFill>
        <p:spPr>
          <a:xfrm>
            <a:off x="643738" y="3359506"/>
            <a:ext cx="175565" cy="175565"/>
          </a:xfrm>
          <a:prstGeom prst="rect">
            <a:avLst/>
          </a:prstGeom>
        </p:spPr>
      </p:pic>
      <p:sp>
        <p:nvSpPr>
          <p:cNvPr id="21" name="Text 16"/>
          <p:cNvSpPr txBox="1"/>
          <p:nvPr/>
        </p:nvSpPr>
        <p:spPr>
          <a:xfrm>
            <a:off x="1005840" y="3108960"/>
            <a:ext cx="731520" cy="685800"/>
          </a:xfrm>
          <a:prstGeom prst="rect">
            <a:avLst/>
          </a:prstGeom>
          <a:noFill/>
          <a:ln/>
        </p:spPr>
        <p:txBody>
          <a:bodyPr wrap="square" lIns="0" tIns="0" rIns="0" bIns="0" rtlCol="0" anchor="ctr"/>
          <a:lstStyle/>
          <a:p>
            <a:pPr marL="0" indent="0">
              <a:buNone/>
            </a:pPr>
            <a:r>
              <a:rPr lang="en-US" sz="1100" b="1" dirty="0">
                <a:solidFill>
                  <a:srgbClr val="EAF2FF"/>
                </a:solidFill>
                <a:latin typeface="Calibri" pitchFamily="34" charset="0"/>
                <a:ea typeface="Calibri" pitchFamily="34" charset="-122"/>
                <a:cs typeface="Calibri" pitchFamily="34" charset="-120"/>
              </a:rPr>
              <a:t>CSV bulk scan</a:t>
            </a:r>
            <a:endParaRPr lang="en-US" sz="1100" dirty="0"/>
          </a:p>
        </p:txBody>
      </p:sp>
      <p:sp>
        <p:nvSpPr>
          <p:cNvPr id="22" name="Shape 17"/>
          <p:cNvSpPr/>
          <p:nvPr/>
        </p:nvSpPr>
        <p:spPr>
          <a:xfrm>
            <a:off x="457200" y="3886200"/>
            <a:ext cx="1325880" cy="685800"/>
          </a:xfrm>
          <a:prstGeom prst="roundRect">
            <a:avLst>
              <a:gd name="adj" fmla="val 10667"/>
            </a:avLst>
          </a:prstGeom>
          <a:solidFill>
            <a:srgbClr val="0F2036"/>
          </a:solidFill>
          <a:ln w="12700">
            <a:solidFill>
              <a:srgbClr val="1D3A5C"/>
            </a:solidFill>
            <a:prstDash val="solid"/>
          </a:ln>
        </p:spPr>
      </p:sp>
      <p:sp>
        <p:nvSpPr>
          <p:cNvPr id="23" name="Shape 18"/>
          <p:cNvSpPr/>
          <p:nvPr/>
        </p:nvSpPr>
        <p:spPr>
          <a:xfrm>
            <a:off x="548640" y="4041648"/>
            <a:ext cx="365760" cy="365760"/>
          </a:xfrm>
          <a:prstGeom prst="ellipse">
            <a:avLst/>
          </a:prstGeom>
          <a:solidFill>
            <a:srgbClr val="0C2233"/>
          </a:solidFill>
          <a:ln w="15875">
            <a:solidFill>
              <a:srgbClr val="2DE2C0"/>
            </a:solidFill>
            <a:prstDash val="solid"/>
          </a:ln>
        </p:spPr>
      </p:sp>
      <p:pic>
        <p:nvPicPr>
          <p:cNvPr id="24" name="Image 3" descr="preencoded.png"/>
          <p:cNvPicPr>
            <a:picLocks noChangeAspect="1"/>
          </p:cNvPicPr>
          <p:nvPr/>
        </p:nvPicPr>
        <p:blipFill>
          <a:blip r:embed="rId7"/>
          <a:stretch>
            <a:fillRect/>
          </a:stretch>
        </p:blipFill>
        <p:spPr>
          <a:xfrm>
            <a:off x="643738" y="4136746"/>
            <a:ext cx="175565" cy="175565"/>
          </a:xfrm>
          <a:prstGeom prst="rect">
            <a:avLst/>
          </a:prstGeom>
        </p:spPr>
      </p:pic>
      <p:sp>
        <p:nvSpPr>
          <p:cNvPr id="25" name="Text 19"/>
          <p:cNvSpPr txBox="1"/>
          <p:nvPr/>
        </p:nvSpPr>
        <p:spPr>
          <a:xfrm>
            <a:off x="1005840" y="3886200"/>
            <a:ext cx="731520" cy="685800"/>
          </a:xfrm>
          <a:prstGeom prst="rect">
            <a:avLst/>
          </a:prstGeom>
          <a:noFill/>
          <a:ln/>
        </p:spPr>
        <p:txBody>
          <a:bodyPr wrap="square" lIns="0" tIns="0" rIns="0" bIns="0" rtlCol="0" anchor="ctr"/>
          <a:lstStyle/>
          <a:p>
            <a:pPr marL="0" indent="0">
              <a:buNone/>
            </a:pPr>
            <a:r>
              <a:rPr lang="en-US" sz="1100" b="1" dirty="0">
                <a:solidFill>
                  <a:srgbClr val="EAF2FF"/>
                </a:solidFill>
                <a:latin typeface="Calibri" pitchFamily="34" charset="0"/>
                <a:ea typeface="Calibri" pitchFamily="34" charset="-122"/>
                <a:cs typeface="Calibri" pitchFamily="34" charset="-120"/>
              </a:rPr>
              <a:t>REST API</a:t>
            </a:r>
            <a:endParaRPr lang="en-US" sz="1100" dirty="0"/>
          </a:p>
        </p:txBody>
      </p:sp>
      <p:sp>
        <p:nvSpPr>
          <p:cNvPr id="26" name="Shape 20"/>
          <p:cNvSpPr/>
          <p:nvPr/>
        </p:nvSpPr>
        <p:spPr>
          <a:xfrm>
            <a:off x="2011680" y="1554480"/>
            <a:ext cx="1234440" cy="2971800"/>
          </a:xfrm>
          <a:prstGeom prst="roundRect">
            <a:avLst>
              <a:gd name="adj" fmla="val 5926"/>
            </a:avLst>
          </a:prstGeom>
          <a:solidFill>
            <a:srgbClr val="0F2036"/>
          </a:solidFill>
          <a:ln w="12700">
            <a:solidFill>
              <a:srgbClr val="1D3A5C"/>
            </a:solidFill>
            <a:prstDash val="solid"/>
          </a:ln>
        </p:spPr>
      </p:sp>
      <p:sp>
        <p:nvSpPr>
          <p:cNvPr id="27" name="Shape 21"/>
          <p:cNvSpPr/>
          <p:nvPr/>
        </p:nvSpPr>
        <p:spPr>
          <a:xfrm>
            <a:off x="2286000" y="2011680"/>
            <a:ext cx="685800" cy="685800"/>
          </a:xfrm>
          <a:prstGeom prst="ellipse">
            <a:avLst/>
          </a:prstGeom>
          <a:solidFill>
            <a:srgbClr val="0C2233"/>
          </a:solidFill>
          <a:ln w="15875">
            <a:solidFill>
              <a:srgbClr val="2DE2C0"/>
            </a:solidFill>
            <a:prstDash val="solid"/>
          </a:ln>
        </p:spPr>
      </p:sp>
      <p:pic>
        <p:nvPicPr>
          <p:cNvPr id="28" name="Image 4" descr="preencoded.png"/>
          <p:cNvPicPr>
            <a:picLocks noChangeAspect="1"/>
          </p:cNvPicPr>
          <p:nvPr/>
        </p:nvPicPr>
        <p:blipFill>
          <a:blip r:embed="rId8"/>
          <a:stretch>
            <a:fillRect/>
          </a:stretch>
        </p:blipFill>
        <p:spPr>
          <a:xfrm>
            <a:off x="2464308" y="2189988"/>
            <a:ext cx="329184" cy="329184"/>
          </a:xfrm>
          <a:prstGeom prst="rect">
            <a:avLst/>
          </a:prstGeom>
        </p:spPr>
      </p:pic>
      <p:sp>
        <p:nvSpPr>
          <p:cNvPr id="29" name="Text 22"/>
          <p:cNvSpPr txBox="1"/>
          <p:nvPr/>
        </p:nvSpPr>
        <p:spPr>
          <a:xfrm>
            <a:off x="2103120" y="2926080"/>
            <a:ext cx="1051560" cy="1097280"/>
          </a:xfrm>
          <a:prstGeom prst="rect">
            <a:avLst/>
          </a:prstGeom>
          <a:noFill/>
          <a:ln/>
        </p:spPr>
        <p:txBody>
          <a:bodyPr wrap="square" lIns="0" tIns="0" rIns="0" bIns="0" rtlCol="0" anchor="t"/>
          <a:lstStyle/>
          <a:p>
            <a:pPr marL="0" indent="0" algn="ctr">
              <a:spcAft>
                <a:spcPts val="600"/>
              </a:spcAft>
              <a:buNone/>
            </a:pPr>
            <a:r>
              <a:rPr lang="en-US" sz="1100" dirty="0">
                <a:solidFill>
                  <a:srgbClr val="9DB2CC"/>
                </a:solidFill>
                <a:latin typeface="Calibri" pitchFamily="34" charset="0"/>
                <a:ea typeface="Calibri" pitchFamily="34" charset="-122"/>
                <a:cs typeface="Calibri" pitchFamily="34" charset="-120"/>
              </a:rPr>
              <a:t>Routes</a:t>
            </a:r>
            <a:endParaRPr lang="en-US" sz="1100" dirty="0"/>
          </a:p>
          <a:p>
            <a:pPr marL="0" indent="0" algn="ctr">
              <a:spcAft>
                <a:spcPts val="600"/>
              </a:spcAft>
              <a:buNone/>
            </a:pPr>
            <a:r>
              <a:rPr lang="en-US" sz="1100" dirty="0">
                <a:solidFill>
                  <a:srgbClr val="9DB2CC"/>
                </a:solidFill>
                <a:latin typeface="Calibri" pitchFamily="34" charset="0"/>
                <a:ea typeface="Calibri" pitchFamily="34" charset="-122"/>
                <a:cs typeface="Calibri" pitchFamily="34" charset="-120"/>
              </a:rPr>
              <a:t>API-key auth</a:t>
            </a:r>
            <a:endParaRPr lang="en-US" sz="1100" dirty="0"/>
          </a:p>
          <a:p>
            <a:pPr marL="0" indent="0" algn="ctr">
              <a:spcAft>
                <a:spcPts val="600"/>
              </a:spcAft>
              <a:buNone/>
            </a:pPr>
            <a:r>
              <a:rPr lang="en-US" sz="1100" dirty="0">
                <a:solidFill>
                  <a:srgbClr val="9DB2CC"/>
                </a:solidFill>
                <a:latin typeface="Calibri" pitchFamily="34" charset="0"/>
                <a:ea typeface="Calibri" pitchFamily="34" charset="-122"/>
                <a:cs typeface="Calibri" pitchFamily="34" charset="-120"/>
              </a:rPr>
              <a:t>Live preview</a:t>
            </a:r>
            <a:endParaRPr lang="en-US" sz="1100" dirty="0"/>
          </a:p>
        </p:txBody>
      </p:sp>
      <p:sp>
        <p:nvSpPr>
          <p:cNvPr id="30" name="Shape 23"/>
          <p:cNvSpPr/>
          <p:nvPr/>
        </p:nvSpPr>
        <p:spPr>
          <a:xfrm>
            <a:off x="3474720" y="1554480"/>
            <a:ext cx="2240280" cy="685800"/>
          </a:xfrm>
          <a:prstGeom prst="roundRect">
            <a:avLst>
              <a:gd name="adj" fmla="val 10667"/>
            </a:avLst>
          </a:prstGeom>
          <a:solidFill>
            <a:srgbClr val="0F2036"/>
          </a:solidFill>
          <a:ln w="12700">
            <a:solidFill>
              <a:srgbClr val="1D3A5C"/>
            </a:solidFill>
            <a:prstDash val="solid"/>
          </a:ln>
        </p:spPr>
      </p:sp>
      <p:sp>
        <p:nvSpPr>
          <p:cNvPr id="31" name="Shape 24"/>
          <p:cNvSpPr/>
          <p:nvPr/>
        </p:nvSpPr>
        <p:spPr>
          <a:xfrm>
            <a:off x="3566160" y="1709928"/>
            <a:ext cx="365760" cy="365760"/>
          </a:xfrm>
          <a:prstGeom prst="ellipse">
            <a:avLst/>
          </a:prstGeom>
          <a:solidFill>
            <a:srgbClr val="0C2233"/>
          </a:solidFill>
          <a:ln w="15875">
            <a:solidFill>
              <a:srgbClr val="2DE2C0"/>
            </a:solidFill>
            <a:prstDash val="solid"/>
          </a:ln>
        </p:spPr>
      </p:sp>
      <p:pic>
        <p:nvPicPr>
          <p:cNvPr id="32" name="Image 5" descr="preencoded.png"/>
          <p:cNvPicPr>
            <a:picLocks noChangeAspect="1"/>
          </p:cNvPicPr>
          <p:nvPr/>
        </p:nvPicPr>
        <p:blipFill>
          <a:blip r:embed="rId5"/>
          <a:stretch>
            <a:fillRect/>
          </a:stretch>
        </p:blipFill>
        <p:spPr>
          <a:xfrm>
            <a:off x="3661258" y="1805026"/>
            <a:ext cx="175565" cy="175565"/>
          </a:xfrm>
          <a:prstGeom prst="rect">
            <a:avLst/>
          </a:prstGeom>
        </p:spPr>
      </p:pic>
      <p:sp>
        <p:nvSpPr>
          <p:cNvPr id="33" name="Text 25"/>
          <p:cNvSpPr txBox="1"/>
          <p:nvPr/>
        </p:nvSpPr>
        <p:spPr>
          <a:xfrm>
            <a:off x="4023360" y="1554480"/>
            <a:ext cx="1645920" cy="685800"/>
          </a:xfrm>
          <a:prstGeom prst="rect">
            <a:avLst/>
          </a:prstGeom>
          <a:noFill/>
          <a:ln/>
        </p:spPr>
        <p:txBody>
          <a:bodyPr wrap="square" lIns="0" tIns="0" rIns="0" bIns="0" rtlCol="0" anchor="ctr"/>
          <a:lstStyle/>
          <a:p>
            <a:pPr marL="0" indent="0">
              <a:buNone/>
            </a:pPr>
            <a:r>
              <a:rPr lang="en-US" sz="1100" b="1" dirty="0">
                <a:solidFill>
                  <a:srgbClr val="EAF2FF"/>
                </a:solidFill>
                <a:latin typeface="Calibri" pitchFamily="34" charset="0"/>
                <a:ea typeface="Calibri" pitchFamily="34" charset="-122"/>
                <a:cs typeface="Calibri" pitchFamily="34" charset="-120"/>
              </a:rPr>
              <a:t>Email parser (headers, links)</a:t>
            </a:r>
            <a:endParaRPr lang="en-US" sz="1100" dirty="0"/>
          </a:p>
        </p:txBody>
      </p:sp>
      <p:sp>
        <p:nvSpPr>
          <p:cNvPr id="34" name="Shape 26"/>
          <p:cNvSpPr/>
          <p:nvPr/>
        </p:nvSpPr>
        <p:spPr>
          <a:xfrm>
            <a:off x="3474720" y="2331720"/>
            <a:ext cx="2240280" cy="685800"/>
          </a:xfrm>
          <a:prstGeom prst="roundRect">
            <a:avLst>
              <a:gd name="adj" fmla="val 10667"/>
            </a:avLst>
          </a:prstGeom>
          <a:solidFill>
            <a:srgbClr val="0F2036"/>
          </a:solidFill>
          <a:ln w="12700">
            <a:solidFill>
              <a:srgbClr val="1D3A5C"/>
            </a:solidFill>
            <a:prstDash val="solid"/>
          </a:ln>
        </p:spPr>
      </p:sp>
      <p:sp>
        <p:nvSpPr>
          <p:cNvPr id="35" name="Shape 27"/>
          <p:cNvSpPr/>
          <p:nvPr/>
        </p:nvSpPr>
        <p:spPr>
          <a:xfrm>
            <a:off x="3566160" y="2487168"/>
            <a:ext cx="365760" cy="365760"/>
          </a:xfrm>
          <a:prstGeom prst="ellipse">
            <a:avLst/>
          </a:prstGeom>
          <a:solidFill>
            <a:srgbClr val="0C2233"/>
          </a:solidFill>
          <a:ln w="15875">
            <a:solidFill>
              <a:srgbClr val="2DE2C0"/>
            </a:solidFill>
            <a:prstDash val="solid"/>
          </a:ln>
        </p:spPr>
      </p:sp>
      <p:pic>
        <p:nvPicPr>
          <p:cNvPr id="36" name="Image 6" descr="preencoded.png"/>
          <p:cNvPicPr>
            <a:picLocks noChangeAspect="1"/>
          </p:cNvPicPr>
          <p:nvPr/>
        </p:nvPicPr>
        <p:blipFill>
          <a:blip r:embed="rId9"/>
          <a:stretch>
            <a:fillRect/>
          </a:stretch>
        </p:blipFill>
        <p:spPr>
          <a:xfrm>
            <a:off x="3661258" y="2582266"/>
            <a:ext cx="175565" cy="175565"/>
          </a:xfrm>
          <a:prstGeom prst="rect">
            <a:avLst/>
          </a:prstGeom>
        </p:spPr>
      </p:pic>
      <p:sp>
        <p:nvSpPr>
          <p:cNvPr id="37" name="Text 28"/>
          <p:cNvSpPr txBox="1"/>
          <p:nvPr/>
        </p:nvSpPr>
        <p:spPr>
          <a:xfrm>
            <a:off x="4023360" y="2331720"/>
            <a:ext cx="1645920" cy="685800"/>
          </a:xfrm>
          <a:prstGeom prst="rect">
            <a:avLst/>
          </a:prstGeom>
          <a:noFill/>
          <a:ln/>
        </p:spPr>
        <p:txBody>
          <a:bodyPr wrap="square" lIns="0" tIns="0" rIns="0" bIns="0" rtlCol="0" anchor="ctr"/>
          <a:lstStyle/>
          <a:p>
            <a:pPr marL="0" indent="0">
              <a:buNone/>
            </a:pPr>
            <a:r>
              <a:rPr lang="en-US" sz="1100" b="1" dirty="0">
                <a:solidFill>
                  <a:srgbClr val="EAF2FF"/>
                </a:solidFill>
                <a:latin typeface="Calibri" pitchFamily="34" charset="0"/>
                <a:ea typeface="Calibri" pitchFamily="34" charset="-122"/>
                <a:cs typeface="Calibri" pitchFamily="34" charset="-120"/>
              </a:rPr>
              <a:t>Text ML model</a:t>
            </a:r>
            <a:endParaRPr lang="en-US" sz="1100" dirty="0"/>
          </a:p>
        </p:txBody>
      </p:sp>
      <p:sp>
        <p:nvSpPr>
          <p:cNvPr id="38" name="Shape 29"/>
          <p:cNvSpPr/>
          <p:nvPr/>
        </p:nvSpPr>
        <p:spPr>
          <a:xfrm>
            <a:off x="3474720" y="3108960"/>
            <a:ext cx="2240280" cy="685800"/>
          </a:xfrm>
          <a:prstGeom prst="roundRect">
            <a:avLst>
              <a:gd name="adj" fmla="val 10667"/>
            </a:avLst>
          </a:prstGeom>
          <a:solidFill>
            <a:srgbClr val="0F2036"/>
          </a:solidFill>
          <a:ln w="12700">
            <a:solidFill>
              <a:srgbClr val="1D3A5C"/>
            </a:solidFill>
            <a:prstDash val="solid"/>
          </a:ln>
        </p:spPr>
      </p:sp>
      <p:sp>
        <p:nvSpPr>
          <p:cNvPr id="39" name="Shape 30"/>
          <p:cNvSpPr/>
          <p:nvPr/>
        </p:nvSpPr>
        <p:spPr>
          <a:xfrm>
            <a:off x="3566160" y="3264408"/>
            <a:ext cx="365760" cy="365760"/>
          </a:xfrm>
          <a:prstGeom prst="ellipse">
            <a:avLst/>
          </a:prstGeom>
          <a:solidFill>
            <a:srgbClr val="0C2233"/>
          </a:solidFill>
          <a:ln w="15875">
            <a:solidFill>
              <a:srgbClr val="2DE2C0"/>
            </a:solidFill>
            <a:prstDash val="solid"/>
          </a:ln>
        </p:spPr>
      </p:sp>
      <p:pic>
        <p:nvPicPr>
          <p:cNvPr id="40" name="Image 7" descr="preencoded.png"/>
          <p:cNvPicPr>
            <a:picLocks noChangeAspect="1"/>
          </p:cNvPicPr>
          <p:nvPr/>
        </p:nvPicPr>
        <p:blipFill>
          <a:blip r:embed="rId10"/>
          <a:stretch>
            <a:fillRect/>
          </a:stretch>
        </p:blipFill>
        <p:spPr>
          <a:xfrm>
            <a:off x="3661258" y="3359506"/>
            <a:ext cx="175565" cy="175565"/>
          </a:xfrm>
          <a:prstGeom prst="rect">
            <a:avLst/>
          </a:prstGeom>
        </p:spPr>
      </p:pic>
      <p:sp>
        <p:nvSpPr>
          <p:cNvPr id="41" name="Text 31"/>
          <p:cNvSpPr txBox="1"/>
          <p:nvPr/>
        </p:nvSpPr>
        <p:spPr>
          <a:xfrm>
            <a:off x="4023360" y="3108960"/>
            <a:ext cx="1645920" cy="685800"/>
          </a:xfrm>
          <a:prstGeom prst="rect">
            <a:avLst/>
          </a:prstGeom>
          <a:noFill/>
          <a:ln/>
        </p:spPr>
        <p:txBody>
          <a:bodyPr wrap="square" lIns="0" tIns="0" rIns="0" bIns="0" rtlCol="0" anchor="ctr"/>
          <a:lstStyle/>
          <a:p>
            <a:pPr marL="0" indent="0">
              <a:buNone/>
            </a:pPr>
            <a:r>
              <a:rPr lang="en-US" sz="1100" b="1" dirty="0">
                <a:solidFill>
                  <a:srgbClr val="EAF2FF"/>
                </a:solidFill>
                <a:latin typeface="Calibri" pitchFamily="34" charset="0"/>
                <a:ea typeface="Calibri" pitchFamily="34" charset="-122"/>
                <a:cs typeface="Calibri" pitchFamily="34" charset="-120"/>
              </a:rPr>
              <a:t>Rule engine</a:t>
            </a:r>
            <a:endParaRPr lang="en-US" sz="1100" dirty="0"/>
          </a:p>
        </p:txBody>
      </p:sp>
      <p:sp>
        <p:nvSpPr>
          <p:cNvPr id="42" name="Shape 32"/>
          <p:cNvSpPr/>
          <p:nvPr/>
        </p:nvSpPr>
        <p:spPr>
          <a:xfrm>
            <a:off x="3474720" y="3886200"/>
            <a:ext cx="2240280" cy="685800"/>
          </a:xfrm>
          <a:prstGeom prst="roundRect">
            <a:avLst>
              <a:gd name="adj" fmla="val 10667"/>
            </a:avLst>
          </a:prstGeom>
          <a:solidFill>
            <a:srgbClr val="0F2036"/>
          </a:solidFill>
          <a:ln w="12700">
            <a:solidFill>
              <a:srgbClr val="1D3A5C"/>
            </a:solidFill>
            <a:prstDash val="solid"/>
          </a:ln>
        </p:spPr>
      </p:sp>
      <p:sp>
        <p:nvSpPr>
          <p:cNvPr id="43" name="Shape 33"/>
          <p:cNvSpPr/>
          <p:nvPr/>
        </p:nvSpPr>
        <p:spPr>
          <a:xfrm>
            <a:off x="3566160" y="4041648"/>
            <a:ext cx="365760" cy="365760"/>
          </a:xfrm>
          <a:prstGeom prst="ellipse">
            <a:avLst/>
          </a:prstGeom>
          <a:solidFill>
            <a:srgbClr val="0C2233"/>
          </a:solidFill>
          <a:ln w="15875">
            <a:solidFill>
              <a:srgbClr val="2DE2C0"/>
            </a:solidFill>
            <a:prstDash val="solid"/>
          </a:ln>
        </p:spPr>
      </p:sp>
      <p:pic>
        <p:nvPicPr>
          <p:cNvPr id="44" name="Image 8" descr="preencoded.png"/>
          <p:cNvPicPr>
            <a:picLocks noChangeAspect="1"/>
          </p:cNvPicPr>
          <p:nvPr/>
        </p:nvPicPr>
        <p:blipFill>
          <a:blip r:embed="rId11"/>
          <a:stretch>
            <a:fillRect/>
          </a:stretch>
        </p:blipFill>
        <p:spPr>
          <a:xfrm>
            <a:off x="3661258" y="4136746"/>
            <a:ext cx="175565" cy="175565"/>
          </a:xfrm>
          <a:prstGeom prst="rect">
            <a:avLst/>
          </a:prstGeom>
        </p:spPr>
      </p:pic>
      <p:sp>
        <p:nvSpPr>
          <p:cNvPr id="45" name="Text 34"/>
          <p:cNvSpPr txBox="1"/>
          <p:nvPr/>
        </p:nvSpPr>
        <p:spPr>
          <a:xfrm>
            <a:off x="4023360" y="3886200"/>
            <a:ext cx="1645920" cy="685800"/>
          </a:xfrm>
          <a:prstGeom prst="rect">
            <a:avLst/>
          </a:prstGeom>
          <a:noFill/>
          <a:ln/>
        </p:spPr>
        <p:txBody>
          <a:bodyPr wrap="square" lIns="0" tIns="0" rIns="0" bIns="0" rtlCol="0" anchor="ctr"/>
          <a:lstStyle/>
          <a:p>
            <a:pPr marL="0" indent="0">
              <a:buNone/>
            </a:pPr>
            <a:r>
              <a:rPr lang="en-US" sz="1100" b="1" dirty="0">
                <a:solidFill>
                  <a:srgbClr val="EAF2FF"/>
                </a:solidFill>
                <a:latin typeface="Calibri" pitchFamily="34" charset="0"/>
                <a:ea typeface="Calibri" pitchFamily="34" charset="-122"/>
                <a:cs typeface="Calibri" pitchFamily="34" charset="-120"/>
              </a:rPr>
              <a:t>Threat intelligence</a:t>
            </a:r>
            <a:endParaRPr lang="en-US" sz="1100" dirty="0"/>
          </a:p>
        </p:txBody>
      </p:sp>
      <p:sp>
        <p:nvSpPr>
          <p:cNvPr id="46" name="Shape 35"/>
          <p:cNvSpPr/>
          <p:nvPr/>
        </p:nvSpPr>
        <p:spPr>
          <a:xfrm>
            <a:off x="5943600" y="1554480"/>
            <a:ext cx="1097280" cy="2971800"/>
          </a:xfrm>
          <a:prstGeom prst="roundRect">
            <a:avLst>
              <a:gd name="adj" fmla="val 6667"/>
            </a:avLst>
          </a:prstGeom>
          <a:solidFill>
            <a:srgbClr val="0F2036"/>
          </a:solidFill>
          <a:ln w="12700">
            <a:solidFill>
              <a:srgbClr val="1D3A5C"/>
            </a:solidFill>
            <a:prstDash val="solid"/>
          </a:ln>
        </p:spPr>
      </p:sp>
      <p:sp>
        <p:nvSpPr>
          <p:cNvPr id="47" name="Shape 36"/>
          <p:cNvSpPr/>
          <p:nvPr/>
        </p:nvSpPr>
        <p:spPr>
          <a:xfrm>
            <a:off x="6144768" y="2011680"/>
            <a:ext cx="685800" cy="685800"/>
          </a:xfrm>
          <a:prstGeom prst="ellipse">
            <a:avLst/>
          </a:prstGeom>
          <a:solidFill>
            <a:srgbClr val="0C2233"/>
          </a:solidFill>
          <a:ln w="15875">
            <a:solidFill>
              <a:srgbClr val="FFB547"/>
            </a:solidFill>
            <a:prstDash val="solid"/>
          </a:ln>
        </p:spPr>
      </p:sp>
      <p:pic>
        <p:nvPicPr>
          <p:cNvPr id="48" name="Image 9" descr="preencoded.png"/>
          <p:cNvPicPr>
            <a:picLocks noChangeAspect="1"/>
          </p:cNvPicPr>
          <p:nvPr/>
        </p:nvPicPr>
        <p:blipFill>
          <a:blip r:embed="rId12"/>
          <a:stretch>
            <a:fillRect/>
          </a:stretch>
        </p:blipFill>
        <p:spPr>
          <a:xfrm>
            <a:off x="6323076" y="2189988"/>
            <a:ext cx="329184" cy="329184"/>
          </a:xfrm>
          <a:prstGeom prst="rect">
            <a:avLst/>
          </a:prstGeom>
        </p:spPr>
      </p:pic>
      <p:sp>
        <p:nvSpPr>
          <p:cNvPr id="49" name="Text 37"/>
          <p:cNvSpPr txBox="1"/>
          <p:nvPr/>
        </p:nvSpPr>
        <p:spPr>
          <a:xfrm>
            <a:off x="6016752" y="2926080"/>
            <a:ext cx="960120" cy="1371600"/>
          </a:xfrm>
          <a:prstGeom prst="rect">
            <a:avLst/>
          </a:prstGeom>
          <a:noFill/>
          <a:ln/>
        </p:spPr>
        <p:txBody>
          <a:bodyPr wrap="square" lIns="0" tIns="0" rIns="0" bIns="0" rtlCol="0" anchor="t"/>
          <a:lstStyle/>
          <a:p>
            <a:pPr marL="0" indent="0" algn="ctr">
              <a:spcAft>
                <a:spcPts val="500"/>
              </a:spcAft>
              <a:buNone/>
            </a:pPr>
            <a:r>
              <a:rPr lang="en-US" sz="1200" b="1" dirty="0">
                <a:solidFill>
                  <a:srgbClr val="EAF2FF"/>
                </a:solidFill>
                <a:latin typeface="Calibri" pitchFamily="34" charset="0"/>
                <a:ea typeface="Calibri" pitchFamily="34" charset="-122"/>
                <a:cs typeface="Calibri" pitchFamily="34" charset="-120"/>
              </a:rPr>
              <a:t>Score</a:t>
            </a:r>
            <a:endParaRPr lang="en-US" sz="1200" dirty="0"/>
          </a:p>
          <a:p>
            <a:pPr marL="0" indent="0" algn="ctr">
              <a:spcAft>
                <a:spcPts val="500"/>
              </a:spcAft>
              <a:buNone/>
            </a:pPr>
            <a:r>
              <a:rPr lang="en-US" sz="1200" dirty="0">
                <a:solidFill>
                  <a:srgbClr val="EAF2FF"/>
                </a:solidFill>
                <a:latin typeface="Calibri" pitchFamily="34" charset="0"/>
                <a:ea typeface="Calibri" pitchFamily="34" charset="-122"/>
                <a:cs typeface="Calibri" pitchFamily="34" charset="-120"/>
              </a:rPr>
              <a:t>0-100</a:t>
            </a:r>
            <a:endParaRPr lang="en-US" sz="1200" dirty="0"/>
          </a:p>
          <a:p>
            <a:pPr marL="0" indent="0" algn="ctr">
              <a:spcAft>
                <a:spcPts val="500"/>
              </a:spcAft>
              <a:buNone/>
            </a:pPr>
            <a:r>
              <a:rPr lang="en-US" sz="1000" dirty="0">
                <a:solidFill>
                  <a:srgbClr val="9DB2CC"/>
                </a:solidFill>
                <a:latin typeface="Calibri" pitchFamily="34" charset="0"/>
                <a:ea typeface="Calibri" pitchFamily="34" charset="-122"/>
                <a:cs typeface="Calibri" pitchFamily="34" charset="-120"/>
              </a:rPr>
              <a:t>Safe / Suspicious / Phishing</a:t>
            </a:r>
            <a:endParaRPr lang="en-US" sz="1200" dirty="0"/>
          </a:p>
        </p:txBody>
      </p:sp>
      <p:sp>
        <p:nvSpPr>
          <p:cNvPr id="50" name="Shape 38"/>
          <p:cNvSpPr/>
          <p:nvPr/>
        </p:nvSpPr>
        <p:spPr>
          <a:xfrm>
            <a:off x="7269480" y="1554480"/>
            <a:ext cx="1417320" cy="685800"/>
          </a:xfrm>
          <a:prstGeom prst="roundRect">
            <a:avLst>
              <a:gd name="adj" fmla="val 10667"/>
            </a:avLst>
          </a:prstGeom>
          <a:solidFill>
            <a:srgbClr val="0F2036"/>
          </a:solidFill>
          <a:ln w="12700">
            <a:solidFill>
              <a:srgbClr val="1D3A5C"/>
            </a:solidFill>
            <a:prstDash val="solid"/>
          </a:ln>
        </p:spPr>
      </p:sp>
      <p:sp>
        <p:nvSpPr>
          <p:cNvPr id="51" name="Shape 39"/>
          <p:cNvSpPr/>
          <p:nvPr/>
        </p:nvSpPr>
        <p:spPr>
          <a:xfrm>
            <a:off x="7360920" y="1709928"/>
            <a:ext cx="365760" cy="365760"/>
          </a:xfrm>
          <a:prstGeom prst="ellipse">
            <a:avLst/>
          </a:prstGeom>
          <a:solidFill>
            <a:srgbClr val="0C2233"/>
          </a:solidFill>
          <a:ln w="15875">
            <a:solidFill>
              <a:srgbClr val="2DE2C0"/>
            </a:solidFill>
            <a:prstDash val="solid"/>
          </a:ln>
        </p:spPr>
      </p:sp>
      <p:pic>
        <p:nvPicPr>
          <p:cNvPr id="52" name="Image 10" descr="preencoded.png"/>
          <p:cNvPicPr>
            <a:picLocks noChangeAspect="1"/>
          </p:cNvPicPr>
          <p:nvPr/>
        </p:nvPicPr>
        <p:blipFill>
          <a:blip r:embed="rId13"/>
          <a:stretch>
            <a:fillRect/>
          </a:stretch>
        </p:blipFill>
        <p:spPr>
          <a:xfrm>
            <a:off x="7456018" y="1805026"/>
            <a:ext cx="175565" cy="175565"/>
          </a:xfrm>
          <a:prstGeom prst="rect">
            <a:avLst/>
          </a:prstGeom>
        </p:spPr>
      </p:pic>
      <p:sp>
        <p:nvSpPr>
          <p:cNvPr id="53" name="Text 40"/>
          <p:cNvSpPr txBox="1"/>
          <p:nvPr/>
        </p:nvSpPr>
        <p:spPr>
          <a:xfrm>
            <a:off x="7818120" y="1554480"/>
            <a:ext cx="822960" cy="685800"/>
          </a:xfrm>
          <a:prstGeom prst="rect">
            <a:avLst/>
          </a:prstGeom>
          <a:noFill/>
          <a:ln/>
        </p:spPr>
        <p:txBody>
          <a:bodyPr wrap="square" lIns="0" tIns="0" rIns="0" bIns="0" rtlCol="0" anchor="ctr"/>
          <a:lstStyle/>
          <a:p>
            <a:pPr marL="0" indent="0">
              <a:buNone/>
            </a:pPr>
            <a:r>
              <a:rPr lang="en-US" sz="1100" b="1" dirty="0">
                <a:solidFill>
                  <a:srgbClr val="EAF2FF"/>
                </a:solidFill>
                <a:latin typeface="Calibri" pitchFamily="34" charset="0"/>
                <a:ea typeface="Calibri" pitchFamily="34" charset="-122"/>
                <a:cs typeface="Calibri" pitchFamily="34" charset="-120"/>
              </a:rPr>
              <a:t>SQLite database</a:t>
            </a:r>
            <a:endParaRPr lang="en-US" sz="1100" dirty="0"/>
          </a:p>
        </p:txBody>
      </p:sp>
      <p:sp>
        <p:nvSpPr>
          <p:cNvPr id="54" name="Shape 41"/>
          <p:cNvSpPr/>
          <p:nvPr/>
        </p:nvSpPr>
        <p:spPr>
          <a:xfrm>
            <a:off x="7269480" y="2331720"/>
            <a:ext cx="1417320" cy="685800"/>
          </a:xfrm>
          <a:prstGeom prst="roundRect">
            <a:avLst>
              <a:gd name="adj" fmla="val 10667"/>
            </a:avLst>
          </a:prstGeom>
          <a:solidFill>
            <a:srgbClr val="0F2036"/>
          </a:solidFill>
          <a:ln w="12700">
            <a:solidFill>
              <a:srgbClr val="1D3A5C"/>
            </a:solidFill>
            <a:prstDash val="solid"/>
          </a:ln>
        </p:spPr>
      </p:sp>
      <p:sp>
        <p:nvSpPr>
          <p:cNvPr id="55" name="Shape 42"/>
          <p:cNvSpPr/>
          <p:nvPr/>
        </p:nvSpPr>
        <p:spPr>
          <a:xfrm>
            <a:off x="7360920" y="2487168"/>
            <a:ext cx="365760" cy="365760"/>
          </a:xfrm>
          <a:prstGeom prst="ellipse">
            <a:avLst/>
          </a:prstGeom>
          <a:solidFill>
            <a:srgbClr val="0C2233"/>
          </a:solidFill>
          <a:ln w="15875">
            <a:solidFill>
              <a:srgbClr val="2DE2C0"/>
            </a:solidFill>
            <a:prstDash val="solid"/>
          </a:ln>
        </p:spPr>
      </p:sp>
      <p:pic>
        <p:nvPicPr>
          <p:cNvPr id="56" name="Image 11" descr="preencoded.png"/>
          <p:cNvPicPr>
            <a:picLocks noChangeAspect="1"/>
          </p:cNvPicPr>
          <p:nvPr/>
        </p:nvPicPr>
        <p:blipFill>
          <a:blip r:embed="rId14"/>
          <a:stretch>
            <a:fillRect/>
          </a:stretch>
        </p:blipFill>
        <p:spPr>
          <a:xfrm>
            <a:off x="7456018" y="2582266"/>
            <a:ext cx="175565" cy="175565"/>
          </a:xfrm>
          <a:prstGeom prst="rect">
            <a:avLst/>
          </a:prstGeom>
        </p:spPr>
      </p:pic>
      <p:sp>
        <p:nvSpPr>
          <p:cNvPr id="57" name="Text 43"/>
          <p:cNvSpPr txBox="1"/>
          <p:nvPr/>
        </p:nvSpPr>
        <p:spPr>
          <a:xfrm>
            <a:off x="7818120" y="2331720"/>
            <a:ext cx="822960" cy="685800"/>
          </a:xfrm>
          <a:prstGeom prst="rect">
            <a:avLst/>
          </a:prstGeom>
          <a:noFill/>
          <a:ln/>
        </p:spPr>
        <p:txBody>
          <a:bodyPr wrap="square" lIns="0" tIns="0" rIns="0" bIns="0" rtlCol="0" anchor="ctr"/>
          <a:lstStyle/>
          <a:p>
            <a:pPr marL="0" indent="0">
              <a:buNone/>
            </a:pPr>
            <a:r>
              <a:rPr lang="en-US" sz="1100" b="1" dirty="0">
                <a:solidFill>
                  <a:srgbClr val="EAF2FF"/>
                </a:solidFill>
                <a:latin typeface="Calibri" pitchFamily="34" charset="0"/>
                <a:ea typeface="Calibri" pitchFamily="34" charset="-122"/>
                <a:cs typeface="Calibri" pitchFamily="34" charset="-120"/>
              </a:rPr>
              <a:t>Dashboard</a:t>
            </a:r>
            <a:endParaRPr lang="en-US" sz="1100" dirty="0"/>
          </a:p>
        </p:txBody>
      </p:sp>
      <p:sp>
        <p:nvSpPr>
          <p:cNvPr id="58" name="Shape 44"/>
          <p:cNvSpPr/>
          <p:nvPr/>
        </p:nvSpPr>
        <p:spPr>
          <a:xfrm>
            <a:off x="7269480" y="3108960"/>
            <a:ext cx="1417320" cy="685800"/>
          </a:xfrm>
          <a:prstGeom prst="roundRect">
            <a:avLst>
              <a:gd name="adj" fmla="val 10667"/>
            </a:avLst>
          </a:prstGeom>
          <a:solidFill>
            <a:srgbClr val="0F2036"/>
          </a:solidFill>
          <a:ln w="12700">
            <a:solidFill>
              <a:srgbClr val="1D3A5C"/>
            </a:solidFill>
            <a:prstDash val="solid"/>
          </a:ln>
        </p:spPr>
      </p:sp>
      <p:sp>
        <p:nvSpPr>
          <p:cNvPr id="59" name="Shape 45"/>
          <p:cNvSpPr/>
          <p:nvPr/>
        </p:nvSpPr>
        <p:spPr>
          <a:xfrm>
            <a:off x="7360920" y="3264408"/>
            <a:ext cx="365760" cy="365760"/>
          </a:xfrm>
          <a:prstGeom prst="ellipse">
            <a:avLst/>
          </a:prstGeom>
          <a:solidFill>
            <a:srgbClr val="0C2233"/>
          </a:solidFill>
          <a:ln w="15875">
            <a:solidFill>
              <a:srgbClr val="2DE2C0"/>
            </a:solidFill>
            <a:prstDash val="solid"/>
          </a:ln>
        </p:spPr>
      </p:sp>
      <p:pic>
        <p:nvPicPr>
          <p:cNvPr id="60" name="Image 12" descr="preencoded.png"/>
          <p:cNvPicPr>
            <a:picLocks noChangeAspect="1"/>
          </p:cNvPicPr>
          <p:nvPr/>
        </p:nvPicPr>
        <p:blipFill>
          <a:blip r:embed="rId7"/>
          <a:stretch>
            <a:fillRect/>
          </a:stretch>
        </p:blipFill>
        <p:spPr>
          <a:xfrm>
            <a:off x="7456018" y="3359506"/>
            <a:ext cx="175565" cy="175565"/>
          </a:xfrm>
          <a:prstGeom prst="rect">
            <a:avLst/>
          </a:prstGeom>
        </p:spPr>
      </p:pic>
      <p:sp>
        <p:nvSpPr>
          <p:cNvPr id="61" name="Text 46"/>
          <p:cNvSpPr txBox="1"/>
          <p:nvPr/>
        </p:nvSpPr>
        <p:spPr>
          <a:xfrm>
            <a:off x="7818120" y="3108960"/>
            <a:ext cx="822960" cy="685800"/>
          </a:xfrm>
          <a:prstGeom prst="rect">
            <a:avLst/>
          </a:prstGeom>
          <a:noFill/>
          <a:ln/>
        </p:spPr>
        <p:txBody>
          <a:bodyPr wrap="square" lIns="0" tIns="0" rIns="0" bIns="0" rtlCol="0" anchor="ctr"/>
          <a:lstStyle/>
          <a:p>
            <a:pPr marL="0" indent="0">
              <a:buNone/>
            </a:pPr>
            <a:r>
              <a:rPr lang="en-US" sz="1100" b="1" dirty="0">
                <a:solidFill>
                  <a:srgbClr val="EAF2FF"/>
                </a:solidFill>
                <a:latin typeface="Calibri" pitchFamily="34" charset="0"/>
                <a:ea typeface="Calibri" pitchFamily="34" charset="-122"/>
                <a:cs typeface="Calibri" pitchFamily="34" charset="-120"/>
              </a:rPr>
              <a:t>API response</a:t>
            </a:r>
            <a:endParaRPr lang="en-US" sz="1100" dirty="0"/>
          </a:p>
        </p:txBody>
      </p:sp>
      <p:sp>
        <p:nvSpPr>
          <p:cNvPr id="62" name="Shape 47"/>
          <p:cNvSpPr/>
          <p:nvPr/>
        </p:nvSpPr>
        <p:spPr>
          <a:xfrm>
            <a:off x="7269480" y="3886200"/>
            <a:ext cx="1417320" cy="685800"/>
          </a:xfrm>
          <a:prstGeom prst="roundRect">
            <a:avLst>
              <a:gd name="adj" fmla="val 10667"/>
            </a:avLst>
          </a:prstGeom>
          <a:solidFill>
            <a:srgbClr val="0F2036"/>
          </a:solidFill>
          <a:ln w="12700">
            <a:solidFill>
              <a:srgbClr val="1D3A5C"/>
            </a:solidFill>
            <a:prstDash val="solid"/>
          </a:ln>
        </p:spPr>
      </p:sp>
      <p:sp>
        <p:nvSpPr>
          <p:cNvPr id="63" name="Shape 48"/>
          <p:cNvSpPr/>
          <p:nvPr/>
        </p:nvSpPr>
        <p:spPr>
          <a:xfrm>
            <a:off x="7360920" y="4041648"/>
            <a:ext cx="365760" cy="365760"/>
          </a:xfrm>
          <a:prstGeom prst="ellipse">
            <a:avLst/>
          </a:prstGeom>
          <a:solidFill>
            <a:srgbClr val="0C2233"/>
          </a:solidFill>
          <a:ln w="15875">
            <a:solidFill>
              <a:srgbClr val="2DE2C0"/>
            </a:solidFill>
            <a:prstDash val="solid"/>
          </a:ln>
        </p:spPr>
      </p:sp>
      <p:pic>
        <p:nvPicPr>
          <p:cNvPr id="64" name="Image 13" descr="preencoded.png"/>
          <p:cNvPicPr>
            <a:picLocks noChangeAspect="1"/>
          </p:cNvPicPr>
          <p:nvPr/>
        </p:nvPicPr>
        <p:blipFill>
          <a:blip r:embed="rId15"/>
          <a:stretch>
            <a:fillRect/>
          </a:stretch>
        </p:blipFill>
        <p:spPr>
          <a:xfrm>
            <a:off x="7456018" y="4136746"/>
            <a:ext cx="175565" cy="175565"/>
          </a:xfrm>
          <a:prstGeom prst="rect">
            <a:avLst/>
          </a:prstGeom>
        </p:spPr>
      </p:pic>
      <p:sp>
        <p:nvSpPr>
          <p:cNvPr id="65" name="Text 49"/>
          <p:cNvSpPr txBox="1"/>
          <p:nvPr/>
        </p:nvSpPr>
        <p:spPr>
          <a:xfrm>
            <a:off x="7818120" y="3886200"/>
            <a:ext cx="822960" cy="685800"/>
          </a:xfrm>
          <a:prstGeom prst="rect">
            <a:avLst/>
          </a:prstGeom>
          <a:noFill/>
          <a:ln/>
        </p:spPr>
        <p:txBody>
          <a:bodyPr wrap="square" lIns="0" tIns="0" rIns="0" bIns="0" rtlCol="0" anchor="ctr"/>
          <a:lstStyle/>
          <a:p>
            <a:pPr marL="0" indent="0">
              <a:buNone/>
            </a:pPr>
            <a:r>
              <a:rPr lang="en-US" sz="1100" b="1" dirty="0">
                <a:solidFill>
                  <a:srgbClr val="EAF2FF"/>
                </a:solidFill>
                <a:latin typeface="Calibri" pitchFamily="34" charset="0"/>
                <a:ea typeface="Calibri" pitchFamily="34" charset="-122"/>
                <a:cs typeface="Calibri" pitchFamily="34" charset="-120"/>
              </a:rPr>
              <a:t>Feedback loop</a:t>
            </a:r>
            <a:endParaRPr lang="en-US" sz="1100" dirty="0"/>
          </a:p>
        </p:txBody>
      </p:sp>
      <p:sp>
        <p:nvSpPr>
          <p:cNvPr id="66" name="Shape 50"/>
          <p:cNvSpPr/>
          <p:nvPr/>
        </p:nvSpPr>
        <p:spPr>
          <a:xfrm>
            <a:off x="1801368" y="2926080"/>
            <a:ext cx="128016" cy="228600"/>
          </a:xfrm>
          <a:prstGeom prst="chevron">
            <a:avLst/>
          </a:prstGeom>
          <a:solidFill>
            <a:srgbClr val="2DE2C0"/>
          </a:solidFill>
          <a:ln w="12700">
            <a:solidFill>
              <a:srgbClr val="2DE2C0"/>
            </a:solidFill>
            <a:prstDash val="solid"/>
          </a:ln>
        </p:spPr>
      </p:sp>
      <p:sp>
        <p:nvSpPr>
          <p:cNvPr id="67" name="Shape 51"/>
          <p:cNvSpPr/>
          <p:nvPr/>
        </p:nvSpPr>
        <p:spPr>
          <a:xfrm>
            <a:off x="3264408" y="2926080"/>
            <a:ext cx="128016" cy="228600"/>
          </a:xfrm>
          <a:prstGeom prst="chevron">
            <a:avLst/>
          </a:prstGeom>
          <a:solidFill>
            <a:srgbClr val="2DE2C0"/>
          </a:solidFill>
          <a:ln w="12700">
            <a:solidFill>
              <a:srgbClr val="2DE2C0"/>
            </a:solidFill>
            <a:prstDash val="solid"/>
          </a:ln>
        </p:spPr>
      </p:sp>
      <p:sp>
        <p:nvSpPr>
          <p:cNvPr id="68" name="Shape 52"/>
          <p:cNvSpPr/>
          <p:nvPr/>
        </p:nvSpPr>
        <p:spPr>
          <a:xfrm>
            <a:off x="5733288" y="2926080"/>
            <a:ext cx="128016" cy="228600"/>
          </a:xfrm>
          <a:prstGeom prst="chevron">
            <a:avLst/>
          </a:prstGeom>
          <a:solidFill>
            <a:srgbClr val="2DE2C0"/>
          </a:solidFill>
          <a:ln w="12700">
            <a:solidFill>
              <a:srgbClr val="2DE2C0"/>
            </a:solidFill>
            <a:prstDash val="solid"/>
          </a:ln>
        </p:spPr>
      </p:sp>
      <p:sp>
        <p:nvSpPr>
          <p:cNvPr id="69" name="Shape 53"/>
          <p:cNvSpPr/>
          <p:nvPr/>
        </p:nvSpPr>
        <p:spPr>
          <a:xfrm>
            <a:off x="7059168" y="2926080"/>
            <a:ext cx="128016" cy="228600"/>
          </a:xfrm>
          <a:prstGeom prst="chevron">
            <a:avLst/>
          </a:prstGeom>
          <a:solidFill>
            <a:srgbClr val="2DE2C0"/>
          </a:solidFill>
          <a:ln w="12700">
            <a:solidFill>
              <a:srgbClr val="2DE2C0"/>
            </a:solidFill>
            <a:prstDash val="solid"/>
          </a:ln>
        </p:spPr>
      </p:sp>
    </p:spTree>
  </p:cSld>
  <p:clrMapOvr>
    <a:masterClrMapping/>
  </p:clrMapOvr>
  <p:transition spd="med">
    <p:push/>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rgbClr val="2DE2C0"/>
                </a:solidFill>
                <a:latin typeface="Courier New" pitchFamily="34" charset="0"/>
                <a:ea typeface="Courier New" pitchFamily="34" charset="-122"/>
                <a:cs typeface="Courier New" pitchFamily="34" charset="-120"/>
              </a:rPr>
              <a:t>// 06  FEATURES</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b="1" dirty="0">
                <a:solidFill>
                  <a:srgbClr val="EAF2FF"/>
                </a:solidFill>
                <a:latin typeface="Calibri" pitchFamily="34" charset="0"/>
                <a:ea typeface="Calibri" pitchFamily="34" charset="-122"/>
                <a:cs typeface="Calibri" pitchFamily="34" charset="-120"/>
              </a:rPr>
              <a:t>What PhishGuard can do</a:t>
            </a:r>
            <a:endParaRPr lang="en-US" sz="3000" dirty="0"/>
          </a:p>
        </p:txBody>
      </p:sp>
      <p:sp>
        <p:nvSpPr>
          <p:cNvPr id="4" name="Text 2"/>
          <p:cNvSpPr txBox="1"/>
          <p:nvPr/>
        </p:nvSpPr>
        <p:spPr>
          <a:xfrm>
            <a:off x="7498080" y="4864608"/>
            <a:ext cx="1188720" cy="182880"/>
          </a:xfrm>
          <a:prstGeom prst="rect">
            <a:avLst/>
          </a:prstGeom>
          <a:noFill/>
          <a:ln/>
        </p:spPr>
        <p:txBody>
          <a:bodyPr wrap="square" lIns="0" tIns="0" rIns="0" bIns="0" rtlCol="0" anchor="ctr"/>
          <a:lstStyle/>
          <a:p>
            <a:pPr marL="0" indent="0" algn="r">
              <a:buNone/>
            </a:pPr>
            <a:r>
              <a:rPr lang="en-US" sz="900" dirty="0">
                <a:solidFill>
                  <a:srgbClr val="9DB2CC"/>
                </a:solidFill>
                <a:latin typeface="Courier New" pitchFamily="34" charset="0"/>
                <a:ea typeface="Courier New" pitchFamily="34" charset="-122"/>
                <a:cs typeface="Courier New" pitchFamily="34" charset="-120"/>
              </a:rPr>
              <a:t>06 / 15</a:t>
            </a:r>
            <a:endParaRPr lang="en-US" sz="900" dirty="0"/>
          </a:p>
        </p:txBody>
      </p:sp>
      <p:sp>
        <p:nvSpPr>
          <p:cNvPr id="5" name="Shape 3"/>
          <p:cNvSpPr/>
          <p:nvPr/>
        </p:nvSpPr>
        <p:spPr>
          <a:xfrm>
            <a:off x="457200" y="1280160"/>
            <a:ext cx="1920240" cy="1554480"/>
          </a:xfrm>
          <a:prstGeom prst="roundRect">
            <a:avLst>
              <a:gd name="adj" fmla="val 4706"/>
            </a:avLst>
          </a:prstGeom>
          <a:solidFill>
            <a:srgbClr val="0F2036"/>
          </a:solidFill>
          <a:ln w="12700">
            <a:solidFill>
              <a:srgbClr val="1D3A5C"/>
            </a:solidFill>
            <a:prstDash val="solid"/>
          </a:ln>
        </p:spPr>
      </p:sp>
      <p:sp>
        <p:nvSpPr>
          <p:cNvPr id="6" name="Shape 4"/>
          <p:cNvSpPr/>
          <p:nvPr/>
        </p:nvSpPr>
        <p:spPr>
          <a:xfrm>
            <a:off x="621792" y="1444752"/>
            <a:ext cx="502920" cy="502920"/>
          </a:xfrm>
          <a:prstGeom prst="ellipse">
            <a:avLst/>
          </a:prstGeom>
          <a:solidFill>
            <a:srgbClr val="0C2233"/>
          </a:solidFill>
          <a:ln w="15875">
            <a:solidFill>
              <a:srgbClr val="2DE2C0"/>
            </a:solidFill>
            <a:prstDash val="solid"/>
          </a:ln>
        </p:spPr>
      </p:sp>
      <p:pic>
        <p:nvPicPr>
          <p:cNvPr id="7" name="Image 0" descr="preencoded.png"/>
          <p:cNvPicPr>
            <a:picLocks noChangeAspect="1"/>
          </p:cNvPicPr>
          <p:nvPr/>
        </p:nvPicPr>
        <p:blipFill>
          <a:blip r:embed="rId4"/>
          <a:stretch>
            <a:fillRect/>
          </a:stretch>
        </p:blipFill>
        <p:spPr>
          <a:xfrm>
            <a:off x="752551" y="1575511"/>
            <a:ext cx="241402" cy="241402"/>
          </a:xfrm>
          <a:prstGeom prst="rect">
            <a:avLst/>
          </a:prstGeom>
        </p:spPr>
      </p:pic>
      <p:sp>
        <p:nvSpPr>
          <p:cNvPr id="8" name="Text 5"/>
          <p:cNvSpPr txBox="1"/>
          <p:nvPr/>
        </p:nvSpPr>
        <p:spPr>
          <a:xfrm>
            <a:off x="621792" y="2057400"/>
            <a:ext cx="1645920" cy="274320"/>
          </a:xfrm>
          <a:prstGeom prst="rect">
            <a:avLst/>
          </a:prstGeom>
          <a:noFill/>
          <a:ln/>
        </p:spPr>
        <p:txBody>
          <a:bodyPr wrap="square" lIns="0" tIns="0" rIns="0" bIns="0" rtlCol="0" anchor="ctr"/>
          <a:lstStyle/>
          <a:p>
            <a:pPr marL="0" indent="0">
              <a:buNone/>
            </a:pPr>
            <a:r>
              <a:rPr lang="en-US" sz="1300" b="1" dirty="0">
                <a:solidFill>
                  <a:srgbClr val="EAF2FF"/>
                </a:solidFill>
                <a:latin typeface="Calibri" pitchFamily="34" charset="0"/>
                <a:ea typeface="Calibri" pitchFamily="34" charset="-122"/>
                <a:cs typeface="Calibri" pitchFamily="34" charset="-120"/>
              </a:rPr>
              <a:t>Multi-input scanning</a:t>
            </a:r>
            <a:endParaRPr lang="en-US" sz="1300" dirty="0"/>
          </a:p>
        </p:txBody>
      </p:sp>
      <p:sp>
        <p:nvSpPr>
          <p:cNvPr id="9" name="Text 6"/>
          <p:cNvSpPr txBox="1"/>
          <p:nvPr/>
        </p:nvSpPr>
        <p:spPr>
          <a:xfrm>
            <a:off x="621792" y="2350008"/>
            <a:ext cx="1645920" cy="384048"/>
          </a:xfrm>
          <a:prstGeom prst="rect">
            <a:avLst/>
          </a:prstGeom>
          <a:noFill/>
          <a:ln/>
        </p:spPr>
        <p:txBody>
          <a:bodyPr wrap="square" lIns="0" tIns="0" rIns="0" bIns="0" rtlCol="0" anchor="t"/>
          <a:lstStyle/>
          <a:p>
            <a:pPr marL="0" indent="0">
              <a:buNone/>
            </a:pPr>
            <a:r>
              <a:rPr lang="en-US" sz="1100" dirty="0">
                <a:solidFill>
                  <a:srgbClr val="9DB2CC"/>
                </a:solidFill>
                <a:latin typeface="Calibri" pitchFamily="34" charset="0"/>
                <a:ea typeface="Calibri" pitchFamily="34" charset="-122"/>
                <a:cs typeface="Calibri" pitchFamily="34" charset="-120"/>
              </a:rPr>
              <a:t>Paste, .eml, CSV or API</a:t>
            </a:r>
            <a:endParaRPr lang="en-US" sz="1100" dirty="0"/>
          </a:p>
        </p:txBody>
      </p:sp>
      <p:sp>
        <p:nvSpPr>
          <p:cNvPr id="10" name="Shape 7"/>
          <p:cNvSpPr/>
          <p:nvPr/>
        </p:nvSpPr>
        <p:spPr>
          <a:xfrm>
            <a:off x="2560320" y="1280160"/>
            <a:ext cx="1920240" cy="1554480"/>
          </a:xfrm>
          <a:prstGeom prst="roundRect">
            <a:avLst>
              <a:gd name="adj" fmla="val 4706"/>
            </a:avLst>
          </a:prstGeom>
          <a:solidFill>
            <a:srgbClr val="0F2036"/>
          </a:solidFill>
          <a:ln w="12700">
            <a:solidFill>
              <a:srgbClr val="1D3A5C"/>
            </a:solidFill>
            <a:prstDash val="solid"/>
          </a:ln>
        </p:spPr>
      </p:sp>
      <p:sp>
        <p:nvSpPr>
          <p:cNvPr id="11" name="Shape 8"/>
          <p:cNvSpPr/>
          <p:nvPr/>
        </p:nvSpPr>
        <p:spPr>
          <a:xfrm>
            <a:off x="2724912" y="1444752"/>
            <a:ext cx="502920" cy="502920"/>
          </a:xfrm>
          <a:prstGeom prst="ellipse">
            <a:avLst/>
          </a:prstGeom>
          <a:solidFill>
            <a:srgbClr val="0C2233"/>
          </a:solidFill>
          <a:ln w="15875">
            <a:solidFill>
              <a:srgbClr val="2DE2C0"/>
            </a:solidFill>
            <a:prstDash val="solid"/>
          </a:ln>
        </p:spPr>
      </p:sp>
      <p:pic>
        <p:nvPicPr>
          <p:cNvPr id="12" name="Image 1" descr="preencoded.png"/>
          <p:cNvPicPr>
            <a:picLocks noChangeAspect="1"/>
          </p:cNvPicPr>
          <p:nvPr/>
        </p:nvPicPr>
        <p:blipFill>
          <a:blip r:embed="rId5"/>
          <a:stretch>
            <a:fillRect/>
          </a:stretch>
        </p:blipFill>
        <p:spPr>
          <a:xfrm>
            <a:off x="2855671" y="1575511"/>
            <a:ext cx="241402" cy="241402"/>
          </a:xfrm>
          <a:prstGeom prst="rect">
            <a:avLst/>
          </a:prstGeom>
        </p:spPr>
      </p:pic>
      <p:sp>
        <p:nvSpPr>
          <p:cNvPr id="13" name="Text 9"/>
          <p:cNvSpPr txBox="1"/>
          <p:nvPr/>
        </p:nvSpPr>
        <p:spPr>
          <a:xfrm>
            <a:off x="2724912" y="2057400"/>
            <a:ext cx="1645920" cy="274320"/>
          </a:xfrm>
          <a:prstGeom prst="rect">
            <a:avLst/>
          </a:prstGeom>
          <a:noFill/>
          <a:ln/>
        </p:spPr>
        <p:txBody>
          <a:bodyPr wrap="square" lIns="0" tIns="0" rIns="0" bIns="0" rtlCol="0" anchor="ctr"/>
          <a:lstStyle/>
          <a:p>
            <a:pPr marL="0" indent="0">
              <a:buNone/>
            </a:pPr>
            <a:r>
              <a:rPr lang="en-US" sz="1300" b="1" dirty="0">
                <a:solidFill>
                  <a:srgbClr val="EAF2FF"/>
                </a:solidFill>
                <a:latin typeface="Calibri" pitchFamily="34" charset="0"/>
                <a:ea typeface="Calibri" pitchFamily="34" charset="-122"/>
                <a:cs typeface="Calibri" pitchFamily="34" charset="-120"/>
              </a:rPr>
              <a:t>Explainable verdicts</a:t>
            </a:r>
            <a:endParaRPr lang="en-US" sz="1300" dirty="0"/>
          </a:p>
        </p:txBody>
      </p:sp>
      <p:sp>
        <p:nvSpPr>
          <p:cNvPr id="14" name="Text 10"/>
          <p:cNvSpPr txBox="1"/>
          <p:nvPr/>
        </p:nvSpPr>
        <p:spPr>
          <a:xfrm>
            <a:off x="2724912" y="2350008"/>
            <a:ext cx="1645920" cy="384048"/>
          </a:xfrm>
          <a:prstGeom prst="rect">
            <a:avLst/>
          </a:prstGeom>
          <a:noFill/>
          <a:ln/>
        </p:spPr>
        <p:txBody>
          <a:bodyPr wrap="square" lIns="0" tIns="0" rIns="0" bIns="0" rtlCol="0" anchor="t"/>
          <a:lstStyle/>
          <a:p>
            <a:pPr marL="0" indent="0">
              <a:buNone/>
            </a:pPr>
            <a:r>
              <a:rPr lang="en-US" sz="1100" dirty="0">
                <a:solidFill>
                  <a:srgbClr val="9DB2CC"/>
                </a:solidFill>
                <a:latin typeface="Calibri" pitchFamily="34" charset="0"/>
                <a:ea typeface="Calibri" pitchFamily="34" charset="-122"/>
                <a:cs typeface="Calibri" pitchFamily="34" charset="-120"/>
              </a:rPr>
              <a:t>0-100 score with clear reasons</a:t>
            </a:r>
            <a:endParaRPr lang="en-US" sz="1100" dirty="0"/>
          </a:p>
        </p:txBody>
      </p:sp>
      <p:sp>
        <p:nvSpPr>
          <p:cNvPr id="15" name="Shape 11"/>
          <p:cNvSpPr/>
          <p:nvPr/>
        </p:nvSpPr>
        <p:spPr>
          <a:xfrm>
            <a:off x="4663440" y="1280160"/>
            <a:ext cx="1920240" cy="1554480"/>
          </a:xfrm>
          <a:prstGeom prst="roundRect">
            <a:avLst>
              <a:gd name="adj" fmla="val 4706"/>
            </a:avLst>
          </a:prstGeom>
          <a:solidFill>
            <a:srgbClr val="0F2036"/>
          </a:solidFill>
          <a:ln w="12700">
            <a:solidFill>
              <a:srgbClr val="1D3A5C"/>
            </a:solidFill>
            <a:prstDash val="solid"/>
          </a:ln>
        </p:spPr>
      </p:sp>
      <p:sp>
        <p:nvSpPr>
          <p:cNvPr id="16" name="Shape 12"/>
          <p:cNvSpPr/>
          <p:nvPr/>
        </p:nvSpPr>
        <p:spPr>
          <a:xfrm>
            <a:off x="4828032" y="1444752"/>
            <a:ext cx="502920" cy="502920"/>
          </a:xfrm>
          <a:prstGeom prst="ellipse">
            <a:avLst/>
          </a:prstGeom>
          <a:solidFill>
            <a:srgbClr val="0C2233"/>
          </a:solidFill>
          <a:ln w="15875">
            <a:solidFill>
              <a:srgbClr val="2DE2C0"/>
            </a:solidFill>
            <a:prstDash val="solid"/>
          </a:ln>
        </p:spPr>
      </p:sp>
      <p:pic>
        <p:nvPicPr>
          <p:cNvPr id="17" name="Image 2" descr="preencoded.png"/>
          <p:cNvPicPr>
            <a:picLocks noChangeAspect="1"/>
          </p:cNvPicPr>
          <p:nvPr/>
        </p:nvPicPr>
        <p:blipFill>
          <a:blip r:embed="rId6"/>
          <a:stretch>
            <a:fillRect/>
          </a:stretch>
        </p:blipFill>
        <p:spPr>
          <a:xfrm>
            <a:off x="4958791" y="1575511"/>
            <a:ext cx="241402" cy="241402"/>
          </a:xfrm>
          <a:prstGeom prst="rect">
            <a:avLst/>
          </a:prstGeom>
        </p:spPr>
      </p:pic>
      <p:sp>
        <p:nvSpPr>
          <p:cNvPr id="18" name="Text 13"/>
          <p:cNvSpPr txBox="1"/>
          <p:nvPr/>
        </p:nvSpPr>
        <p:spPr>
          <a:xfrm>
            <a:off x="4828032" y="2057400"/>
            <a:ext cx="1645920" cy="274320"/>
          </a:xfrm>
          <a:prstGeom prst="rect">
            <a:avLst/>
          </a:prstGeom>
          <a:noFill/>
          <a:ln/>
        </p:spPr>
        <p:txBody>
          <a:bodyPr wrap="square" lIns="0" tIns="0" rIns="0" bIns="0" rtlCol="0" anchor="ctr"/>
          <a:lstStyle/>
          <a:p>
            <a:pPr marL="0" indent="0">
              <a:buNone/>
            </a:pPr>
            <a:r>
              <a:rPr lang="en-US" sz="1300" b="1" dirty="0">
                <a:solidFill>
                  <a:srgbClr val="EAF2FF"/>
                </a:solidFill>
                <a:latin typeface="Calibri" pitchFamily="34" charset="0"/>
                <a:ea typeface="Calibri" pitchFamily="34" charset="-122"/>
                <a:cs typeface="Calibri" pitchFamily="34" charset="-120"/>
              </a:rPr>
              <a:t>Real threat database</a:t>
            </a:r>
            <a:endParaRPr lang="en-US" sz="1300" dirty="0"/>
          </a:p>
        </p:txBody>
      </p:sp>
      <p:sp>
        <p:nvSpPr>
          <p:cNvPr id="19" name="Text 14"/>
          <p:cNvSpPr txBox="1"/>
          <p:nvPr/>
        </p:nvSpPr>
        <p:spPr>
          <a:xfrm>
            <a:off x="4828032" y="2350008"/>
            <a:ext cx="1645920" cy="384048"/>
          </a:xfrm>
          <a:prstGeom prst="rect">
            <a:avLst/>
          </a:prstGeom>
          <a:noFill/>
          <a:ln/>
        </p:spPr>
        <p:txBody>
          <a:bodyPr wrap="square" lIns="0" tIns="0" rIns="0" bIns="0" rtlCol="0" anchor="t"/>
          <a:lstStyle/>
          <a:p>
            <a:pPr marL="0" indent="0">
              <a:buNone/>
            </a:pPr>
            <a:r>
              <a:rPr lang="en-US" sz="1100" dirty="0">
                <a:solidFill>
                  <a:srgbClr val="9DB2CC"/>
                </a:solidFill>
                <a:latin typeface="Calibri" pitchFamily="34" charset="0"/>
                <a:ea typeface="Calibri" pitchFamily="34" charset="-122"/>
                <a:cs typeface="Calibri" pitchFamily="34" charset="-120"/>
              </a:rPr>
              <a:t>392,068 known phishing domains</a:t>
            </a:r>
            <a:endParaRPr lang="en-US" sz="1100" dirty="0"/>
          </a:p>
        </p:txBody>
      </p:sp>
      <p:sp>
        <p:nvSpPr>
          <p:cNvPr id="20" name="Shape 15"/>
          <p:cNvSpPr/>
          <p:nvPr/>
        </p:nvSpPr>
        <p:spPr>
          <a:xfrm>
            <a:off x="6766560" y="1280160"/>
            <a:ext cx="1920240" cy="1554480"/>
          </a:xfrm>
          <a:prstGeom prst="roundRect">
            <a:avLst>
              <a:gd name="adj" fmla="val 4706"/>
            </a:avLst>
          </a:prstGeom>
          <a:solidFill>
            <a:srgbClr val="0F2036"/>
          </a:solidFill>
          <a:ln w="12700">
            <a:solidFill>
              <a:srgbClr val="1D3A5C"/>
            </a:solidFill>
            <a:prstDash val="solid"/>
          </a:ln>
        </p:spPr>
      </p:sp>
      <p:sp>
        <p:nvSpPr>
          <p:cNvPr id="21" name="Shape 16"/>
          <p:cNvSpPr/>
          <p:nvPr/>
        </p:nvSpPr>
        <p:spPr>
          <a:xfrm>
            <a:off x="6931152" y="1444752"/>
            <a:ext cx="502920" cy="502920"/>
          </a:xfrm>
          <a:prstGeom prst="ellipse">
            <a:avLst/>
          </a:prstGeom>
          <a:solidFill>
            <a:srgbClr val="0C2233"/>
          </a:solidFill>
          <a:ln w="15875">
            <a:solidFill>
              <a:srgbClr val="2DE2C0"/>
            </a:solidFill>
            <a:prstDash val="solid"/>
          </a:ln>
        </p:spPr>
      </p:sp>
      <p:pic>
        <p:nvPicPr>
          <p:cNvPr id="22" name="Image 3" descr="preencoded.png"/>
          <p:cNvPicPr>
            <a:picLocks noChangeAspect="1"/>
          </p:cNvPicPr>
          <p:nvPr/>
        </p:nvPicPr>
        <p:blipFill>
          <a:blip r:embed="rId7"/>
          <a:stretch>
            <a:fillRect/>
          </a:stretch>
        </p:blipFill>
        <p:spPr>
          <a:xfrm>
            <a:off x="7061911" y="1575511"/>
            <a:ext cx="241402" cy="241402"/>
          </a:xfrm>
          <a:prstGeom prst="rect">
            <a:avLst/>
          </a:prstGeom>
        </p:spPr>
      </p:pic>
      <p:sp>
        <p:nvSpPr>
          <p:cNvPr id="23" name="Text 17"/>
          <p:cNvSpPr txBox="1"/>
          <p:nvPr/>
        </p:nvSpPr>
        <p:spPr>
          <a:xfrm>
            <a:off x="6931152" y="2057400"/>
            <a:ext cx="1645920" cy="274320"/>
          </a:xfrm>
          <a:prstGeom prst="rect">
            <a:avLst/>
          </a:prstGeom>
          <a:noFill/>
          <a:ln/>
        </p:spPr>
        <p:txBody>
          <a:bodyPr wrap="square" lIns="0" tIns="0" rIns="0" bIns="0" rtlCol="0" anchor="ctr"/>
          <a:lstStyle/>
          <a:p>
            <a:pPr marL="0" indent="0">
              <a:buNone/>
            </a:pPr>
            <a:r>
              <a:rPr lang="en-US" sz="1300" b="1" dirty="0">
                <a:solidFill>
                  <a:srgbClr val="EAF2FF"/>
                </a:solidFill>
                <a:latin typeface="Calibri" pitchFamily="34" charset="0"/>
                <a:ea typeface="Calibri" pitchFamily="34" charset="-122"/>
                <a:cs typeface="Calibri" pitchFamily="34" charset="-120"/>
              </a:rPr>
              <a:t>Live preview</a:t>
            </a:r>
            <a:endParaRPr lang="en-US" sz="1300" dirty="0"/>
          </a:p>
        </p:txBody>
      </p:sp>
      <p:sp>
        <p:nvSpPr>
          <p:cNvPr id="24" name="Text 18"/>
          <p:cNvSpPr txBox="1"/>
          <p:nvPr/>
        </p:nvSpPr>
        <p:spPr>
          <a:xfrm>
            <a:off x="6931152" y="2350008"/>
            <a:ext cx="1645920" cy="384048"/>
          </a:xfrm>
          <a:prstGeom prst="rect">
            <a:avLst/>
          </a:prstGeom>
          <a:noFill/>
          <a:ln/>
        </p:spPr>
        <p:txBody>
          <a:bodyPr wrap="square" lIns="0" tIns="0" rIns="0" bIns="0" rtlCol="0" anchor="t"/>
          <a:lstStyle/>
          <a:p>
            <a:pPr marL="0" indent="0">
              <a:buNone/>
            </a:pPr>
            <a:r>
              <a:rPr lang="en-US" sz="1100" dirty="0">
                <a:solidFill>
                  <a:srgbClr val="9DB2CC"/>
                </a:solidFill>
                <a:latin typeface="Calibri" pitchFamily="34" charset="0"/>
                <a:ea typeface="Calibri" pitchFamily="34" charset="-122"/>
                <a:cs typeface="Calibri" pitchFamily="34" charset="-120"/>
              </a:rPr>
              <a:t>Score updates as you type</a:t>
            </a:r>
            <a:endParaRPr lang="en-US" sz="1100" dirty="0"/>
          </a:p>
        </p:txBody>
      </p:sp>
      <p:sp>
        <p:nvSpPr>
          <p:cNvPr id="25" name="Shape 19"/>
          <p:cNvSpPr/>
          <p:nvPr/>
        </p:nvSpPr>
        <p:spPr>
          <a:xfrm>
            <a:off x="457200" y="3017520"/>
            <a:ext cx="1920240" cy="1554480"/>
          </a:xfrm>
          <a:prstGeom prst="roundRect">
            <a:avLst>
              <a:gd name="adj" fmla="val 4706"/>
            </a:avLst>
          </a:prstGeom>
          <a:solidFill>
            <a:srgbClr val="0F2036"/>
          </a:solidFill>
          <a:ln w="12700">
            <a:solidFill>
              <a:srgbClr val="1D3A5C"/>
            </a:solidFill>
            <a:prstDash val="solid"/>
          </a:ln>
        </p:spPr>
      </p:sp>
      <p:sp>
        <p:nvSpPr>
          <p:cNvPr id="26" name="Shape 20"/>
          <p:cNvSpPr/>
          <p:nvPr/>
        </p:nvSpPr>
        <p:spPr>
          <a:xfrm>
            <a:off x="621792" y="3182112"/>
            <a:ext cx="502920" cy="502920"/>
          </a:xfrm>
          <a:prstGeom prst="ellipse">
            <a:avLst/>
          </a:prstGeom>
          <a:solidFill>
            <a:srgbClr val="0C2233"/>
          </a:solidFill>
          <a:ln w="15875">
            <a:solidFill>
              <a:srgbClr val="2DE2C0"/>
            </a:solidFill>
            <a:prstDash val="solid"/>
          </a:ln>
        </p:spPr>
      </p:sp>
      <p:pic>
        <p:nvPicPr>
          <p:cNvPr id="27" name="Image 4" descr="preencoded.png"/>
          <p:cNvPicPr>
            <a:picLocks noChangeAspect="1"/>
          </p:cNvPicPr>
          <p:nvPr/>
        </p:nvPicPr>
        <p:blipFill>
          <a:blip r:embed="rId8"/>
          <a:stretch>
            <a:fillRect/>
          </a:stretch>
        </p:blipFill>
        <p:spPr>
          <a:xfrm>
            <a:off x="752551" y="3312871"/>
            <a:ext cx="241402" cy="241402"/>
          </a:xfrm>
          <a:prstGeom prst="rect">
            <a:avLst/>
          </a:prstGeom>
        </p:spPr>
      </p:pic>
      <p:sp>
        <p:nvSpPr>
          <p:cNvPr id="28" name="Text 21"/>
          <p:cNvSpPr txBox="1"/>
          <p:nvPr/>
        </p:nvSpPr>
        <p:spPr>
          <a:xfrm>
            <a:off x="621792" y="3794760"/>
            <a:ext cx="1645920" cy="274320"/>
          </a:xfrm>
          <a:prstGeom prst="rect">
            <a:avLst/>
          </a:prstGeom>
          <a:noFill/>
          <a:ln/>
        </p:spPr>
        <p:txBody>
          <a:bodyPr wrap="square" lIns="0" tIns="0" rIns="0" bIns="0" rtlCol="0" anchor="ctr"/>
          <a:lstStyle/>
          <a:p>
            <a:pPr marL="0" indent="0">
              <a:buNone/>
            </a:pPr>
            <a:r>
              <a:rPr lang="en-US" sz="1300" b="1" dirty="0">
                <a:solidFill>
                  <a:srgbClr val="EAF2FF"/>
                </a:solidFill>
                <a:latin typeface="Calibri" pitchFamily="34" charset="0"/>
                <a:ea typeface="Calibri" pitchFamily="34" charset="-122"/>
                <a:cs typeface="Calibri" pitchFamily="34" charset="-120"/>
              </a:rPr>
              <a:t>Warning highlighter</a:t>
            </a:r>
            <a:endParaRPr lang="en-US" sz="1300" dirty="0"/>
          </a:p>
        </p:txBody>
      </p:sp>
      <p:sp>
        <p:nvSpPr>
          <p:cNvPr id="29" name="Text 22"/>
          <p:cNvSpPr txBox="1"/>
          <p:nvPr/>
        </p:nvSpPr>
        <p:spPr>
          <a:xfrm>
            <a:off x="621792" y="4087368"/>
            <a:ext cx="1645920" cy="384048"/>
          </a:xfrm>
          <a:prstGeom prst="rect">
            <a:avLst/>
          </a:prstGeom>
          <a:noFill/>
          <a:ln/>
        </p:spPr>
        <p:txBody>
          <a:bodyPr wrap="square" lIns="0" tIns="0" rIns="0" bIns="0" rtlCol="0" anchor="t"/>
          <a:lstStyle/>
          <a:p>
            <a:pPr marL="0" indent="0">
              <a:buNone/>
            </a:pPr>
            <a:r>
              <a:rPr lang="en-US" sz="1100" dirty="0">
                <a:solidFill>
                  <a:srgbClr val="9DB2CC"/>
                </a:solidFill>
                <a:latin typeface="Calibri" pitchFamily="34" charset="0"/>
                <a:ea typeface="Calibri" pitchFamily="34" charset="-122"/>
                <a:cs typeface="Calibri" pitchFamily="34" charset="-120"/>
              </a:rPr>
              <a:t>Marks risky links and words</a:t>
            </a:r>
            <a:endParaRPr lang="en-US" sz="1100" dirty="0"/>
          </a:p>
        </p:txBody>
      </p:sp>
      <p:sp>
        <p:nvSpPr>
          <p:cNvPr id="30" name="Shape 23"/>
          <p:cNvSpPr/>
          <p:nvPr/>
        </p:nvSpPr>
        <p:spPr>
          <a:xfrm>
            <a:off x="2560320" y="3017520"/>
            <a:ext cx="1920240" cy="1554480"/>
          </a:xfrm>
          <a:prstGeom prst="roundRect">
            <a:avLst>
              <a:gd name="adj" fmla="val 4706"/>
            </a:avLst>
          </a:prstGeom>
          <a:solidFill>
            <a:srgbClr val="0F2036"/>
          </a:solidFill>
          <a:ln w="12700">
            <a:solidFill>
              <a:srgbClr val="1D3A5C"/>
            </a:solidFill>
            <a:prstDash val="solid"/>
          </a:ln>
        </p:spPr>
      </p:sp>
      <p:sp>
        <p:nvSpPr>
          <p:cNvPr id="31" name="Shape 24"/>
          <p:cNvSpPr/>
          <p:nvPr/>
        </p:nvSpPr>
        <p:spPr>
          <a:xfrm>
            <a:off x="2724912" y="3182112"/>
            <a:ext cx="502920" cy="502920"/>
          </a:xfrm>
          <a:prstGeom prst="ellipse">
            <a:avLst/>
          </a:prstGeom>
          <a:solidFill>
            <a:srgbClr val="0C2233"/>
          </a:solidFill>
          <a:ln w="15875">
            <a:solidFill>
              <a:srgbClr val="2DE2C0"/>
            </a:solidFill>
            <a:prstDash val="solid"/>
          </a:ln>
        </p:spPr>
      </p:sp>
      <p:pic>
        <p:nvPicPr>
          <p:cNvPr id="32" name="Image 5" descr="preencoded.png"/>
          <p:cNvPicPr>
            <a:picLocks noChangeAspect="1"/>
          </p:cNvPicPr>
          <p:nvPr/>
        </p:nvPicPr>
        <p:blipFill>
          <a:blip r:embed="rId9"/>
          <a:stretch>
            <a:fillRect/>
          </a:stretch>
        </p:blipFill>
        <p:spPr>
          <a:xfrm>
            <a:off x="2855671" y="3312871"/>
            <a:ext cx="241402" cy="241402"/>
          </a:xfrm>
          <a:prstGeom prst="rect">
            <a:avLst/>
          </a:prstGeom>
        </p:spPr>
      </p:pic>
      <p:sp>
        <p:nvSpPr>
          <p:cNvPr id="33" name="Text 25"/>
          <p:cNvSpPr txBox="1"/>
          <p:nvPr/>
        </p:nvSpPr>
        <p:spPr>
          <a:xfrm>
            <a:off x="2724912" y="3794760"/>
            <a:ext cx="1645920" cy="274320"/>
          </a:xfrm>
          <a:prstGeom prst="rect">
            <a:avLst/>
          </a:prstGeom>
          <a:noFill/>
          <a:ln/>
        </p:spPr>
        <p:txBody>
          <a:bodyPr wrap="square" lIns="0" tIns="0" rIns="0" bIns="0" rtlCol="0" anchor="ctr"/>
          <a:lstStyle/>
          <a:p>
            <a:pPr marL="0" indent="0">
              <a:buNone/>
            </a:pPr>
            <a:r>
              <a:rPr lang="en-US" sz="1300" b="1" dirty="0">
                <a:solidFill>
                  <a:srgbClr val="EAF2FF"/>
                </a:solidFill>
                <a:latin typeface="Calibri" pitchFamily="34" charset="0"/>
                <a:ea typeface="Calibri" pitchFamily="34" charset="-122"/>
                <a:cs typeface="Calibri" pitchFamily="34" charset="-120"/>
              </a:rPr>
              <a:t>History and export</a:t>
            </a:r>
            <a:endParaRPr lang="en-US" sz="1300" dirty="0"/>
          </a:p>
        </p:txBody>
      </p:sp>
      <p:sp>
        <p:nvSpPr>
          <p:cNvPr id="34" name="Text 26"/>
          <p:cNvSpPr txBox="1"/>
          <p:nvPr/>
        </p:nvSpPr>
        <p:spPr>
          <a:xfrm>
            <a:off x="2724912" y="4087368"/>
            <a:ext cx="1645920" cy="384048"/>
          </a:xfrm>
          <a:prstGeom prst="rect">
            <a:avLst/>
          </a:prstGeom>
          <a:noFill/>
          <a:ln/>
        </p:spPr>
        <p:txBody>
          <a:bodyPr wrap="square" lIns="0" tIns="0" rIns="0" bIns="0" rtlCol="0" anchor="t"/>
          <a:lstStyle/>
          <a:p>
            <a:pPr marL="0" indent="0">
              <a:buNone/>
            </a:pPr>
            <a:r>
              <a:rPr lang="en-US" sz="1100" dirty="0">
                <a:solidFill>
                  <a:srgbClr val="9DB2CC"/>
                </a:solidFill>
                <a:latin typeface="Calibri" pitchFamily="34" charset="0"/>
                <a:ea typeface="Calibri" pitchFamily="34" charset="-122"/>
                <a:cs typeface="Calibri" pitchFamily="34" charset="-120"/>
              </a:rPr>
              <a:t>SQLite records, CSV download</a:t>
            </a:r>
            <a:endParaRPr lang="en-US" sz="1100" dirty="0"/>
          </a:p>
        </p:txBody>
      </p:sp>
      <p:sp>
        <p:nvSpPr>
          <p:cNvPr id="35" name="Shape 27"/>
          <p:cNvSpPr/>
          <p:nvPr/>
        </p:nvSpPr>
        <p:spPr>
          <a:xfrm>
            <a:off x="4663440" y="3017520"/>
            <a:ext cx="1920240" cy="1554480"/>
          </a:xfrm>
          <a:prstGeom prst="roundRect">
            <a:avLst>
              <a:gd name="adj" fmla="val 4706"/>
            </a:avLst>
          </a:prstGeom>
          <a:solidFill>
            <a:srgbClr val="0F2036"/>
          </a:solidFill>
          <a:ln w="12700">
            <a:solidFill>
              <a:srgbClr val="1D3A5C"/>
            </a:solidFill>
            <a:prstDash val="solid"/>
          </a:ln>
        </p:spPr>
      </p:sp>
      <p:sp>
        <p:nvSpPr>
          <p:cNvPr id="36" name="Shape 28"/>
          <p:cNvSpPr/>
          <p:nvPr/>
        </p:nvSpPr>
        <p:spPr>
          <a:xfrm>
            <a:off x="4828032" y="3182112"/>
            <a:ext cx="502920" cy="502920"/>
          </a:xfrm>
          <a:prstGeom prst="ellipse">
            <a:avLst/>
          </a:prstGeom>
          <a:solidFill>
            <a:srgbClr val="0C2233"/>
          </a:solidFill>
          <a:ln w="15875">
            <a:solidFill>
              <a:srgbClr val="2DE2C0"/>
            </a:solidFill>
            <a:prstDash val="solid"/>
          </a:ln>
        </p:spPr>
      </p:sp>
      <p:pic>
        <p:nvPicPr>
          <p:cNvPr id="37" name="Image 6" descr="preencoded.png"/>
          <p:cNvPicPr>
            <a:picLocks noChangeAspect="1"/>
          </p:cNvPicPr>
          <p:nvPr/>
        </p:nvPicPr>
        <p:blipFill>
          <a:blip r:embed="rId10"/>
          <a:stretch>
            <a:fillRect/>
          </a:stretch>
        </p:blipFill>
        <p:spPr>
          <a:xfrm>
            <a:off x="4958791" y="3312871"/>
            <a:ext cx="241402" cy="241402"/>
          </a:xfrm>
          <a:prstGeom prst="rect">
            <a:avLst/>
          </a:prstGeom>
        </p:spPr>
      </p:pic>
      <p:sp>
        <p:nvSpPr>
          <p:cNvPr id="38" name="Text 29"/>
          <p:cNvSpPr txBox="1"/>
          <p:nvPr/>
        </p:nvSpPr>
        <p:spPr>
          <a:xfrm>
            <a:off x="4828032" y="3794760"/>
            <a:ext cx="1645920" cy="274320"/>
          </a:xfrm>
          <a:prstGeom prst="rect">
            <a:avLst/>
          </a:prstGeom>
          <a:noFill/>
          <a:ln/>
        </p:spPr>
        <p:txBody>
          <a:bodyPr wrap="square" lIns="0" tIns="0" rIns="0" bIns="0" rtlCol="0" anchor="ctr"/>
          <a:lstStyle/>
          <a:p>
            <a:pPr marL="0" indent="0">
              <a:buNone/>
            </a:pPr>
            <a:r>
              <a:rPr lang="en-US" sz="1300" b="1" dirty="0">
                <a:solidFill>
                  <a:srgbClr val="EAF2FF"/>
                </a:solidFill>
                <a:latin typeface="Calibri" pitchFamily="34" charset="0"/>
                <a:ea typeface="Calibri" pitchFamily="34" charset="-122"/>
                <a:cs typeface="Calibri" pitchFamily="34" charset="-120"/>
              </a:rPr>
              <a:t>REST API</a:t>
            </a:r>
            <a:endParaRPr lang="en-US" sz="1300" dirty="0"/>
          </a:p>
        </p:txBody>
      </p:sp>
      <p:sp>
        <p:nvSpPr>
          <p:cNvPr id="39" name="Text 30"/>
          <p:cNvSpPr txBox="1"/>
          <p:nvPr/>
        </p:nvSpPr>
        <p:spPr>
          <a:xfrm>
            <a:off x="4828032" y="4087368"/>
            <a:ext cx="1645920" cy="384048"/>
          </a:xfrm>
          <a:prstGeom prst="rect">
            <a:avLst/>
          </a:prstGeom>
          <a:noFill/>
          <a:ln/>
        </p:spPr>
        <p:txBody>
          <a:bodyPr wrap="square" lIns="0" tIns="0" rIns="0" bIns="0" rtlCol="0" anchor="t"/>
          <a:lstStyle/>
          <a:p>
            <a:pPr marL="0" indent="0">
              <a:buNone/>
            </a:pPr>
            <a:r>
              <a:rPr lang="en-US" sz="1100" dirty="0">
                <a:solidFill>
                  <a:srgbClr val="9DB2CC"/>
                </a:solidFill>
                <a:latin typeface="Calibri" pitchFamily="34" charset="0"/>
                <a:ea typeface="Calibri" pitchFamily="34" charset="-122"/>
                <a:cs typeface="Calibri" pitchFamily="34" charset="-120"/>
              </a:rPr>
              <a:t>Key-protected scan endpoints</a:t>
            </a:r>
            <a:endParaRPr lang="en-US" sz="1100" dirty="0"/>
          </a:p>
        </p:txBody>
      </p:sp>
      <p:sp>
        <p:nvSpPr>
          <p:cNvPr id="40" name="Shape 31"/>
          <p:cNvSpPr/>
          <p:nvPr/>
        </p:nvSpPr>
        <p:spPr>
          <a:xfrm>
            <a:off x="6766560" y="3017520"/>
            <a:ext cx="1920240" cy="1554480"/>
          </a:xfrm>
          <a:prstGeom prst="roundRect">
            <a:avLst>
              <a:gd name="adj" fmla="val 4706"/>
            </a:avLst>
          </a:prstGeom>
          <a:solidFill>
            <a:srgbClr val="0F2036"/>
          </a:solidFill>
          <a:ln w="12700">
            <a:solidFill>
              <a:srgbClr val="1D3A5C"/>
            </a:solidFill>
            <a:prstDash val="solid"/>
          </a:ln>
        </p:spPr>
      </p:sp>
      <p:sp>
        <p:nvSpPr>
          <p:cNvPr id="41" name="Shape 32"/>
          <p:cNvSpPr/>
          <p:nvPr/>
        </p:nvSpPr>
        <p:spPr>
          <a:xfrm>
            <a:off x="6931152" y="3182112"/>
            <a:ext cx="502920" cy="502920"/>
          </a:xfrm>
          <a:prstGeom prst="ellipse">
            <a:avLst/>
          </a:prstGeom>
          <a:solidFill>
            <a:srgbClr val="0C2233"/>
          </a:solidFill>
          <a:ln w="15875">
            <a:solidFill>
              <a:srgbClr val="2DE2C0"/>
            </a:solidFill>
            <a:prstDash val="solid"/>
          </a:ln>
        </p:spPr>
      </p:sp>
      <p:pic>
        <p:nvPicPr>
          <p:cNvPr id="42" name="Image 7" descr="preencoded.png"/>
          <p:cNvPicPr>
            <a:picLocks noChangeAspect="1"/>
          </p:cNvPicPr>
          <p:nvPr/>
        </p:nvPicPr>
        <p:blipFill>
          <a:blip r:embed="rId11"/>
          <a:stretch>
            <a:fillRect/>
          </a:stretch>
        </p:blipFill>
        <p:spPr>
          <a:xfrm>
            <a:off x="7061911" y="3312871"/>
            <a:ext cx="241402" cy="241402"/>
          </a:xfrm>
          <a:prstGeom prst="rect">
            <a:avLst/>
          </a:prstGeom>
        </p:spPr>
      </p:pic>
      <p:sp>
        <p:nvSpPr>
          <p:cNvPr id="43" name="Text 33"/>
          <p:cNvSpPr txBox="1"/>
          <p:nvPr/>
        </p:nvSpPr>
        <p:spPr>
          <a:xfrm>
            <a:off x="6931152" y="3794760"/>
            <a:ext cx="1645920" cy="274320"/>
          </a:xfrm>
          <a:prstGeom prst="rect">
            <a:avLst/>
          </a:prstGeom>
          <a:noFill/>
          <a:ln/>
        </p:spPr>
        <p:txBody>
          <a:bodyPr wrap="square" lIns="0" tIns="0" rIns="0" bIns="0" rtlCol="0" anchor="ctr"/>
          <a:lstStyle/>
          <a:p>
            <a:pPr marL="0" indent="0">
              <a:buNone/>
            </a:pPr>
            <a:r>
              <a:rPr lang="en-US" sz="1300" b="1" dirty="0">
                <a:solidFill>
                  <a:srgbClr val="EAF2FF"/>
                </a:solidFill>
                <a:latin typeface="Calibri" pitchFamily="34" charset="0"/>
                <a:ea typeface="Calibri" pitchFamily="34" charset="-122"/>
                <a:cs typeface="Calibri" pitchFamily="34" charset="-120"/>
              </a:rPr>
              <a:t>Learns from feedback</a:t>
            </a:r>
            <a:endParaRPr lang="en-US" sz="1300" dirty="0"/>
          </a:p>
        </p:txBody>
      </p:sp>
      <p:sp>
        <p:nvSpPr>
          <p:cNvPr id="44" name="Text 34"/>
          <p:cNvSpPr txBox="1"/>
          <p:nvPr/>
        </p:nvSpPr>
        <p:spPr>
          <a:xfrm>
            <a:off x="6931152" y="4087368"/>
            <a:ext cx="1645920" cy="384048"/>
          </a:xfrm>
          <a:prstGeom prst="rect">
            <a:avLst/>
          </a:prstGeom>
          <a:noFill/>
          <a:ln/>
        </p:spPr>
        <p:txBody>
          <a:bodyPr wrap="square" lIns="0" tIns="0" rIns="0" bIns="0" rtlCol="0" anchor="t"/>
          <a:lstStyle/>
          <a:p>
            <a:pPr marL="0" indent="0">
              <a:buNone/>
            </a:pPr>
            <a:r>
              <a:rPr lang="en-US" sz="1100" dirty="0">
                <a:solidFill>
                  <a:srgbClr val="9DB2CC"/>
                </a:solidFill>
                <a:latin typeface="Calibri" pitchFamily="34" charset="0"/>
                <a:ea typeface="Calibri" pitchFamily="34" charset="-122"/>
                <a:cs typeface="Calibri" pitchFamily="34" charset="-120"/>
              </a:rPr>
              <a:t>Retrain on your corrections</a:t>
            </a:r>
            <a:endParaRPr lang="en-US" sz="1100" dirty="0"/>
          </a:p>
        </p:txBody>
      </p:sp>
    </p:spTree>
  </p:cSld>
  <p:clrMapOvr>
    <a:masterClrMapping/>
  </p:clrMapOvr>
  <p:transition spd="med">
    <p:push/>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rgbClr val="2DE2C0"/>
                </a:solidFill>
                <a:latin typeface="Courier New" pitchFamily="34" charset="0"/>
                <a:ea typeface="Courier New" pitchFamily="34" charset="-122"/>
                <a:cs typeface="Courier New" pitchFamily="34" charset="-120"/>
              </a:rPr>
              <a:t>// 07  DETECTION METHODOLOGY</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b="1" dirty="0">
                <a:solidFill>
                  <a:srgbClr val="EAF2FF"/>
                </a:solidFill>
                <a:latin typeface="Calibri" pitchFamily="34" charset="0"/>
                <a:ea typeface="Calibri" pitchFamily="34" charset="-122"/>
                <a:cs typeface="Calibri" pitchFamily="34" charset="-120"/>
              </a:rPr>
              <a:t>Four layers work together</a:t>
            </a:r>
            <a:endParaRPr lang="en-US" sz="3000" dirty="0"/>
          </a:p>
        </p:txBody>
      </p:sp>
      <p:sp>
        <p:nvSpPr>
          <p:cNvPr id="4" name="Text 2"/>
          <p:cNvSpPr txBox="1"/>
          <p:nvPr/>
        </p:nvSpPr>
        <p:spPr>
          <a:xfrm>
            <a:off x="7498080" y="4864608"/>
            <a:ext cx="1188720" cy="182880"/>
          </a:xfrm>
          <a:prstGeom prst="rect">
            <a:avLst/>
          </a:prstGeom>
          <a:noFill/>
          <a:ln/>
        </p:spPr>
        <p:txBody>
          <a:bodyPr wrap="square" lIns="0" tIns="0" rIns="0" bIns="0" rtlCol="0" anchor="ctr"/>
          <a:lstStyle/>
          <a:p>
            <a:pPr marL="0" indent="0" algn="r">
              <a:buNone/>
            </a:pPr>
            <a:r>
              <a:rPr lang="en-US" sz="900" dirty="0">
                <a:solidFill>
                  <a:srgbClr val="9DB2CC"/>
                </a:solidFill>
                <a:latin typeface="Courier New" pitchFamily="34" charset="0"/>
                <a:ea typeface="Courier New" pitchFamily="34" charset="-122"/>
                <a:cs typeface="Courier New" pitchFamily="34" charset="-120"/>
              </a:rPr>
              <a:t>07 / 15</a:t>
            </a:r>
            <a:endParaRPr lang="en-US" sz="900" dirty="0"/>
          </a:p>
        </p:txBody>
      </p:sp>
      <p:sp>
        <p:nvSpPr>
          <p:cNvPr id="5" name="Shape 3"/>
          <p:cNvSpPr/>
          <p:nvPr/>
        </p:nvSpPr>
        <p:spPr>
          <a:xfrm>
            <a:off x="457200" y="1234440"/>
            <a:ext cx="8229600" cy="804672"/>
          </a:xfrm>
          <a:prstGeom prst="roundRect">
            <a:avLst>
              <a:gd name="adj" fmla="val 9091"/>
            </a:avLst>
          </a:prstGeom>
          <a:solidFill>
            <a:srgbClr val="0F2036"/>
          </a:solidFill>
          <a:ln w="12700">
            <a:solidFill>
              <a:srgbClr val="1D3A5C"/>
            </a:solidFill>
            <a:prstDash val="solid"/>
          </a:ln>
        </p:spPr>
      </p:sp>
      <p:sp>
        <p:nvSpPr>
          <p:cNvPr id="6" name="Shape 4"/>
          <p:cNvSpPr/>
          <p:nvPr/>
        </p:nvSpPr>
        <p:spPr>
          <a:xfrm>
            <a:off x="640080" y="1380744"/>
            <a:ext cx="512064" cy="512064"/>
          </a:xfrm>
          <a:prstGeom prst="ellipse">
            <a:avLst/>
          </a:prstGeom>
          <a:solidFill>
            <a:srgbClr val="0C2233"/>
          </a:solidFill>
          <a:ln w="15875">
            <a:solidFill>
              <a:srgbClr val="2DE2C0"/>
            </a:solidFill>
            <a:prstDash val="solid"/>
          </a:ln>
        </p:spPr>
      </p:sp>
      <p:pic>
        <p:nvPicPr>
          <p:cNvPr id="7" name="Image 0" descr="preencoded.png"/>
          <p:cNvPicPr>
            <a:picLocks noChangeAspect="1"/>
          </p:cNvPicPr>
          <p:nvPr/>
        </p:nvPicPr>
        <p:blipFill>
          <a:blip r:embed="rId4"/>
          <a:stretch>
            <a:fillRect/>
          </a:stretch>
        </p:blipFill>
        <p:spPr>
          <a:xfrm>
            <a:off x="773217" y="1513881"/>
            <a:ext cx="245791" cy="245791"/>
          </a:xfrm>
          <a:prstGeom prst="rect">
            <a:avLst/>
          </a:prstGeom>
        </p:spPr>
      </p:pic>
      <p:sp>
        <p:nvSpPr>
          <p:cNvPr id="8" name="Text 5"/>
          <p:cNvSpPr txBox="1"/>
          <p:nvPr/>
        </p:nvSpPr>
        <p:spPr>
          <a:xfrm>
            <a:off x="1371600" y="1234440"/>
            <a:ext cx="2011680" cy="804672"/>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Text model</a:t>
            </a:r>
            <a:endParaRPr lang="en-US" sz="1400" dirty="0"/>
          </a:p>
        </p:txBody>
      </p:sp>
      <p:sp>
        <p:nvSpPr>
          <p:cNvPr id="9" name="Text 6"/>
          <p:cNvSpPr txBox="1"/>
          <p:nvPr/>
        </p:nvSpPr>
        <p:spPr>
          <a:xfrm>
            <a:off x="3474720" y="1234440"/>
            <a:ext cx="3383280" cy="804672"/>
          </a:xfrm>
          <a:prstGeom prst="rect">
            <a:avLst/>
          </a:prstGeom>
          <a:noFill/>
          <a:ln/>
        </p:spPr>
        <p:txBody>
          <a:bodyPr wrap="square" lIns="0" tIns="0" rIns="0" bIns="0" rtlCol="0" anchor="ctr"/>
          <a:lstStyle/>
          <a:p>
            <a:pPr marL="0" indent="0">
              <a:buNone/>
            </a:pPr>
            <a:r>
              <a:rPr lang="en-US" sz="1100" dirty="0">
                <a:solidFill>
                  <a:srgbClr val="9DB2CC"/>
                </a:solidFill>
                <a:latin typeface="Calibri" pitchFamily="34" charset="0"/>
                <a:ea typeface="Calibri" pitchFamily="34" charset="-122"/>
                <a:cs typeface="Calibri" pitchFamily="34" charset="-120"/>
              </a:rPr>
              <a:t>TF-IDF word pairs plus URL and urgency features feed a Logistic Regression classifier.</a:t>
            </a:r>
            <a:endParaRPr lang="en-US" sz="1100" dirty="0"/>
          </a:p>
        </p:txBody>
      </p:sp>
      <p:sp>
        <p:nvSpPr>
          <p:cNvPr id="10" name="Shape 7"/>
          <p:cNvSpPr/>
          <p:nvPr/>
        </p:nvSpPr>
        <p:spPr>
          <a:xfrm>
            <a:off x="7040880" y="1453896"/>
            <a:ext cx="1508760" cy="365760"/>
          </a:xfrm>
          <a:prstGeom prst="roundRect">
            <a:avLst>
              <a:gd name="adj" fmla="val 50000"/>
            </a:avLst>
          </a:prstGeom>
          <a:solidFill>
            <a:srgbClr val="0C2233"/>
          </a:solidFill>
          <a:ln w="12700">
            <a:solidFill>
              <a:srgbClr val="2DE2C0"/>
            </a:solidFill>
            <a:prstDash val="solid"/>
          </a:ln>
        </p:spPr>
      </p:sp>
      <p:sp>
        <p:nvSpPr>
          <p:cNvPr id="11" name="Text 8"/>
          <p:cNvSpPr txBox="1"/>
          <p:nvPr/>
        </p:nvSpPr>
        <p:spPr>
          <a:xfrm>
            <a:off x="7040880" y="1453896"/>
            <a:ext cx="1508760" cy="365760"/>
          </a:xfrm>
          <a:prstGeom prst="rect">
            <a:avLst/>
          </a:prstGeom>
          <a:noFill/>
          <a:ln/>
        </p:spPr>
        <p:txBody>
          <a:bodyPr wrap="square" lIns="0" tIns="0" rIns="0" bIns="0" rtlCol="0" anchor="ctr"/>
          <a:lstStyle/>
          <a:p>
            <a:pPr marL="0" indent="0" algn="ctr">
              <a:buNone/>
            </a:pPr>
            <a:r>
              <a:rPr lang="en-US" sz="1050" b="1" dirty="0">
                <a:solidFill>
                  <a:srgbClr val="2DE2C0"/>
                </a:solidFill>
                <a:latin typeface="Calibri" pitchFamily="34" charset="0"/>
                <a:ea typeface="Calibri" pitchFamily="34" charset="-122"/>
                <a:cs typeface="Calibri" pitchFamily="34" charset="-120"/>
              </a:rPr>
              <a:t>Probability 0-100%</a:t>
            </a:r>
            <a:endParaRPr lang="en-US" sz="1050" dirty="0"/>
          </a:p>
        </p:txBody>
      </p:sp>
      <p:sp>
        <p:nvSpPr>
          <p:cNvPr id="12" name="Shape 9"/>
          <p:cNvSpPr/>
          <p:nvPr/>
        </p:nvSpPr>
        <p:spPr>
          <a:xfrm>
            <a:off x="457200" y="2148840"/>
            <a:ext cx="8229600" cy="804672"/>
          </a:xfrm>
          <a:prstGeom prst="roundRect">
            <a:avLst>
              <a:gd name="adj" fmla="val 9091"/>
            </a:avLst>
          </a:prstGeom>
          <a:solidFill>
            <a:srgbClr val="0F2036"/>
          </a:solidFill>
          <a:ln w="12700">
            <a:solidFill>
              <a:srgbClr val="1D3A5C"/>
            </a:solidFill>
            <a:prstDash val="solid"/>
          </a:ln>
        </p:spPr>
      </p:sp>
      <p:sp>
        <p:nvSpPr>
          <p:cNvPr id="13" name="Shape 10"/>
          <p:cNvSpPr/>
          <p:nvPr/>
        </p:nvSpPr>
        <p:spPr>
          <a:xfrm>
            <a:off x="640080" y="2295144"/>
            <a:ext cx="512064" cy="512064"/>
          </a:xfrm>
          <a:prstGeom prst="ellipse">
            <a:avLst/>
          </a:prstGeom>
          <a:solidFill>
            <a:srgbClr val="0C2233"/>
          </a:solidFill>
          <a:ln w="15875">
            <a:solidFill>
              <a:srgbClr val="2DE2C0"/>
            </a:solidFill>
            <a:prstDash val="solid"/>
          </a:ln>
        </p:spPr>
      </p:sp>
      <p:pic>
        <p:nvPicPr>
          <p:cNvPr id="14" name="Image 1" descr="preencoded.png"/>
          <p:cNvPicPr>
            <a:picLocks noChangeAspect="1"/>
          </p:cNvPicPr>
          <p:nvPr/>
        </p:nvPicPr>
        <p:blipFill>
          <a:blip r:embed="rId5"/>
          <a:stretch>
            <a:fillRect/>
          </a:stretch>
        </p:blipFill>
        <p:spPr>
          <a:xfrm>
            <a:off x="773217" y="2428281"/>
            <a:ext cx="245791" cy="245791"/>
          </a:xfrm>
          <a:prstGeom prst="rect">
            <a:avLst/>
          </a:prstGeom>
        </p:spPr>
      </p:pic>
      <p:sp>
        <p:nvSpPr>
          <p:cNvPr id="15" name="Text 11"/>
          <p:cNvSpPr txBox="1"/>
          <p:nvPr/>
        </p:nvSpPr>
        <p:spPr>
          <a:xfrm>
            <a:off x="1371600" y="2148840"/>
            <a:ext cx="2011680" cy="804672"/>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Rule engine</a:t>
            </a:r>
            <a:endParaRPr lang="en-US" sz="1400" dirty="0"/>
          </a:p>
        </p:txBody>
      </p:sp>
      <p:sp>
        <p:nvSpPr>
          <p:cNvPr id="16" name="Text 12"/>
          <p:cNvSpPr txBox="1"/>
          <p:nvPr/>
        </p:nvSpPr>
        <p:spPr>
          <a:xfrm>
            <a:off x="3474720" y="2148840"/>
            <a:ext cx="3383280" cy="804672"/>
          </a:xfrm>
          <a:prstGeom prst="rect">
            <a:avLst/>
          </a:prstGeom>
          <a:noFill/>
          <a:ln/>
        </p:spPr>
        <p:txBody>
          <a:bodyPr wrap="square" lIns="0" tIns="0" rIns="0" bIns="0" rtlCol="0" anchor="ctr"/>
          <a:lstStyle/>
          <a:p>
            <a:pPr marL="0" indent="0">
              <a:buNone/>
            </a:pPr>
            <a:r>
              <a:rPr lang="en-US" sz="1100" dirty="0">
                <a:solidFill>
                  <a:srgbClr val="9DB2CC"/>
                </a:solidFill>
                <a:latin typeface="Calibri" pitchFamily="34" charset="0"/>
                <a:ea typeface="Calibri" pitchFamily="34" charset="-122"/>
                <a:cs typeface="Calibri" pitchFamily="34" charset="-120"/>
              </a:rPr>
              <a:t>Checks IP links, shorteners, lookalike domains, urgency words, spoofed senders and .eml header signals.</a:t>
            </a:r>
            <a:endParaRPr lang="en-US" sz="1100" dirty="0"/>
          </a:p>
        </p:txBody>
      </p:sp>
      <p:sp>
        <p:nvSpPr>
          <p:cNvPr id="17" name="Shape 13"/>
          <p:cNvSpPr/>
          <p:nvPr/>
        </p:nvSpPr>
        <p:spPr>
          <a:xfrm>
            <a:off x="7040880" y="2368296"/>
            <a:ext cx="1508760" cy="365760"/>
          </a:xfrm>
          <a:prstGeom prst="roundRect">
            <a:avLst>
              <a:gd name="adj" fmla="val 50000"/>
            </a:avLst>
          </a:prstGeom>
          <a:solidFill>
            <a:srgbClr val="0C2233"/>
          </a:solidFill>
          <a:ln w="12700">
            <a:solidFill>
              <a:srgbClr val="2DE2C0"/>
            </a:solidFill>
            <a:prstDash val="solid"/>
          </a:ln>
        </p:spPr>
      </p:sp>
      <p:sp>
        <p:nvSpPr>
          <p:cNvPr id="18" name="Text 14"/>
          <p:cNvSpPr txBox="1"/>
          <p:nvPr/>
        </p:nvSpPr>
        <p:spPr>
          <a:xfrm>
            <a:off x="7040880" y="2368296"/>
            <a:ext cx="1508760" cy="365760"/>
          </a:xfrm>
          <a:prstGeom prst="rect">
            <a:avLst/>
          </a:prstGeom>
          <a:noFill/>
          <a:ln/>
        </p:spPr>
        <p:txBody>
          <a:bodyPr wrap="square" lIns="0" tIns="0" rIns="0" bIns="0" rtlCol="0" anchor="ctr"/>
          <a:lstStyle/>
          <a:p>
            <a:pPr marL="0" indent="0" algn="ctr">
              <a:buNone/>
            </a:pPr>
            <a:r>
              <a:rPr lang="en-US" sz="1050" b="1" dirty="0">
                <a:solidFill>
                  <a:srgbClr val="2DE2C0"/>
                </a:solidFill>
                <a:latin typeface="Calibri" pitchFamily="34" charset="0"/>
                <a:ea typeface="Calibri" pitchFamily="34" charset="-122"/>
                <a:cs typeface="Calibri" pitchFamily="34" charset="-120"/>
              </a:rPr>
              <a:t>Rule points 0-100</a:t>
            </a:r>
            <a:endParaRPr lang="en-US" sz="1050" dirty="0"/>
          </a:p>
        </p:txBody>
      </p:sp>
      <p:sp>
        <p:nvSpPr>
          <p:cNvPr id="19" name="Shape 15"/>
          <p:cNvSpPr/>
          <p:nvPr/>
        </p:nvSpPr>
        <p:spPr>
          <a:xfrm>
            <a:off x="457200" y="3063240"/>
            <a:ext cx="8229600" cy="804672"/>
          </a:xfrm>
          <a:prstGeom prst="roundRect">
            <a:avLst>
              <a:gd name="adj" fmla="val 9091"/>
            </a:avLst>
          </a:prstGeom>
          <a:solidFill>
            <a:srgbClr val="0F2036"/>
          </a:solidFill>
          <a:ln w="12700">
            <a:solidFill>
              <a:srgbClr val="1D3A5C"/>
            </a:solidFill>
            <a:prstDash val="solid"/>
          </a:ln>
        </p:spPr>
      </p:sp>
      <p:sp>
        <p:nvSpPr>
          <p:cNvPr id="20" name="Shape 16"/>
          <p:cNvSpPr/>
          <p:nvPr/>
        </p:nvSpPr>
        <p:spPr>
          <a:xfrm>
            <a:off x="640080" y="3209544"/>
            <a:ext cx="512064" cy="512064"/>
          </a:xfrm>
          <a:prstGeom prst="ellipse">
            <a:avLst/>
          </a:prstGeom>
          <a:solidFill>
            <a:srgbClr val="0C2233"/>
          </a:solidFill>
          <a:ln w="15875">
            <a:solidFill>
              <a:srgbClr val="FFB547"/>
            </a:solidFill>
            <a:prstDash val="solid"/>
          </a:ln>
        </p:spPr>
      </p:sp>
      <p:pic>
        <p:nvPicPr>
          <p:cNvPr id="21" name="Image 2" descr="preencoded.png"/>
          <p:cNvPicPr>
            <a:picLocks noChangeAspect="1"/>
          </p:cNvPicPr>
          <p:nvPr/>
        </p:nvPicPr>
        <p:blipFill>
          <a:blip r:embed="rId6"/>
          <a:stretch>
            <a:fillRect/>
          </a:stretch>
        </p:blipFill>
        <p:spPr>
          <a:xfrm>
            <a:off x="773217" y="3342681"/>
            <a:ext cx="245791" cy="245791"/>
          </a:xfrm>
          <a:prstGeom prst="rect">
            <a:avLst/>
          </a:prstGeom>
        </p:spPr>
      </p:pic>
      <p:sp>
        <p:nvSpPr>
          <p:cNvPr id="22" name="Text 17"/>
          <p:cNvSpPr txBox="1"/>
          <p:nvPr/>
        </p:nvSpPr>
        <p:spPr>
          <a:xfrm>
            <a:off x="1371600" y="3063240"/>
            <a:ext cx="2011680" cy="804672"/>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Threat intelligence</a:t>
            </a:r>
            <a:endParaRPr lang="en-US" sz="1400" dirty="0"/>
          </a:p>
        </p:txBody>
      </p:sp>
      <p:sp>
        <p:nvSpPr>
          <p:cNvPr id="23" name="Text 18"/>
          <p:cNvSpPr txBox="1"/>
          <p:nvPr/>
        </p:nvSpPr>
        <p:spPr>
          <a:xfrm>
            <a:off x="3474720" y="3063240"/>
            <a:ext cx="3383280" cy="804672"/>
          </a:xfrm>
          <a:prstGeom prst="rect">
            <a:avLst/>
          </a:prstGeom>
          <a:noFill/>
          <a:ln/>
        </p:spPr>
        <p:txBody>
          <a:bodyPr wrap="square" lIns="0" tIns="0" rIns="0" bIns="0" rtlCol="0" anchor="ctr"/>
          <a:lstStyle/>
          <a:p>
            <a:pPr marL="0" indent="0">
              <a:buNone/>
            </a:pPr>
            <a:r>
              <a:rPr lang="en-US" sz="1100" dirty="0">
                <a:solidFill>
                  <a:srgbClr val="9DB2CC"/>
                </a:solidFill>
                <a:latin typeface="Calibri" pitchFamily="34" charset="0"/>
                <a:ea typeface="Calibri" pitchFamily="34" charset="-122"/>
                <a:cs typeface="Calibri" pitchFamily="34" charset="-120"/>
              </a:rPr>
              <a:t>Matches links against 392,068 known phishing domains; checks domain age and SPF/DMARC when online.</a:t>
            </a:r>
            <a:endParaRPr lang="en-US" sz="1100" dirty="0"/>
          </a:p>
        </p:txBody>
      </p:sp>
      <p:sp>
        <p:nvSpPr>
          <p:cNvPr id="24" name="Shape 19"/>
          <p:cNvSpPr/>
          <p:nvPr/>
        </p:nvSpPr>
        <p:spPr>
          <a:xfrm>
            <a:off x="7040880" y="3282696"/>
            <a:ext cx="1508760" cy="365760"/>
          </a:xfrm>
          <a:prstGeom prst="roundRect">
            <a:avLst>
              <a:gd name="adj" fmla="val 50000"/>
            </a:avLst>
          </a:prstGeom>
          <a:solidFill>
            <a:srgbClr val="0C2233"/>
          </a:solidFill>
          <a:ln w="12700">
            <a:solidFill>
              <a:srgbClr val="FFB547"/>
            </a:solidFill>
            <a:prstDash val="solid"/>
          </a:ln>
        </p:spPr>
      </p:sp>
      <p:sp>
        <p:nvSpPr>
          <p:cNvPr id="25" name="Text 20"/>
          <p:cNvSpPr txBox="1"/>
          <p:nvPr/>
        </p:nvSpPr>
        <p:spPr>
          <a:xfrm>
            <a:off x="7040880" y="3282696"/>
            <a:ext cx="1508760" cy="365760"/>
          </a:xfrm>
          <a:prstGeom prst="rect">
            <a:avLst/>
          </a:prstGeom>
          <a:noFill/>
          <a:ln/>
        </p:spPr>
        <p:txBody>
          <a:bodyPr wrap="square" lIns="0" tIns="0" rIns="0" bIns="0" rtlCol="0" anchor="ctr"/>
          <a:lstStyle/>
          <a:p>
            <a:pPr marL="0" indent="0" algn="ctr">
              <a:buNone/>
            </a:pPr>
            <a:r>
              <a:rPr lang="en-US" sz="1050" b="1" dirty="0">
                <a:solidFill>
                  <a:srgbClr val="FFB547"/>
                </a:solidFill>
                <a:latin typeface="Calibri" pitchFamily="34" charset="0"/>
                <a:ea typeface="Calibri" pitchFamily="34" charset="-122"/>
                <a:cs typeface="Calibri" pitchFamily="34" charset="-120"/>
              </a:rPr>
              <a:t>Hard flag + bonus</a:t>
            </a:r>
            <a:endParaRPr lang="en-US" sz="1050" dirty="0"/>
          </a:p>
        </p:txBody>
      </p:sp>
      <p:sp>
        <p:nvSpPr>
          <p:cNvPr id="26" name="Shape 21"/>
          <p:cNvSpPr/>
          <p:nvPr/>
        </p:nvSpPr>
        <p:spPr>
          <a:xfrm>
            <a:off x="457200" y="3977640"/>
            <a:ext cx="8229600" cy="804672"/>
          </a:xfrm>
          <a:prstGeom prst="roundRect">
            <a:avLst>
              <a:gd name="adj" fmla="val 9091"/>
            </a:avLst>
          </a:prstGeom>
          <a:solidFill>
            <a:srgbClr val="0F2036"/>
          </a:solidFill>
          <a:ln w="12700">
            <a:solidFill>
              <a:srgbClr val="1D3A5C"/>
            </a:solidFill>
            <a:prstDash val="solid"/>
          </a:ln>
        </p:spPr>
      </p:sp>
      <p:sp>
        <p:nvSpPr>
          <p:cNvPr id="27" name="Shape 22"/>
          <p:cNvSpPr/>
          <p:nvPr/>
        </p:nvSpPr>
        <p:spPr>
          <a:xfrm>
            <a:off x="640080" y="4123944"/>
            <a:ext cx="512064" cy="512064"/>
          </a:xfrm>
          <a:prstGeom prst="ellipse">
            <a:avLst/>
          </a:prstGeom>
          <a:solidFill>
            <a:srgbClr val="0C2233"/>
          </a:solidFill>
          <a:ln w="15875">
            <a:solidFill>
              <a:srgbClr val="FFB547"/>
            </a:solidFill>
            <a:prstDash val="solid"/>
          </a:ln>
        </p:spPr>
      </p:sp>
      <p:pic>
        <p:nvPicPr>
          <p:cNvPr id="28" name="Image 3" descr="preencoded.png"/>
          <p:cNvPicPr>
            <a:picLocks noChangeAspect="1"/>
          </p:cNvPicPr>
          <p:nvPr/>
        </p:nvPicPr>
        <p:blipFill>
          <a:blip r:embed="rId7"/>
          <a:stretch>
            <a:fillRect/>
          </a:stretch>
        </p:blipFill>
        <p:spPr>
          <a:xfrm>
            <a:off x="773217" y="4257081"/>
            <a:ext cx="245791" cy="245791"/>
          </a:xfrm>
          <a:prstGeom prst="rect">
            <a:avLst/>
          </a:prstGeom>
        </p:spPr>
      </p:pic>
      <p:sp>
        <p:nvSpPr>
          <p:cNvPr id="29" name="Text 23"/>
          <p:cNvSpPr txBox="1"/>
          <p:nvPr/>
        </p:nvSpPr>
        <p:spPr>
          <a:xfrm>
            <a:off x="1371600" y="3977640"/>
            <a:ext cx="2011680" cy="804672"/>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Your lists</a:t>
            </a:r>
            <a:endParaRPr lang="en-US" sz="1400" dirty="0"/>
          </a:p>
        </p:txBody>
      </p:sp>
      <p:sp>
        <p:nvSpPr>
          <p:cNvPr id="30" name="Text 24"/>
          <p:cNvSpPr txBox="1"/>
          <p:nvPr/>
        </p:nvSpPr>
        <p:spPr>
          <a:xfrm>
            <a:off x="3474720" y="3977640"/>
            <a:ext cx="3383280" cy="804672"/>
          </a:xfrm>
          <a:prstGeom prst="rect">
            <a:avLst/>
          </a:prstGeom>
          <a:noFill/>
          <a:ln/>
        </p:spPr>
        <p:txBody>
          <a:bodyPr wrap="square" lIns="0" tIns="0" rIns="0" bIns="0" rtlCol="0" anchor="ctr"/>
          <a:lstStyle/>
          <a:p>
            <a:pPr marL="0" indent="0">
              <a:buNone/>
            </a:pPr>
            <a:r>
              <a:rPr lang="en-US" sz="1100" dirty="0">
                <a:solidFill>
                  <a:srgbClr val="9DB2CC"/>
                </a:solidFill>
                <a:latin typeface="Calibri" pitchFamily="34" charset="0"/>
                <a:ea typeface="Calibri" pitchFamily="34" charset="-122"/>
                <a:cs typeface="Calibri" pitchFamily="34" charset="-120"/>
              </a:rPr>
              <a:t>Trusted domains lower the score; blocked domains force a phishing verdict.</a:t>
            </a:r>
            <a:endParaRPr lang="en-US" sz="1100" dirty="0"/>
          </a:p>
        </p:txBody>
      </p:sp>
      <p:sp>
        <p:nvSpPr>
          <p:cNvPr id="31" name="Shape 25"/>
          <p:cNvSpPr/>
          <p:nvPr/>
        </p:nvSpPr>
        <p:spPr>
          <a:xfrm>
            <a:off x="7040880" y="4197096"/>
            <a:ext cx="1508760" cy="365760"/>
          </a:xfrm>
          <a:prstGeom prst="roundRect">
            <a:avLst>
              <a:gd name="adj" fmla="val 50000"/>
            </a:avLst>
          </a:prstGeom>
          <a:solidFill>
            <a:srgbClr val="0C2233"/>
          </a:solidFill>
          <a:ln w="12700">
            <a:solidFill>
              <a:srgbClr val="FFB547"/>
            </a:solidFill>
            <a:prstDash val="solid"/>
          </a:ln>
        </p:spPr>
      </p:sp>
      <p:sp>
        <p:nvSpPr>
          <p:cNvPr id="32" name="Text 26"/>
          <p:cNvSpPr txBox="1"/>
          <p:nvPr/>
        </p:nvSpPr>
        <p:spPr>
          <a:xfrm>
            <a:off x="7040880" y="4197096"/>
            <a:ext cx="1508760" cy="365760"/>
          </a:xfrm>
          <a:prstGeom prst="rect">
            <a:avLst/>
          </a:prstGeom>
          <a:noFill/>
          <a:ln/>
        </p:spPr>
        <p:txBody>
          <a:bodyPr wrap="square" lIns="0" tIns="0" rIns="0" bIns="0" rtlCol="0" anchor="ctr"/>
          <a:lstStyle/>
          <a:p>
            <a:pPr marL="0" indent="0" algn="ctr">
              <a:buNone/>
            </a:pPr>
            <a:r>
              <a:rPr lang="en-US" sz="1050" b="1" dirty="0">
                <a:solidFill>
                  <a:srgbClr val="FFB547"/>
                </a:solidFill>
                <a:latin typeface="Calibri" pitchFamily="34" charset="0"/>
                <a:ea typeface="Calibri" pitchFamily="34" charset="-122"/>
                <a:cs typeface="Calibri" pitchFamily="34" charset="-120"/>
              </a:rPr>
              <a:t>Override</a:t>
            </a:r>
            <a:endParaRPr lang="en-US" sz="1050" dirty="0"/>
          </a:p>
        </p:txBody>
      </p:sp>
    </p:spTree>
  </p:cSld>
  <p:clrMapOvr>
    <a:masterClrMapping/>
  </p:clrMapOvr>
  <p:transition spd="med">
    <p:push/>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rgbClr val="2DE2C0"/>
                </a:solidFill>
                <a:latin typeface="Courier New" pitchFamily="34" charset="0"/>
                <a:ea typeface="Courier New" pitchFamily="34" charset="-122"/>
                <a:cs typeface="Courier New" pitchFamily="34" charset="-120"/>
              </a:rPr>
              <a:t>// 08  RISK SCORING MODEL</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b="1" dirty="0">
                <a:solidFill>
                  <a:srgbClr val="EAF2FF"/>
                </a:solidFill>
                <a:latin typeface="Calibri" pitchFamily="34" charset="0"/>
                <a:ea typeface="Calibri" pitchFamily="34" charset="-122"/>
                <a:cs typeface="Calibri" pitchFamily="34" charset="-120"/>
              </a:rPr>
              <a:t>From signals to a single 0-100 score</a:t>
            </a:r>
            <a:endParaRPr lang="en-US" sz="3000" dirty="0"/>
          </a:p>
        </p:txBody>
      </p:sp>
      <p:sp>
        <p:nvSpPr>
          <p:cNvPr id="4" name="Text 2"/>
          <p:cNvSpPr txBox="1"/>
          <p:nvPr/>
        </p:nvSpPr>
        <p:spPr>
          <a:xfrm>
            <a:off x="7498080" y="4864608"/>
            <a:ext cx="1188720" cy="182880"/>
          </a:xfrm>
          <a:prstGeom prst="rect">
            <a:avLst/>
          </a:prstGeom>
          <a:noFill/>
          <a:ln/>
        </p:spPr>
        <p:txBody>
          <a:bodyPr wrap="square" lIns="0" tIns="0" rIns="0" bIns="0" rtlCol="0" anchor="ctr"/>
          <a:lstStyle/>
          <a:p>
            <a:pPr marL="0" indent="0" algn="r">
              <a:buNone/>
            </a:pPr>
            <a:r>
              <a:rPr lang="en-US" sz="900" dirty="0">
                <a:solidFill>
                  <a:srgbClr val="9DB2CC"/>
                </a:solidFill>
                <a:latin typeface="Courier New" pitchFamily="34" charset="0"/>
                <a:ea typeface="Courier New" pitchFamily="34" charset="-122"/>
                <a:cs typeface="Courier New" pitchFamily="34" charset="-120"/>
              </a:rPr>
              <a:t>08 / 15</a:t>
            </a:r>
            <a:endParaRPr lang="en-US" sz="900" dirty="0"/>
          </a:p>
        </p:txBody>
      </p:sp>
      <p:sp>
        <p:nvSpPr>
          <p:cNvPr id="5" name="Shape 3"/>
          <p:cNvSpPr/>
          <p:nvPr/>
        </p:nvSpPr>
        <p:spPr>
          <a:xfrm>
            <a:off x="457200" y="1234440"/>
            <a:ext cx="4572000" cy="1051560"/>
          </a:xfrm>
          <a:prstGeom prst="roundRect">
            <a:avLst>
              <a:gd name="adj" fmla="val 6957"/>
            </a:avLst>
          </a:prstGeom>
          <a:solidFill>
            <a:srgbClr val="0F2036"/>
          </a:solidFill>
          <a:ln w="12700">
            <a:solidFill>
              <a:srgbClr val="1D3A5C"/>
            </a:solidFill>
            <a:prstDash val="solid"/>
          </a:ln>
        </p:spPr>
      </p:sp>
      <p:sp>
        <p:nvSpPr>
          <p:cNvPr id="6" name="Text 4"/>
          <p:cNvSpPr txBox="1"/>
          <p:nvPr/>
        </p:nvSpPr>
        <p:spPr>
          <a:xfrm>
            <a:off x="640080" y="1344168"/>
            <a:ext cx="4206240" cy="201168"/>
          </a:xfrm>
          <a:prstGeom prst="rect">
            <a:avLst/>
          </a:prstGeom>
          <a:noFill/>
          <a:ln/>
        </p:spPr>
        <p:txBody>
          <a:bodyPr wrap="square" lIns="0" tIns="0" rIns="0" bIns="0" rtlCol="0" anchor="ctr"/>
          <a:lstStyle/>
          <a:p>
            <a:pPr marL="0" indent="0">
              <a:buNone/>
            </a:pPr>
            <a:r>
              <a:rPr lang="en-US" sz="1000" b="1" kern="0" spc="200" dirty="0">
                <a:solidFill>
                  <a:srgbClr val="2DE2C0"/>
                </a:solidFill>
                <a:latin typeface="Courier New" pitchFamily="34" charset="0"/>
                <a:ea typeface="Courier New" pitchFamily="34" charset="-122"/>
                <a:cs typeface="Courier New" pitchFamily="34" charset="-120"/>
              </a:rPr>
              <a:t>FINAL SCORE</a:t>
            </a:r>
            <a:endParaRPr lang="en-US" sz="1000" dirty="0"/>
          </a:p>
        </p:txBody>
      </p:sp>
      <p:sp>
        <p:nvSpPr>
          <p:cNvPr id="7" name="Text 5"/>
          <p:cNvSpPr txBox="1"/>
          <p:nvPr/>
        </p:nvSpPr>
        <p:spPr>
          <a:xfrm>
            <a:off x="640080" y="1572768"/>
            <a:ext cx="4206240" cy="320040"/>
          </a:xfrm>
          <a:prstGeom prst="rect">
            <a:avLst/>
          </a:prstGeom>
          <a:noFill/>
          <a:ln/>
        </p:spPr>
        <p:txBody>
          <a:bodyPr wrap="square" lIns="0" tIns="0" rIns="0" bIns="0" rtlCol="0" anchor="ctr"/>
          <a:lstStyle/>
          <a:p>
            <a:pPr marL="0" indent="0">
              <a:buNone/>
            </a:pPr>
            <a:r>
              <a:rPr lang="en-US" sz="1600" b="1" dirty="0">
                <a:solidFill>
                  <a:srgbClr val="2DE2C0"/>
                </a:solidFill>
                <a:latin typeface="Courier New" pitchFamily="34" charset="0"/>
                <a:ea typeface="Courier New" pitchFamily="34" charset="-122"/>
                <a:cs typeface="Courier New" pitchFamily="34" charset="-120"/>
              </a:rPr>
              <a:t>score = 0.5 x ML% + 0.5 x RULES</a:t>
            </a:r>
            <a:endParaRPr lang="en-US" sz="1600" dirty="0"/>
          </a:p>
        </p:txBody>
      </p:sp>
      <p:sp>
        <p:nvSpPr>
          <p:cNvPr id="8" name="Text 6"/>
          <p:cNvSpPr txBox="1"/>
          <p:nvPr/>
        </p:nvSpPr>
        <p:spPr>
          <a:xfrm>
            <a:off x="640080" y="1920240"/>
            <a:ext cx="4206240" cy="274320"/>
          </a:xfrm>
          <a:prstGeom prst="rect">
            <a:avLst/>
          </a:prstGeom>
          <a:noFill/>
          <a:ln/>
        </p:spPr>
        <p:txBody>
          <a:bodyPr wrap="square" lIns="0" tIns="0" rIns="0" bIns="0" rtlCol="0" anchor="ctr"/>
          <a:lstStyle/>
          <a:p>
            <a:pPr marL="0" indent="0">
              <a:buNone/>
            </a:pPr>
            <a:r>
              <a:rPr lang="en-US" sz="1100" dirty="0">
                <a:solidFill>
                  <a:srgbClr val="9DB2CC"/>
                </a:solidFill>
                <a:latin typeface="Calibri" pitchFamily="34" charset="0"/>
                <a:ea typeface="Calibri" pitchFamily="34" charset="-122"/>
                <a:cs typeface="Calibri" pitchFamily="34" charset="-120"/>
              </a:rPr>
              <a:t>ML% is the model's phishing probability; RULES is the rule points (max 100).</a:t>
            </a:r>
            <a:endParaRPr lang="en-US" sz="1100" dirty="0"/>
          </a:p>
        </p:txBody>
      </p:sp>
      <p:sp>
        <p:nvSpPr>
          <p:cNvPr id="9" name="Text 7"/>
          <p:cNvSpPr txBox="1"/>
          <p:nvPr/>
        </p:nvSpPr>
        <p:spPr>
          <a:xfrm>
            <a:off x="2743200" y="2468880"/>
            <a:ext cx="2377440" cy="201168"/>
          </a:xfrm>
          <a:prstGeom prst="rect">
            <a:avLst/>
          </a:prstGeom>
          <a:noFill/>
          <a:ln/>
        </p:spPr>
        <p:txBody>
          <a:bodyPr wrap="square" lIns="0" tIns="0" rIns="0" bIns="0" rtlCol="0" anchor="ctr"/>
          <a:lstStyle/>
          <a:p>
            <a:pPr marL="0" indent="0" algn="r">
              <a:buNone/>
            </a:pPr>
            <a:r>
              <a:rPr lang="en-US" sz="1050" b="1" dirty="0">
                <a:solidFill>
                  <a:srgbClr val="FF5C5C"/>
                </a:solidFill>
                <a:latin typeface="Calibri" pitchFamily="34" charset="0"/>
                <a:ea typeface="Calibri" pitchFamily="34" charset="-122"/>
                <a:cs typeface="Calibri" pitchFamily="34" charset="-120"/>
              </a:rPr>
              <a:t>Sample phishing email: 99</a:t>
            </a:r>
            <a:endParaRPr lang="en-US" sz="1050" dirty="0"/>
          </a:p>
        </p:txBody>
      </p:sp>
      <p:sp>
        <p:nvSpPr>
          <p:cNvPr id="10" name="Shape 8"/>
          <p:cNvSpPr/>
          <p:nvPr/>
        </p:nvSpPr>
        <p:spPr>
          <a:xfrm flipV="1">
            <a:off x="4892040" y="2697480"/>
            <a:ext cx="182880" cy="146304"/>
          </a:xfrm>
          <a:prstGeom prst="triangle">
            <a:avLst/>
          </a:prstGeom>
          <a:solidFill>
            <a:srgbClr val="FF5C5C"/>
          </a:solidFill>
          <a:ln w="12700">
            <a:solidFill>
              <a:srgbClr val="FF5C5C"/>
            </a:solidFill>
            <a:prstDash val="solid"/>
          </a:ln>
        </p:spPr>
      </p:sp>
      <p:sp>
        <p:nvSpPr>
          <p:cNvPr id="11" name="Shape 9"/>
          <p:cNvSpPr/>
          <p:nvPr/>
        </p:nvSpPr>
        <p:spPr>
          <a:xfrm>
            <a:off x="457200" y="2880360"/>
            <a:ext cx="1600200" cy="347472"/>
          </a:xfrm>
          <a:prstGeom prst="rect">
            <a:avLst/>
          </a:prstGeom>
          <a:solidFill>
            <a:srgbClr val="2DE2C0"/>
          </a:solidFill>
          <a:ln w="12700">
            <a:solidFill>
              <a:srgbClr val="08111F"/>
            </a:solidFill>
            <a:prstDash val="solid"/>
          </a:ln>
        </p:spPr>
      </p:sp>
      <p:sp>
        <p:nvSpPr>
          <p:cNvPr id="12" name="Text 10"/>
          <p:cNvSpPr txBox="1"/>
          <p:nvPr/>
        </p:nvSpPr>
        <p:spPr>
          <a:xfrm>
            <a:off x="457200" y="2880360"/>
            <a:ext cx="1600200" cy="347472"/>
          </a:xfrm>
          <a:prstGeom prst="rect">
            <a:avLst/>
          </a:prstGeom>
          <a:noFill/>
          <a:ln/>
        </p:spPr>
        <p:txBody>
          <a:bodyPr wrap="square" lIns="0" tIns="0" rIns="0" bIns="0" rtlCol="0" anchor="ctr"/>
          <a:lstStyle/>
          <a:p>
            <a:pPr marL="0" indent="0" algn="ctr">
              <a:buNone/>
            </a:pPr>
            <a:r>
              <a:rPr lang="en-US" sz="1150" b="1" dirty="0">
                <a:solidFill>
                  <a:srgbClr val="08111F"/>
                </a:solidFill>
                <a:latin typeface="Calibri" pitchFamily="34" charset="0"/>
                <a:ea typeface="Calibri" pitchFamily="34" charset="-122"/>
                <a:cs typeface="Calibri" pitchFamily="34" charset="-120"/>
              </a:rPr>
              <a:t>Safe</a:t>
            </a:r>
            <a:endParaRPr lang="en-US" sz="1150" dirty="0"/>
          </a:p>
        </p:txBody>
      </p:sp>
      <p:sp>
        <p:nvSpPr>
          <p:cNvPr id="13" name="Shape 11"/>
          <p:cNvSpPr/>
          <p:nvPr/>
        </p:nvSpPr>
        <p:spPr>
          <a:xfrm>
            <a:off x="2057400" y="2880360"/>
            <a:ext cx="1143000" cy="347472"/>
          </a:xfrm>
          <a:prstGeom prst="rect">
            <a:avLst/>
          </a:prstGeom>
          <a:solidFill>
            <a:srgbClr val="FFB547"/>
          </a:solidFill>
          <a:ln w="12700">
            <a:solidFill>
              <a:srgbClr val="08111F"/>
            </a:solidFill>
            <a:prstDash val="solid"/>
          </a:ln>
        </p:spPr>
      </p:sp>
      <p:sp>
        <p:nvSpPr>
          <p:cNvPr id="14" name="Text 12"/>
          <p:cNvSpPr txBox="1"/>
          <p:nvPr/>
        </p:nvSpPr>
        <p:spPr>
          <a:xfrm>
            <a:off x="2057400" y="2880360"/>
            <a:ext cx="1143000" cy="347472"/>
          </a:xfrm>
          <a:prstGeom prst="rect">
            <a:avLst/>
          </a:prstGeom>
          <a:noFill/>
          <a:ln/>
        </p:spPr>
        <p:txBody>
          <a:bodyPr wrap="square" lIns="0" tIns="0" rIns="0" bIns="0" rtlCol="0" anchor="ctr"/>
          <a:lstStyle/>
          <a:p>
            <a:pPr marL="0" indent="0" algn="ctr">
              <a:buNone/>
            </a:pPr>
            <a:r>
              <a:rPr lang="en-US" sz="1150" b="1" dirty="0">
                <a:solidFill>
                  <a:srgbClr val="08111F"/>
                </a:solidFill>
                <a:latin typeface="Calibri" pitchFamily="34" charset="0"/>
                <a:ea typeface="Calibri" pitchFamily="34" charset="-122"/>
                <a:cs typeface="Calibri" pitchFamily="34" charset="-120"/>
              </a:rPr>
              <a:t>Suspicious</a:t>
            </a:r>
            <a:endParaRPr lang="en-US" sz="1150" dirty="0"/>
          </a:p>
        </p:txBody>
      </p:sp>
      <p:sp>
        <p:nvSpPr>
          <p:cNvPr id="15" name="Shape 13"/>
          <p:cNvSpPr/>
          <p:nvPr/>
        </p:nvSpPr>
        <p:spPr>
          <a:xfrm>
            <a:off x="3200400" y="2880360"/>
            <a:ext cx="1828800" cy="347472"/>
          </a:xfrm>
          <a:prstGeom prst="rect">
            <a:avLst/>
          </a:prstGeom>
          <a:solidFill>
            <a:srgbClr val="FF5C5C"/>
          </a:solidFill>
          <a:ln w="12700">
            <a:solidFill>
              <a:srgbClr val="08111F"/>
            </a:solidFill>
            <a:prstDash val="solid"/>
          </a:ln>
        </p:spPr>
      </p:sp>
      <p:sp>
        <p:nvSpPr>
          <p:cNvPr id="16" name="Text 14"/>
          <p:cNvSpPr txBox="1"/>
          <p:nvPr/>
        </p:nvSpPr>
        <p:spPr>
          <a:xfrm>
            <a:off x="3200400" y="2880360"/>
            <a:ext cx="1828800" cy="347472"/>
          </a:xfrm>
          <a:prstGeom prst="rect">
            <a:avLst/>
          </a:prstGeom>
          <a:noFill/>
          <a:ln/>
        </p:spPr>
        <p:txBody>
          <a:bodyPr wrap="square" lIns="0" tIns="0" rIns="0" bIns="0" rtlCol="0" anchor="ctr"/>
          <a:lstStyle/>
          <a:p>
            <a:pPr marL="0" indent="0" algn="ctr">
              <a:buNone/>
            </a:pPr>
            <a:r>
              <a:rPr lang="en-US" sz="1150" b="1" dirty="0">
                <a:solidFill>
                  <a:srgbClr val="08111F"/>
                </a:solidFill>
                <a:latin typeface="Calibri" pitchFamily="34" charset="0"/>
                <a:ea typeface="Calibri" pitchFamily="34" charset="-122"/>
                <a:cs typeface="Calibri" pitchFamily="34" charset="-120"/>
              </a:rPr>
              <a:t>Phishing</a:t>
            </a:r>
            <a:endParaRPr lang="en-US" sz="1150" dirty="0"/>
          </a:p>
        </p:txBody>
      </p:sp>
      <p:sp>
        <p:nvSpPr>
          <p:cNvPr id="17" name="Text 15"/>
          <p:cNvSpPr txBox="1"/>
          <p:nvPr/>
        </p:nvSpPr>
        <p:spPr>
          <a:xfrm>
            <a:off x="365760" y="3273552"/>
            <a:ext cx="365760" cy="182880"/>
          </a:xfrm>
          <a:prstGeom prst="rect">
            <a:avLst/>
          </a:prstGeom>
          <a:noFill/>
          <a:ln/>
        </p:spPr>
        <p:txBody>
          <a:bodyPr wrap="square" lIns="0" tIns="0" rIns="0" bIns="0" rtlCol="0" anchor="ctr"/>
          <a:lstStyle/>
          <a:p>
            <a:pPr marL="0" indent="0">
              <a:buNone/>
            </a:pPr>
            <a:r>
              <a:rPr lang="en-US" sz="950" dirty="0">
                <a:solidFill>
                  <a:srgbClr val="9DB2CC"/>
                </a:solidFill>
                <a:latin typeface="Courier New" pitchFamily="34" charset="0"/>
                <a:ea typeface="Courier New" pitchFamily="34" charset="-122"/>
                <a:cs typeface="Courier New" pitchFamily="34" charset="-120"/>
              </a:rPr>
              <a:t>0</a:t>
            </a:r>
            <a:endParaRPr lang="en-US" sz="950" dirty="0"/>
          </a:p>
        </p:txBody>
      </p:sp>
      <p:sp>
        <p:nvSpPr>
          <p:cNvPr id="18" name="Text 16"/>
          <p:cNvSpPr txBox="1"/>
          <p:nvPr/>
        </p:nvSpPr>
        <p:spPr>
          <a:xfrm>
            <a:off x="1965960" y="3273552"/>
            <a:ext cx="365760" cy="182880"/>
          </a:xfrm>
          <a:prstGeom prst="rect">
            <a:avLst/>
          </a:prstGeom>
          <a:noFill/>
          <a:ln/>
        </p:spPr>
        <p:txBody>
          <a:bodyPr wrap="square" lIns="0" tIns="0" rIns="0" bIns="0" rtlCol="0" anchor="ctr"/>
          <a:lstStyle/>
          <a:p>
            <a:pPr marL="0" indent="0">
              <a:buNone/>
            </a:pPr>
            <a:r>
              <a:rPr lang="en-US" sz="950" dirty="0">
                <a:solidFill>
                  <a:srgbClr val="9DB2CC"/>
                </a:solidFill>
                <a:latin typeface="Courier New" pitchFamily="34" charset="0"/>
                <a:ea typeface="Courier New" pitchFamily="34" charset="-122"/>
                <a:cs typeface="Courier New" pitchFamily="34" charset="-120"/>
              </a:rPr>
              <a:t>35</a:t>
            </a:r>
            <a:endParaRPr lang="en-US" sz="950" dirty="0"/>
          </a:p>
        </p:txBody>
      </p:sp>
      <p:sp>
        <p:nvSpPr>
          <p:cNvPr id="19" name="Text 17"/>
          <p:cNvSpPr txBox="1"/>
          <p:nvPr/>
        </p:nvSpPr>
        <p:spPr>
          <a:xfrm>
            <a:off x="3108960" y="3273552"/>
            <a:ext cx="365760" cy="182880"/>
          </a:xfrm>
          <a:prstGeom prst="rect">
            <a:avLst/>
          </a:prstGeom>
          <a:noFill/>
          <a:ln/>
        </p:spPr>
        <p:txBody>
          <a:bodyPr wrap="square" lIns="0" tIns="0" rIns="0" bIns="0" rtlCol="0" anchor="ctr"/>
          <a:lstStyle/>
          <a:p>
            <a:pPr marL="0" indent="0">
              <a:buNone/>
            </a:pPr>
            <a:r>
              <a:rPr lang="en-US" sz="950" dirty="0">
                <a:solidFill>
                  <a:srgbClr val="9DB2CC"/>
                </a:solidFill>
                <a:latin typeface="Courier New" pitchFamily="34" charset="0"/>
                <a:ea typeface="Courier New" pitchFamily="34" charset="-122"/>
                <a:cs typeface="Courier New" pitchFamily="34" charset="-120"/>
              </a:rPr>
              <a:t>60</a:t>
            </a:r>
            <a:endParaRPr lang="en-US" sz="950" dirty="0"/>
          </a:p>
        </p:txBody>
      </p:sp>
      <p:sp>
        <p:nvSpPr>
          <p:cNvPr id="20" name="Text 18"/>
          <p:cNvSpPr txBox="1"/>
          <p:nvPr/>
        </p:nvSpPr>
        <p:spPr>
          <a:xfrm>
            <a:off x="4846320" y="3273552"/>
            <a:ext cx="365760" cy="182880"/>
          </a:xfrm>
          <a:prstGeom prst="rect">
            <a:avLst/>
          </a:prstGeom>
          <a:noFill/>
          <a:ln/>
        </p:spPr>
        <p:txBody>
          <a:bodyPr wrap="square" lIns="0" tIns="0" rIns="0" bIns="0" rtlCol="0" anchor="ctr"/>
          <a:lstStyle/>
          <a:p>
            <a:pPr marL="0" indent="0">
              <a:buNone/>
            </a:pPr>
            <a:r>
              <a:rPr lang="en-US" sz="950" dirty="0">
                <a:solidFill>
                  <a:srgbClr val="9DB2CC"/>
                </a:solidFill>
                <a:latin typeface="Courier New" pitchFamily="34" charset="0"/>
                <a:ea typeface="Courier New" pitchFamily="34" charset="-122"/>
                <a:cs typeface="Courier New" pitchFamily="34" charset="-120"/>
              </a:rPr>
              <a:t>100</a:t>
            </a:r>
            <a:endParaRPr lang="en-US" sz="950" dirty="0"/>
          </a:p>
        </p:txBody>
      </p:sp>
      <p:sp>
        <p:nvSpPr>
          <p:cNvPr id="21" name="Shape 19"/>
          <p:cNvSpPr/>
          <p:nvPr/>
        </p:nvSpPr>
        <p:spPr>
          <a:xfrm>
            <a:off x="457200" y="3657600"/>
            <a:ext cx="4572000" cy="1005840"/>
          </a:xfrm>
          <a:prstGeom prst="roundRect">
            <a:avLst>
              <a:gd name="adj" fmla="val 7273"/>
            </a:avLst>
          </a:prstGeom>
          <a:solidFill>
            <a:srgbClr val="0F2036"/>
          </a:solidFill>
          <a:ln w="12700">
            <a:solidFill>
              <a:srgbClr val="1D3A5C"/>
            </a:solidFill>
            <a:prstDash val="solid"/>
          </a:ln>
        </p:spPr>
      </p:sp>
      <p:sp>
        <p:nvSpPr>
          <p:cNvPr id="22" name="Text 20"/>
          <p:cNvSpPr txBox="1"/>
          <p:nvPr/>
        </p:nvSpPr>
        <p:spPr>
          <a:xfrm>
            <a:off x="640080" y="3749040"/>
            <a:ext cx="4206240" cy="201168"/>
          </a:xfrm>
          <a:prstGeom prst="rect">
            <a:avLst/>
          </a:prstGeom>
          <a:noFill/>
          <a:ln/>
        </p:spPr>
        <p:txBody>
          <a:bodyPr wrap="square" lIns="0" tIns="0" rIns="0" bIns="0" rtlCol="0" anchor="ctr"/>
          <a:lstStyle/>
          <a:p>
            <a:pPr marL="0" indent="0">
              <a:buNone/>
            </a:pPr>
            <a:r>
              <a:rPr lang="en-US" sz="1000" b="1" kern="0" spc="100" dirty="0">
                <a:solidFill>
                  <a:srgbClr val="FFB547"/>
                </a:solidFill>
                <a:latin typeface="Courier New" pitchFamily="34" charset="0"/>
                <a:ea typeface="Courier New" pitchFamily="34" charset="-122"/>
                <a:cs typeface="Courier New" pitchFamily="34" charset="-120"/>
              </a:rPr>
              <a:t>LIVE CHECKS ADD POINTS (online)</a:t>
            </a:r>
            <a:endParaRPr lang="en-US" sz="1000" dirty="0"/>
          </a:p>
        </p:txBody>
      </p:sp>
      <p:sp>
        <p:nvSpPr>
          <p:cNvPr id="23" name="Text 21"/>
          <p:cNvSpPr txBox="1"/>
          <p:nvPr/>
        </p:nvSpPr>
        <p:spPr>
          <a:xfrm>
            <a:off x="640080" y="3977640"/>
            <a:ext cx="4206240" cy="594360"/>
          </a:xfrm>
          <a:prstGeom prst="rect">
            <a:avLst/>
          </a:prstGeom>
          <a:noFill/>
          <a:ln/>
        </p:spPr>
        <p:txBody>
          <a:bodyPr wrap="square" lIns="0" tIns="0" rIns="0" bIns="0" rtlCol="0" anchor="t"/>
          <a:lstStyle/>
          <a:p>
            <a:pPr marL="0" indent="0">
              <a:buNone/>
            </a:pPr>
            <a:r>
              <a:rPr lang="en-US" sz="1100" dirty="0">
                <a:solidFill>
                  <a:srgbClr val="EAF2FF"/>
                </a:solidFill>
                <a:latin typeface="Calibri" pitchFamily="34" charset="0"/>
                <a:ea typeface="Calibri" pitchFamily="34" charset="-122"/>
                <a:cs typeface="Calibri" pitchFamily="34" charset="-120"/>
              </a:rPr>
              <a:t>Domain under 30 days old +30  |  under 180 days +10  |  sender without SPF/DMARC +10  |  sender domain not found +25</a:t>
            </a:r>
            <a:endParaRPr lang="en-US" sz="1100" dirty="0"/>
          </a:p>
        </p:txBody>
      </p:sp>
      <p:sp>
        <p:nvSpPr>
          <p:cNvPr id="24" name="Text 22"/>
          <p:cNvSpPr txBox="1"/>
          <p:nvPr/>
        </p:nvSpPr>
        <p:spPr>
          <a:xfrm>
            <a:off x="5303520" y="1234440"/>
            <a:ext cx="3383280" cy="201168"/>
          </a:xfrm>
          <a:prstGeom prst="rect">
            <a:avLst/>
          </a:prstGeom>
          <a:noFill/>
          <a:ln/>
        </p:spPr>
        <p:txBody>
          <a:bodyPr wrap="square" lIns="0" tIns="0" rIns="0" bIns="0" rtlCol="0" anchor="ctr"/>
          <a:lstStyle/>
          <a:p>
            <a:pPr marL="0" indent="0">
              <a:buNone/>
            </a:pPr>
            <a:r>
              <a:rPr lang="en-US" sz="1000" b="1" kern="0" spc="200" dirty="0">
                <a:solidFill>
                  <a:srgbClr val="2DE2C0"/>
                </a:solidFill>
                <a:latin typeface="Courier New" pitchFamily="34" charset="0"/>
                <a:ea typeface="Courier New" pitchFamily="34" charset="-122"/>
                <a:cs typeface="Courier New" pitchFamily="34" charset="-120"/>
              </a:rPr>
              <a:t>OVERRIDES</a:t>
            </a:r>
            <a:endParaRPr lang="en-US" sz="1000" dirty="0"/>
          </a:p>
        </p:txBody>
      </p:sp>
      <p:sp>
        <p:nvSpPr>
          <p:cNvPr id="25" name="Shape 23"/>
          <p:cNvSpPr/>
          <p:nvPr/>
        </p:nvSpPr>
        <p:spPr>
          <a:xfrm>
            <a:off x="5303520" y="1508760"/>
            <a:ext cx="3383280" cy="566928"/>
          </a:xfrm>
          <a:prstGeom prst="roundRect">
            <a:avLst>
              <a:gd name="adj" fmla="val 12903"/>
            </a:avLst>
          </a:prstGeom>
          <a:solidFill>
            <a:srgbClr val="0F2036"/>
          </a:solidFill>
          <a:ln w="12700">
            <a:solidFill>
              <a:srgbClr val="1D3A5C"/>
            </a:solidFill>
            <a:prstDash val="solid"/>
          </a:ln>
        </p:spPr>
      </p:sp>
      <p:sp>
        <p:nvSpPr>
          <p:cNvPr id="26" name="Text 24"/>
          <p:cNvSpPr txBox="1"/>
          <p:nvPr/>
        </p:nvSpPr>
        <p:spPr>
          <a:xfrm>
            <a:off x="5440680" y="1508760"/>
            <a:ext cx="1371600" cy="566928"/>
          </a:xfrm>
          <a:prstGeom prst="rect">
            <a:avLst/>
          </a:prstGeom>
          <a:noFill/>
          <a:ln/>
        </p:spPr>
        <p:txBody>
          <a:bodyPr wrap="square" lIns="0" tIns="0" rIns="0" bIns="0" rtlCol="0" anchor="ctr"/>
          <a:lstStyle/>
          <a:p>
            <a:pPr marL="0" indent="0">
              <a:buNone/>
            </a:pPr>
            <a:r>
              <a:rPr lang="en-US" sz="1100" b="1" dirty="0">
                <a:solidFill>
                  <a:srgbClr val="2DE2C0"/>
                </a:solidFill>
                <a:latin typeface="Calibri" pitchFamily="34" charset="0"/>
                <a:ea typeface="Calibri" pitchFamily="34" charset="-122"/>
                <a:cs typeface="Calibri" pitchFamily="34" charset="-120"/>
              </a:rPr>
              <a:t>Rules 60 or more</a:t>
            </a:r>
            <a:endParaRPr lang="en-US" sz="1100" dirty="0"/>
          </a:p>
        </p:txBody>
      </p:sp>
      <p:sp>
        <p:nvSpPr>
          <p:cNvPr id="27" name="Text 25"/>
          <p:cNvSpPr txBox="1"/>
          <p:nvPr/>
        </p:nvSpPr>
        <p:spPr>
          <a:xfrm>
            <a:off x="6858000" y="1508760"/>
            <a:ext cx="1783080" cy="566928"/>
          </a:xfrm>
          <a:prstGeom prst="rect">
            <a:avLst/>
          </a:prstGeom>
          <a:noFill/>
          <a:ln/>
        </p:spPr>
        <p:txBody>
          <a:bodyPr wrap="square" lIns="0" tIns="0" rIns="0" bIns="0" rtlCol="0" anchor="ctr"/>
          <a:lstStyle/>
          <a:p>
            <a:pPr marL="0" indent="0">
              <a:buNone/>
            </a:pPr>
            <a:r>
              <a:rPr lang="en-US" sz="1050" dirty="0">
                <a:solidFill>
                  <a:srgbClr val="EAF2FF"/>
                </a:solidFill>
                <a:latin typeface="Calibri" pitchFamily="34" charset="0"/>
                <a:ea typeface="Calibri" pitchFamily="34" charset="-122"/>
                <a:cs typeface="Calibri" pitchFamily="34" charset="-120"/>
              </a:rPr>
              <a:t>score is at least 70</a:t>
            </a:r>
            <a:endParaRPr lang="en-US" sz="1050" dirty="0"/>
          </a:p>
        </p:txBody>
      </p:sp>
      <p:sp>
        <p:nvSpPr>
          <p:cNvPr id="28" name="Shape 26"/>
          <p:cNvSpPr/>
          <p:nvPr/>
        </p:nvSpPr>
        <p:spPr>
          <a:xfrm>
            <a:off x="5303520" y="2167128"/>
            <a:ext cx="3383280" cy="566928"/>
          </a:xfrm>
          <a:prstGeom prst="roundRect">
            <a:avLst>
              <a:gd name="adj" fmla="val 12903"/>
            </a:avLst>
          </a:prstGeom>
          <a:solidFill>
            <a:srgbClr val="0F2036"/>
          </a:solidFill>
          <a:ln w="12700">
            <a:solidFill>
              <a:srgbClr val="1D3A5C"/>
            </a:solidFill>
            <a:prstDash val="solid"/>
          </a:ln>
        </p:spPr>
      </p:sp>
      <p:sp>
        <p:nvSpPr>
          <p:cNvPr id="29" name="Text 27"/>
          <p:cNvSpPr txBox="1"/>
          <p:nvPr/>
        </p:nvSpPr>
        <p:spPr>
          <a:xfrm>
            <a:off x="5440680" y="2167128"/>
            <a:ext cx="1371600" cy="566928"/>
          </a:xfrm>
          <a:prstGeom prst="rect">
            <a:avLst/>
          </a:prstGeom>
          <a:noFill/>
          <a:ln/>
        </p:spPr>
        <p:txBody>
          <a:bodyPr wrap="square" lIns="0" tIns="0" rIns="0" bIns="0" rtlCol="0" anchor="ctr"/>
          <a:lstStyle/>
          <a:p>
            <a:pPr marL="0" indent="0">
              <a:buNone/>
            </a:pPr>
            <a:r>
              <a:rPr lang="en-US" sz="1100" b="1" dirty="0">
                <a:solidFill>
                  <a:srgbClr val="FF5C5C"/>
                </a:solidFill>
                <a:latin typeface="Calibri" pitchFamily="34" charset="0"/>
                <a:ea typeface="Calibri" pitchFamily="34" charset="-122"/>
                <a:cs typeface="Calibri" pitchFamily="34" charset="-120"/>
              </a:rPr>
              <a:t>Threat database hit</a:t>
            </a:r>
            <a:endParaRPr lang="en-US" sz="1100" dirty="0"/>
          </a:p>
        </p:txBody>
      </p:sp>
      <p:sp>
        <p:nvSpPr>
          <p:cNvPr id="30" name="Text 28"/>
          <p:cNvSpPr txBox="1"/>
          <p:nvPr/>
        </p:nvSpPr>
        <p:spPr>
          <a:xfrm>
            <a:off x="6858000" y="2167128"/>
            <a:ext cx="1783080" cy="566928"/>
          </a:xfrm>
          <a:prstGeom prst="rect">
            <a:avLst/>
          </a:prstGeom>
          <a:noFill/>
          <a:ln/>
        </p:spPr>
        <p:txBody>
          <a:bodyPr wrap="square" lIns="0" tIns="0" rIns="0" bIns="0" rtlCol="0" anchor="ctr"/>
          <a:lstStyle/>
          <a:p>
            <a:pPr marL="0" indent="0">
              <a:buNone/>
            </a:pPr>
            <a:r>
              <a:rPr lang="en-US" sz="1050" dirty="0">
                <a:solidFill>
                  <a:srgbClr val="EAF2FF"/>
                </a:solidFill>
                <a:latin typeface="Calibri" pitchFamily="34" charset="0"/>
                <a:ea typeface="Calibri" pitchFamily="34" charset="-122"/>
                <a:cs typeface="Calibri" pitchFamily="34" charset="-120"/>
              </a:rPr>
              <a:t>score is at least 97</a:t>
            </a:r>
            <a:endParaRPr lang="en-US" sz="1050" dirty="0"/>
          </a:p>
        </p:txBody>
      </p:sp>
      <p:sp>
        <p:nvSpPr>
          <p:cNvPr id="31" name="Shape 29"/>
          <p:cNvSpPr/>
          <p:nvPr/>
        </p:nvSpPr>
        <p:spPr>
          <a:xfrm>
            <a:off x="5303520" y="2825496"/>
            <a:ext cx="3383280" cy="566928"/>
          </a:xfrm>
          <a:prstGeom prst="roundRect">
            <a:avLst>
              <a:gd name="adj" fmla="val 12903"/>
            </a:avLst>
          </a:prstGeom>
          <a:solidFill>
            <a:srgbClr val="0F2036"/>
          </a:solidFill>
          <a:ln w="12700">
            <a:solidFill>
              <a:srgbClr val="1D3A5C"/>
            </a:solidFill>
            <a:prstDash val="solid"/>
          </a:ln>
        </p:spPr>
      </p:sp>
      <p:sp>
        <p:nvSpPr>
          <p:cNvPr id="32" name="Text 30"/>
          <p:cNvSpPr txBox="1"/>
          <p:nvPr/>
        </p:nvSpPr>
        <p:spPr>
          <a:xfrm>
            <a:off x="5440680" y="2825496"/>
            <a:ext cx="1371600" cy="566928"/>
          </a:xfrm>
          <a:prstGeom prst="rect">
            <a:avLst/>
          </a:prstGeom>
          <a:noFill/>
          <a:ln/>
        </p:spPr>
        <p:txBody>
          <a:bodyPr wrap="square" lIns="0" tIns="0" rIns="0" bIns="0" rtlCol="0" anchor="ctr"/>
          <a:lstStyle/>
          <a:p>
            <a:pPr marL="0" indent="0">
              <a:buNone/>
            </a:pPr>
            <a:r>
              <a:rPr lang="en-US" sz="1100" b="1" dirty="0">
                <a:solidFill>
                  <a:srgbClr val="FF5C5C"/>
                </a:solidFill>
                <a:latin typeface="Calibri" pitchFamily="34" charset="0"/>
                <a:ea typeface="Calibri" pitchFamily="34" charset="-122"/>
                <a:cs typeface="Calibri" pitchFamily="34" charset="-120"/>
              </a:rPr>
              <a:t>Blocked domain</a:t>
            </a:r>
            <a:endParaRPr lang="en-US" sz="1100" dirty="0"/>
          </a:p>
        </p:txBody>
      </p:sp>
      <p:sp>
        <p:nvSpPr>
          <p:cNvPr id="33" name="Text 31"/>
          <p:cNvSpPr txBox="1"/>
          <p:nvPr/>
        </p:nvSpPr>
        <p:spPr>
          <a:xfrm>
            <a:off x="6858000" y="2825496"/>
            <a:ext cx="1783080" cy="566928"/>
          </a:xfrm>
          <a:prstGeom prst="rect">
            <a:avLst/>
          </a:prstGeom>
          <a:noFill/>
          <a:ln/>
        </p:spPr>
        <p:txBody>
          <a:bodyPr wrap="square" lIns="0" tIns="0" rIns="0" bIns="0" rtlCol="0" anchor="ctr"/>
          <a:lstStyle/>
          <a:p>
            <a:pPr marL="0" indent="0">
              <a:buNone/>
            </a:pPr>
            <a:r>
              <a:rPr lang="en-US" sz="1050" dirty="0">
                <a:solidFill>
                  <a:srgbClr val="EAF2FF"/>
                </a:solidFill>
                <a:latin typeface="Calibri" pitchFamily="34" charset="0"/>
                <a:ea typeface="Calibri" pitchFamily="34" charset="-122"/>
                <a:cs typeface="Calibri" pitchFamily="34" charset="-120"/>
              </a:rPr>
              <a:t>score is at least 98</a:t>
            </a:r>
            <a:endParaRPr lang="en-US" sz="1050" dirty="0"/>
          </a:p>
        </p:txBody>
      </p:sp>
      <p:sp>
        <p:nvSpPr>
          <p:cNvPr id="34" name="Shape 32"/>
          <p:cNvSpPr/>
          <p:nvPr/>
        </p:nvSpPr>
        <p:spPr>
          <a:xfrm>
            <a:off x="5303520" y="3483864"/>
            <a:ext cx="3383280" cy="566928"/>
          </a:xfrm>
          <a:prstGeom prst="roundRect">
            <a:avLst>
              <a:gd name="adj" fmla="val 12903"/>
            </a:avLst>
          </a:prstGeom>
          <a:solidFill>
            <a:srgbClr val="0F2036"/>
          </a:solidFill>
          <a:ln w="12700">
            <a:solidFill>
              <a:srgbClr val="1D3A5C"/>
            </a:solidFill>
            <a:prstDash val="solid"/>
          </a:ln>
        </p:spPr>
      </p:sp>
      <p:sp>
        <p:nvSpPr>
          <p:cNvPr id="35" name="Text 33"/>
          <p:cNvSpPr txBox="1"/>
          <p:nvPr/>
        </p:nvSpPr>
        <p:spPr>
          <a:xfrm>
            <a:off x="5440680" y="3483864"/>
            <a:ext cx="1371600" cy="566928"/>
          </a:xfrm>
          <a:prstGeom prst="rect">
            <a:avLst/>
          </a:prstGeom>
          <a:noFill/>
          <a:ln/>
        </p:spPr>
        <p:txBody>
          <a:bodyPr wrap="square" lIns="0" tIns="0" rIns="0" bIns="0" rtlCol="0" anchor="ctr"/>
          <a:lstStyle/>
          <a:p>
            <a:pPr marL="0" indent="0">
              <a:buNone/>
            </a:pPr>
            <a:r>
              <a:rPr lang="en-US" sz="1100" b="1" dirty="0">
                <a:solidFill>
                  <a:srgbClr val="FFB547"/>
                </a:solidFill>
                <a:latin typeface="Calibri" pitchFamily="34" charset="0"/>
                <a:ea typeface="Calibri" pitchFamily="34" charset="-122"/>
                <a:cs typeface="Calibri" pitchFamily="34" charset="-120"/>
              </a:rPr>
              <a:t>Trusted domain</a:t>
            </a:r>
            <a:endParaRPr lang="en-US" sz="1100" dirty="0"/>
          </a:p>
        </p:txBody>
      </p:sp>
      <p:sp>
        <p:nvSpPr>
          <p:cNvPr id="36" name="Text 34"/>
          <p:cNvSpPr txBox="1"/>
          <p:nvPr/>
        </p:nvSpPr>
        <p:spPr>
          <a:xfrm>
            <a:off x="6858000" y="3483864"/>
            <a:ext cx="1783080" cy="566928"/>
          </a:xfrm>
          <a:prstGeom prst="rect">
            <a:avLst/>
          </a:prstGeom>
          <a:noFill/>
          <a:ln/>
        </p:spPr>
        <p:txBody>
          <a:bodyPr wrap="square" lIns="0" tIns="0" rIns="0" bIns="0" rtlCol="0" anchor="ctr"/>
          <a:lstStyle/>
          <a:p>
            <a:pPr marL="0" indent="0">
              <a:buNone/>
            </a:pPr>
            <a:r>
              <a:rPr lang="en-US" sz="1050" dirty="0">
                <a:solidFill>
                  <a:srgbClr val="EAF2FF"/>
                </a:solidFill>
                <a:latin typeface="Calibri" pitchFamily="34" charset="0"/>
                <a:ea typeface="Calibri" pitchFamily="34" charset="-122"/>
                <a:cs typeface="Calibri" pitchFamily="34" charset="-120"/>
              </a:rPr>
              <a:t>score capped at 10 (unless a threat hit)</a:t>
            </a:r>
            <a:endParaRPr lang="en-US" sz="1050" dirty="0"/>
          </a:p>
        </p:txBody>
      </p:sp>
      <p:sp>
        <p:nvSpPr>
          <p:cNvPr id="37" name="Shape 35"/>
          <p:cNvSpPr/>
          <p:nvPr/>
        </p:nvSpPr>
        <p:spPr>
          <a:xfrm>
            <a:off x="5303520" y="4206240"/>
            <a:ext cx="3383280" cy="457200"/>
          </a:xfrm>
          <a:prstGeom prst="roundRect">
            <a:avLst>
              <a:gd name="adj" fmla="val 16000"/>
            </a:avLst>
          </a:prstGeom>
          <a:solidFill>
            <a:srgbClr val="0F2036"/>
          </a:solidFill>
          <a:ln w="12700">
            <a:solidFill>
              <a:srgbClr val="1D3A5C"/>
            </a:solidFill>
            <a:prstDash val="solid"/>
          </a:ln>
        </p:spPr>
      </p:sp>
      <p:sp>
        <p:nvSpPr>
          <p:cNvPr id="38" name="Text 36"/>
          <p:cNvSpPr txBox="1"/>
          <p:nvPr/>
        </p:nvSpPr>
        <p:spPr>
          <a:xfrm>
            <a:off x="5440680" y="4206240"/>
            <a:ext cx="3154680" cy="457200"/>
          </a:xfrm>
          <a:prstGeom prst="rect">
            <a:avLst/>
          </a:prstGeom>
          <a:noFill/>
          <a:ln/>
        </p:spPr>
        <p:txBody>
          <a:bodyPr wrap="square" lIns="0" tIns="0" rIns="0" bIns="0" rtlCol="0" anchor="ctr"/>
          <a:lstStyle/>
          <a:p>
            <a:pPr marL="0" indent="0">
              <a:buNone/>
            </a:pPr>
            <a:r>
              <a:rPr lang="en-US" sz="1050" dirty="0">
                <a:solidFill>
                  <a:srgbClr val="9DB2CC"/>
                </a:solidFill>
                <a:latin typeface="Calibri" pitchFamily="34" charset="0"/>
                <a:ea typeface="Calibri" pitchFamily="34" charset="-122"/>
                <a:cs typeface="Calibri" pitchFamily="34" charset="-120"/>
              </a:rPr>
              <a:t>Verdict: 60+ Phishing, 35-59 Suspicious, below 35 Safe</a:t>
            </a:r>
            <a:endParaRPr lang="en-US" sz="1050" dirty="0"/>
          </a:p>
        </p:txBody>
      </p:sp>
    </p:spTree>
  </p:cSld>
  <p:clrMapOvr>
    <a:masterClrMapping/>
  </p:clrMapOvr>
  <p:transition spd="med">
    <p:push/>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rgbClr val="2DE2C0"/>
                </a:solidFill>
                <a:latin typeface="Courier New" pitchFamily="34" charset="0"/>
                <a:ea typeface="Courier New" pitchFamily="34" charset="-122"/>
                <a:cs typeface="Courier New" pitchFamily="34" charset="-120"/>
              </a:rPr>
              <a:t>// 09  TECHNOLOGY STACK AND EXTRAS</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b="1" dirty="0">
                <a:solidFill>
                  <a:srgbClr val="EAF2FF"/>
                </a:solidFill>
                <a:latin typeface="Calibri" pitchFamily="34" charset="0"/>
                <a:ea typeface="Calibri" pitchFamily="34" charset="-122"/>
                <a:cs typeface="Calibri" pitchFamily="34" charset="-120"/>
              </a:rPr>
              <a:t>Built with a small, practical toolset</a:t>
            </a:r>
            <a:endParaRPr lang="en-US" sz="3000" dirty="0"/>
          </a:p>
        </p:txBody>
      </p:sp>
      <p:sp>
        <p:nvSpPr>
          <p:cNvPr id="4" name="Text 2"/>
          <p:cNvSpPr txBox="1"/>
          <p:nvPr/>
        </p:nvSpPr>
        <p:spPr>
          <a:xfrm>
            <a:off x="7498080" y="4864608"/>
            <a:ext cx="1188720" cy="182880"/>
          </a:xfrm>
          <a:prstGeom prst="rect">
            <a:avLst/>
          </a:prstGeom>
          <a:noFill/>
          <a:ln/>
        </p:spPr>
        <p:txBody>
          <a:bodyPr wrap="square" lIns="0" tIns="0" rIns="0" bIns="0" rtlCol="0" anchor="ctr"/>
          <a:lstStyle/>
          <a:p>
            <a:pPr marL="0" indent="0" algn="r">
              <a:buNone/>
            </a:pPr>
            <a:r>
              <a:rPr lang="en-US" sz="900" dirty="0">
                <a:solidFill>
                  <a:srgbClr val="9DB2CC"/>
                </a:solidFill>
                <a:latin typeface="Courier New" pitchFamily="34" charset="0"/>
                <a:ea typeface="Courier New" pitchFamily="34" charset="-122"/>
                <a:cs typeface="Courier New" pitchFamily="34" charset="-120"/>
              </a:rPr>
              <a:t>09 / 15</a:t>
            </a:r>
            <a:endParaRPr lang="en-US" sz="900" dirty="0"/>
          </a:p>
        </p:txBody>
      </p:sp>
      <p:sp>
        <p:nvSpPr>
          <p:cNvPr id="5" name="Shape 3"/>
          <p:cNvSpPr/>
          <p:nvPr/>
        </p:nvSpPr>
        <p:spPr>
          <a:xfrm>
            <a:off x="457200" y="1280160"/>
            <a:ext cx="1325880" cy="1371600"/>
          </a:xfrm>
          <a:prstGeom prst="roundRect">
            <a:avLst>
              <a:gd name="adj" fmla="val 5517"/>
            </a:avLst>
          </a:prstGeom>
          <a:solidFill>
            <a:srgbClr val="0F2036"/>
          </a:solidFill>
          <a:ln w="12700">
            <a:solidFill>
              <a:srgbClr val="1D3A5C"/>
            </a:solidFill>
            <a:prstDash val="solid"/>
          </a:ln>
        </p:spPr>
      </p:sp>
      <p:sp>
        <p:nvSpPr>
          <p:cNvPr id="6" name="Shape 4"/>
          <p:cNvSpPr/>
          <p:nvPr/>
        </p:nvSpPr>
        <p:spPr>
          <a:xfrm>
            <a:off x="868680" y="1417320"/>
            <a:ext cx="502920" cy="502920"/>
          </a:xfrm>
          <a:prstGeom prst="ellipse">
            <a:avLst/>
          </a:prstGeom>
          <a:solidFill>
            <a:srgbClr val="0C2233"/>
          </a:solidFill>
          <a:ln w="15875">
            <a:solidFill>
              <a:srgbClr val="2DE2C0"/>
            </a:solidFill>
            <a:prstDash val="solid"/>
          </a:ln>
        </p:spPr>
      </p:sp>
      <p:pic>
        <p:nvPicPr>
          <p:cNvPr id="7" name="Image 0" descr="preencoded.png"/>
          <p:cNvPicPr>
            <a:picLocks noChangeAspect="1"/>
          </p:cNvPicPr>
          <p:nvPr/>
        </p:nvPicPr>
        <p:blipFill>
          <a:blip r:embed="rId4"/>
          <a:stretch>
            <a:fillRect/>
          </a:stretch>
        </p:blipFill>
        <p:spPr>
          <a:xfrm>
            <a:off x="999439" y="1548079"/>
            <a:ext cx="241402" cy="241402"/>
          </a:xfrm>
          <a:prstGeom prst="rect">
            <a:avLst/>
          </a:prstGeom>
        </p:spPr>
      </p:pic>
      <p:sp>
        <p:nvSpPr>
          <p:cNvPr id="8" name="Text 5"/>
          <p:cNvSpPr txBox="1"/>
          <p:nvPr/>
        </p:nvSpPr>
        <p:spPr>
          <a:xfrm>
            <a:off x="502920" y="2029968"/>
            <a:ext cx="1234440" cy="274320"/>
          </a:xfrm>
          <a:prstGeom prst="rect">
            <a:avLst/>
          </a:prstGeom>
          <a:noFill/>
          <a:ln/>
        </p:spPr>
        <p:txBody>
          <a:bodyPr wrap="square" lIns="0" tIns="0" rIns="0" bIns="0" rtlCol="0" anchor="ctr"/>
          <a:lstStyle/>
          <a:p>
            <a:pPr marL="0" indent="0" algn="ctr">
              <a:buNone/>
            </a:pPr>
            <a:r>
              <a:rPr lang="en-US" sz="1250" b="1" dirty="0">
                <a:solidFill>
                  <a:srgbClr val="EAF2FF"/>
                </a:solidFill>
                <a:latin typeface="Calibri" pitchFamily="34" charset="0"/>
                <a:ea typeface="Calibri" pitchFamily="34" charset="-122"/>
                <a:cs typeface="Calibri" pitchFamily="34" charset="-120"/>
              </a:rPr>
              <a:t>Python 3</a:t>
            </a:r>
            <a:endParaRPr lang="en-US" sz="1250" dirty="0"/>
          </a:p>
        </p:txBody>
      </p:sp>
      <p:sp>
        <p:nvSpPr>
          <p:cNvPr id="9" name="Text 6"/>
          <p:cNvSpPr txBox="1"/>
          <p:nvPr/>
        </p:nvSpPr>
        <p:spPr>
          <a:xfrm>
            <a:off x="502920" y="2304288"/>
            <a:ext cx="1234440" cy="228600"/>
          </a:xfrm>
          <a:prstGeom prst="rect">
            <a:avLst/>
          </a:prstGeom>
          <a:noFill/>
          <a:ln/>
        </p:spPr>
        <p:txBody>
          <a:bodyPr wrap="square" lIns="0" tIns="0" rIns="0" bIns="0" rtlCol="0" anchor="ctr"/>
          <a:lstStyle/>
          <a:p>
            <a:pPr marL="0" indent="0" algn="ctr">
              <a:buNone/>
            </a:pPr>
            <a:r>
              <a:rPr lang="en-US" sz="1050" dirty="0">
                <a:solidFill>
                  <a:srgbClr val="9DB2CC"/>
                </a:solidFill>
                <a:latin typeface="Calibri" pitchFamily="34" charset="0"/>
                <a:ea typeface="Calibri" pitchFamily="34" charset="-122"/>
                <a:cs typeface="Calibri" pitchFamily="34" charset="-120"/>
              </a:rPr>
              <a:t>Language</a:t>
            </a:r>
            <a:endParaRPr lang="en-US" sz="1050" dirty="0"/>
          </a:p>
        </p:txBody>
      </p:sp>
      <p:sp>
        <p:nvSpPr>
          <p:cNvPr id="10" name="Shape 7"/>
          <p:cNvSpPr/>
          <p:nvPr/>
        </p:nvSpPr>
        <p:spPr>
          <a:xfrm>
            <a:off x="1920240" y="1280160"/>
            <a:ext cx="1325880" cy="1371600"/>
          </a:xfrm>
          <a:prstGeom prst="roundRect">
            <a:avLst>
              <a:gd name="adj" fmla="val 5517"/>
            </a:avLst>
          </a:prstGeom>
          <a:solidFill>
            <a:srgbClr val="0F2036"/>
          </a:solidFill>
          <a:ln w="12700">
            <a:solidFill>
              <a:srgbClr val="1D3A5C"/>
            </a:solidFill>
            <a:prstDash val="solid"/>
          </a:ln>
        </p:spPr>
      </p:sp>
      <p:sp>
        <p:nvSpPr>
          <p:cNvPr id="11" name="Shape 8"/>
          <p:cNvSpPr/>
          <p:nvPr/>
        </p:nvSpPr>
        <p:spPr>
          <a:xfrm>
            <a:off x="2331720" y="1417320"/>
            <a:ext cx="502920" cy="502920"/>
          </a:xfrm>
          <a:prstGeom prst="ellipse">
            <a:avLst/>
          </a:prstGeom>
          <a:solidFill>
            <a:srgbClr val="0C2233"/>
          </a:solidFill>
          <a:ln w="15875">
            <a:solidFill>
              <a:srgbClr val="2DE2C0"/>
            </a:solidFill>
            <a:prstDash val="solid"/>
          </a:ln>
        </p:spPr>
      </p:sp>
      <p:pic>
        <p:nvPicPr>
          <p:cNvPr id="12" name="Image 1" descr="preencoded.png"/>
          <p:cNvPicPr>
            <a:picLocks noChangeAspect="1"/>
          </p:cNvPicPr>
          <p:nvPr/>
        </p:nvPicPr>
        <p:blipFill>
          <a:blip r:embed="rId5"/>
          <a:stretch>
            <a:fillRect/>
          </a:stretch>
        </p:blipFill>
        <p:spPr>
          <a:xfrm>
            <a:off x="2462479" y="1548079"/>
            <a:ext cx="241402" cy="241402"/>
          </a:xfrm>
          <a:prstGeom prst="rect">
            <a:avLst/>
          </a:prstGeom>
        </p:spPr>
      </p:pic>
      <p:sp>
        <p:nvSpPr>
          <p:cNvPr id="13" name="Text 9"/>
          <p:cNvSpPr txBox="1"/>
          <p:nvPr/>
        </p:nvSpPr>
        <p:spPr>
          <a:xfrm>
            <a:off x="1965960" y="2029968"/>
            <a:ext cx="1234440" cy="274320"/>
          </a:xfrm>
          <a:prstGeom prst="rect">
            <a:avLst/>
          </a:prstGeom>
          <a:noFill/>
          <a:ln/>
        </p:spPr>
        <p:txBody>
          <a:bodyPr wrap="square" lIns="0" tIns="0" rIns="0" bIns="0" rtlCol="0" anchor="ctr"/>
          <a:lstStyle/>
          <a:p>
            <a:pPr marL="0" indent="0" algn="ctr">
              <a:buNone/>
            </a:pPr>
            <a:r>
              <a:rPr lang="en-US" sz="1250" b="1" dirty="0">
                <a:solidFill>
                  <a:srgbClr val="EAF2FF"/>
                </a:solidFill>
                <a:latin typeface="Calibri" pitchFamily="34" charset="0"/>
                <a:ea typeface="Calibri" pitchFamily="34" charset="-122"/>
                <a:cs typeface="Calibri" pitchFamily="34" charset="-120"/>
              </a:rPr>
              <a:t>Flask</a:t>
            </a:r>
            <a:endParaRPr lang="en-US" sz="1250" dirty="0"/>
          </a:p>
        </p:txBody>
      </p:sp>
      <p:sp>
        <p:nvSpPr>
          <p:cNvPr id="14" name="Text 10"/>
          <p:cNvSpPr txBox="1"/>
          <p:nvPr/>
        </p:nvSpPr>
        <p:spPr>
          <a:xfrm>
            <a:off x="1965960" y="2304288"/>
            <a:ext cx="1234440" cy="228600"/>
          </a:xfrm>
          <a:prstGeom prst="rect">
            <a:avLst/>
          </a:prstGeom>
          <a:noFill/>
          <a:ln/>
        </p:spPr>
        <p:txBody>
          <a:bodyPr wrap="square" lIns="0" tIns="0" rIns="0" bIns="0" rtlCol="0" anchor="ctr"/>
          <a:lstStyle/>
          <a:p>
            <a:pPr marL="0" indent="0" algn="ctr">
              <a:buNone/>
            </a:pPr>
            <a:r>
              <a:rPr lang="en-US" sz="1050" dirty="0">
                <a:solidFill>
                  <a:srgbClr val="9DB2CC"/>
                </a:solidFill>
                <a:latin typeface="Calibri" pitchFamily="34" charset="0"/>
                <a:ea typeface="Calibri" pitchFamily="34" charset="-122"/>
                <a:cs typeface="Calibri" pitchFamily="34" charset="-120"/>
              </a:rPr>
              <a:t>Web framework</a:t>
            </a:r>
            <a:endParaRPr lang="en-US" sz="1050" dirty="0"/>
          </a:p>
        </p:txBody>
      </p:sp>
      <p:sp>
        <p:nvSpPr>
          <p:cNvPr id="15" name="Shape 11"/>
          <p:cNvSpPr/>
          <p:nvPr/>
        </p:nvSpPr>
        <p:spPr>
          <a:xfrm>
            <a:off x="3383280" y="1280160"/>
            <a:ext cx="1325880" cy="1371600"/>
          </a:xfrm>
          <a:prstGeom prst="roundRect">
            <a:avLst>
              <a:gd name="adj" fmla="val 5517"/>
            </a:avLst>
          </a:prstGeom>
          <a:solidFill>
            <a:srgbClr val="0F2036"/>
          </a:solidFill>
          <a:ln w="12700">
            <a:solidFill>
              <a:srgbClr val="1D3A5C"/>
            </a:solidFill>
            <a:prstDash val="solid"/>
          </a:ln>
        </p:spPr>
      </p:sp>
      <p:sp>
        <p:nvSpPr>
          <p:cNvPr id="16" name="Shape 12"/>
          <p:cNvSpPr/>
          <p:nvPr/>
        </p:nvSpPr>
        <p:spPr>
          <a:xfrm>
            <a:off x="3794760" y="1417320"/>
            <a:ext cx="502920" cy="502920"/>
          </a:xfrm>
          <a:prstGeom prst="ellipse">
            <a:avLst/>
          </a:prstGeom>
          <a:solidFill>
            <a:srgbClr val="0C2233"/>
          </a:solidFill>
          <a:ln w="15875">
            <a:solidFill>
              <a:srgbClr val="2DE2C0"/>
            </a:solidFill>
            <a:prstDash val="solid"/>
          </a:ln>
        </p:spPr>
      </p:sp>
      <p:pic>
        <p:nvPicPr>
          <p:cNvPr id="17" name="Image 2" descr="preencoded.png"/>
          <p:cNvPicPr>
            <a:picLocks noChangeAspect="1"/>
          </p:cNvPicPr>
          <p:nvPr/>
        </p:nvPicPr>
        <p:blipFill>
          <a:blip r:embed="rId6"/>
          <a:stretch>
            <a:fillRect/>
          </a:stretch>
        </p:blipFill>
        <p:spPr>
          <a:xfrm>
            <a:off x="3925519" y="1548079"/>
            <a:ext cx="241402" cy="241402"/>
          </a:xfrm>
          <a:prstGeom prst="rect">
            <a:avLst/>
          </a:prstGeom>
        </p:spPr>
      </p:pic>
      <p:sp>
        <p:nvSpPr>
          <p:cNvPr id="18" name="Text 13"/>
          <p:cNvSpPr txBox="1"/>
          <p:nvPr/>
        </p:nvSpPr>
        <p:spPr>
          <a:xfrm>
            <a:off x="3429000" y="2029968"/>
            <a:ext cx="1234440" cy="274320"/>
          </a:xfrm>
          <a:prstGeom prst="rect">
            <a:avLst/>
          </a:prstGeom>
          <a:noFill/>
          <a:ln/>
        </p:spPr>
        <p:txBody>
          <a:bodyPr wrap="square" lIns="0" tIns="0" rIns="0" bIns="0" rtlCol="0" anchor="ctr"/>
          <a:lstStyle/>
          <a:p>
            <a:pPr marL="0" indent="0" algn="ctr">
              <a:buNone/>
            </a:pPr>
            <a:r>
              <a:rPr lang="en-US" sz="1250" b="1" dirty="0">
                <a:solidFill>
                  <a:srgbClr val="EAF2FF"/>
                </a:solidFill>
                <a:latin typeface="Calibri" pitchFamily="34" charset="0"/>
                <a:ea typeface="Calibri" pitchFamily="34" charset="-122"/>
                <a:cs typeface="Calibri" pitchFamily="34" charset="-120"/>
              </a:rPr>
              <a:t>scikit-learn</a:t>
            </a:r>
            <a:endParaRPr lang="en-US" sz="1250" dirty="0"/>
          </a:p>
        </p:txBody>
      </p:sp>
      <p:sp>
        <p:nvSpPr>
          <p:cNvPr id="19" name="Text 14"/>
          <p:cNvSpPr txBox="1"/>
          <p:nvPr/>
        </p:nvSpPr>
        <p:spPr>
          <a:xfrm>
            <a:off x="3429000" y="2304288"/>
            <a:ext cx="1234440" cy="228600"/>
          </a:xfrm>
          <a:prstGeom prst="rect">
            <a:avLst/>
          </a:prstGeom>
          <a:noFill/>
          <a:ln/>
        </p:spPr>
        <p:txBody>
          <a:bodyPr wrap="square" lIns="0" tIns="0" rIns="0" bIns="0" rtlCol="0" anchor="ctr"/>
          <a:lstStyle/>
          <a:p>
            <a:pPr marL="0" indent="0" algn="ctr">
              <a:buNone/>
            </a:pPr>
            <a:r>
              <a:rPr lang="en-US" sz="1050" dirty="0">
                <a:solidFill>
                  <a:srgbClr val="9DB2CC"/>
                </a:solidFill>
                <a:latin typeface="Calibri" pitchFamily="34" charset="0"/>
                <a:ea typeface="Calibri" pitchFamily="34" charset="-122"/>
                <a:cs typeface="Calibri" pitchFamily="34" charset="-120"/>
              </a:rPr>
              <a:t>ML library</a:t>
            </a:r>
            <a:endParaRPr lang="en-US" sz="1050" dirty="0"/>
          </a:p>
        </p:txBody>
      </p:sp>
      <p:sp>
        <p:nvSpPr>
          <p:cNvPr id="20" name="Shape 15"/>
          <p:cNvSpPr/>
          <p:nvPr/>
        </p:nvSpPr>
        <p:spPr>
          <a:xfrm>
            <a:off x="457200" y="2788920"/>
            <a:ext cx="1325880" cy="1371600"/>
          </a:xfrm>
          <a:prstGeom prst="roundRect">
            <a:avLst>
              <a:gd name="adj" fmla="val 5517"/>
            </a:avLst>
          </a:prstGeom>
          <a:solidFill>
            <a:srgbClr val="0F2036"/>
          </a:solidFill>
          <a:ln w="12700">
            <a:solidFill>
              <a:srgbClr val="1D3A5C"/>
            </a:solidFill>
            <a:prstDash val="solid"/>
          </a:ln>
        </p:spPr>
      </p:sp>
      <p:sp>
        <p:nvSpPr>
          <p:cNvPr id="21" name="Shape 16"/>
          <p:cNvSpPr/>
          <p:nvPr/>
        </p:nvSpPr>
        <p:spPr>
          <a:xfrm>
            <a:off x="868680" y="2926080"/>
            <a:ext cx="502920" cy="502920"/>
          </a:xfrm>
          <a:prstGeom prst="ellipse">
            <a:avLst/>
          </a:prstGeom>
          <a:solidFill>
            <a:srgbClr val="0C2233"/>
          </a:solidFill>
          <a:ln w="15875">
            <a:solidFill>
              <a:srgbClr val="2DE2C0"/>
            </a:solidFill>
            <a:prstDash val="solid"/>
          </a:ln>
        </p:spPr>
      </p:sp>
      <p:pic>
        <p:nvPicPr>
          <p:cNvPr id="22" name="Image 3" descr="preencoded.png"/>
          <p:cNvPicPr>
            <a:picLocks noChangeAspect="1"/>
          </p:cNvPicPr>
          <p:nvPr/>
        </p:nvPicPr>
        <p:blipFill>
          <a:blip r:embed="rId7"/>
          <a:stretch>
            <a:fillRect/>
          </a:stretch>
        </p:blipFill>
        <p:spPr>
          <a:xfrm>
            <a:off x="999439" y="3056839"/>
            <a:ext cx="241402" cy="241402"/>
          </a:xfrm>
          <a:prstGeom prst="rect">
            <a:avLst/>
          </a:prstGeom>
        </p:spPr>
      </p:pic>
      <p:sp>
        <p:nvSpPr>
          <p:cNvPr id="23" name="Text 17"/>
          <p:cNvSpPr txBox="1"/>
          <p:nvPr/>
        </p:nvSpPr>
        <p:spPr>
          <a:xfrm>
            <a:off x="502920" y="3538728"/>
            <a:ext cx="1234440" cy="274320"/>
          </a:xfrm>
          <a:prstGeom prst="rect">
            <a:avLst/>
          </a:prstGeom>
          <a:noFill/>
          <a:ln/>
        </p:spPr>
        <p:txBody>
          <a:bodyPr wrap="square" lIns="0" tIns="0" rIns="0" bIns="0" rtlCol="0" anchor="ctr"/>
          <a:lstStyle/>
          <a:p>
            <a:pPr marL="0" indent="0" algn="ctr">
              <a:buNone/>
            </a:pPr>
            <a:r>
              <a:rPr lang="en-US" sz="1250" b="1" dirty="0">
                <a:solidFill>
                  <a:srgbClr val="EAF2FF"/>
                </a:solidFill>
                <a:latin typeface="Calibri" pitchFamily="34" charset="0"/>
                <a:ea typeface="Calibri" pitchFamily="34" charset="-122"/>
                <a:cs typeface="Calibri" pitchFamily="34" charset="-120"/>
              </a:rPr>
              <a:t>SQLite</a:t>
            </a:r>
            <a:endParaRPr lang="en-US" sz="1250" dirty="0"/>
          </a:p>
        </p:txBody>
      </p:sp>
      <p:sp>
        <p:nvSpPr>
          <p:cNvPr id="24" name="Text 18"/>
          <p:cNvSpPr txBox="1"/>
          <p:nvPr/>
        </p:nvSpPr>
        <p:spPr>
          <a:xfrm>
            <a:off x="502920" y="3813048"/>
            <a:ext cx="1234440" cy="228600"/>
          </a:xfrm>
          <a:prstGeom prst="rect">
            <a:avLst/>
          </a:prstGeom>
          <a:noFill/>
          <a:ln/>
        </p:spPr>
        <p:txBody>
          <a:bodyPr wrap="square" lIns="0" tIns="0" rIns="0" bIns="0" rtlCol="0" anchor="ctr"/>
          <a:lstStyle/>
          <a:p>
            <a:pPr marL="0" indent="0" algn="ctr">
              <a:buNone/>
            </a:pPr>
            <a:r>
              <a:rPr lang="en-US" sz="1050" dirty="0">
                <a:solidFill>
                  <a:srgbClr val="9DB2CC"/>
                </a:solidFill>
                <a:latin typeface="Calibri" pitchFamily="34" charset="0"/>
                <a:ea typeface="Calibri" pitchFamily="34" charset="-122"/>
                <a:cs typeface="Calibri" pitchFamily="34" charset="-120"/>
              </a:rPr>
              <a:t>Database</a:t>
            </a:r>
            <a:endParaRPr lang="en-US" sz="1050" dirty="0"/>
          </a:p>
        </p:txBody>
      </p:sp>
      <p:sp>
        <p:nvSpPr>
          <p:cNvPr id="25" name="Shape 19"/>
          <p:cNvSpPr/>
          <p:nvPr/>
        </p:nvSpPr>
        <p:spPr>
          <a:xfrm>
            <a:off x="1920240" y="2788920"/>
            <a:ext cx="1325880" cy="1371600"/>
          </a:xfrm>
          <a:prstGeom prst="roundRect">
            <a:avLst>
              <a:gd name="adj" fmla="val 5517"/>
            </a:avLst>
          </a:prstGeom>
          <a:solidFill>
            <a:srgbClr val="0F2036"/>
          </a:solidFill>
          <a:ln w="12700">
            <a:solidFill>
              <a:srgbClr val="1D3A5C"/>
            </a:solidFill>
            <a:prstDash val="solid"/>
          </a:ln>
        </p:spPr>
      </p:sp>
      <p:sp>
        <p:nvSpPr>
          <p:cNvPr id="26" name="Shape 20"/>
          <p:cNvSpPr/>
          <p:nvPr/>
        </p:nvSpPr>
        <p:spPr>
          <a:xfrm>
            <a:off x="2331720" y="2926080"/>
            <a:ext cx="502920" cy="502920"/>
          </a:xfrm>
          <a:prstGeom prst="ellipse">
            <a:avLst/>
          </a:prstGeom>
          <a:solidFill>
            <a:srgbClr val="0C2233"/>
          </a:solidFill>
          <a:ln w="15875">
            <a:solidFill>
              <a:srgbClr val="2DE2C0"/>
            </a:solidFill>
            <a:prstDash val="solid"/>
          </a:ln>
        </p:spPr>
      </p:sp>
      <p:pic>
        <p:nvPicPr>
          <p:cNvPr id="27" name="Image 4" descr="preencoded.png"/>
          <p:cNvPicPr>
            <a:picLocks noChangeAspect="1"/>
          </p:cNvPicPr>
          <p:nvPr/>
        </p:nvPicPr>
        <p:blipFill>
          <a:blip r:embed="rId8"/>
          <a:stretch>
            <a:fillRect/>
          </a:stretch>
        </p:blipFill>
        <p:spPr>
          <a:xfrm>
            <a:off x="2462479" y="3056839"/>
            <a:ext cx="241402" cy="241402"/>
          </a:xfrm>
          <a:prstGeom prst="rect">
            <a:avLst/>
          </a:prstGeom>
        </p:spPr>
      </p:pic>
      <p:sp>
        <p:nvSpPr>
          <p:cNvPr id="28" name="Text 21"/>
          <p:cNvSpPr txBox="1"/>
          <p:nvPr/>
        </p:nvSpPr>
        <p:spPr>
          <a:xfrm>
            <a:off x="1965960" y="3538728"/>
            <a:ext cx="1234440" cy="274320"/>
          </a:xfrm>
          <a:prstGeom prst="rect">
            <a:avLst/>
          </a:prstGeom>
          <a:noFill/>
          <a:ln/>
        </p:spPr>
        <p:txBody>
          <a:bodyPr wrap="square" lIns="0" tIns="0" rIns="0" bIns="0" rtlCol="0" anchor="ctr"/>
          <a:lstStyle/>
          <a:p>
            <a:pPr marL="0" indent="0" algn="ctr">
              <a:buNone/>
            </a:pPr>
            <a:r>
              <a:rPr lang="en-US" sz="1250" b="1" dirty="0">
                <a:solidFill>
                  <a:srgbClr val="EAF2FF"/>
                </a:solidFill>
                <a:latin typeface="Calibri" pitchFamily="34" charset="0"/>
                <a:ea typeface="Calibri" pitchFamily="34" charset="-122"/>
                <a:cs typeface="Calibri" pitchFamily="34" charset="-120"/>
              </a:rPr>
              <a:t>HTML/CSS/JS</a:t>
            </a:r>
            <a:endParaRPr lang="en-US" sz="1250" dirty="0"/>
          </a:p>
        </p:txBody>
      </p:sp>
      <p:sp>
        <p:nvSpPr>
          <p:cNvPr id="29" name="Text 22"/>
          <p:cNvSpPr txBox="1"/>
          <p:nvPr/>
        </p:nvSpPr>
        <p:spPr>
          <a:xfrm>
            <a:off x="1965960" y="3813048"/>
            <a:ext cx="1234440" cy="228600"/>
          </a:xfrm>
          <a:prstGeom prst="rect">
            <a:avLst/>
          </a:prstGeom>
          <a:noFill/>
          <a:ln/>
        </p:spPr>
        <p:txBody>
          <a:bodyPr wrap="square" lIns="0" tIns="0" rIns="0" bIns="0" rtlCol="0" anchor="ctr"/>
          <a:lstStyle/>
          <a:p>
            <a:pPr marL="0" indent="0" algn="ctr">
              <a:buNone/>
            </a:pPr>
            <a:r>
              <a:rPr lang="en-US" sz="1050" dirty="0">
                <a:solidFill>
                  <a:srgbClr val="9DB2CC"/>
                </a:solidFill>
                <a:latin typeface="Calibri" pitchFamily="34" charset="0"/>
                <a:ea typeface="Calibri" pitchFamily="34" charset="-122"/>
                <a:cs typeface="Calibri" pitchFamily="34" charset="-120"/>
              </a:rPr>
              <a:t>Frontend</a:t>
            </a:r>
            <a:endParaRPr lang="en-US" sz="1050" dirty="0"/>
          </a:p>
        </p:txBody>
      </p:sp>
      <p:sp>
        <p:nvSpPr>
          <p:cNvPr id="30" name="Shape 23"/>
          <p:cNvSpPr/>
          <p:nvPr/>
        </p:nvSpPr>
        <p:spPr>
          <a:xfrm>
            <a:off x="3383280" y="2788920"/>
            <a:ext cx="1325880" cy="1371600"/>
          </a:xfrm>
          <a:prstGeom prst="roundRect">
            <a:avLst>
              <a:gd name="adj" fmla="val 5517"/>
            </a:avLst>
          </a:prstGeom>
          <a:solidFill>
            <a:srgbClr val="0F2036"/>
          </a:solidFill>
          <a:ln w="12700">
            <a:solidFill>
              <a:srgbClr val="1D3A5C"/>
            </a:solidFill>
            <a:prstDash val="solid"/>
          </a:ln>
        </p:spPr>
      </p:sp>
      <p:sp>
        <p:nvSpPr>
          <p:cNvPr id="31" name="Shape 24"/>
          <p:cNvSpPr/>
          <p:nvPr/>
        </p:nvSpPr>
        <p:spPr>
          <a:xfrm>
            <a:off x="3794760" y="2926080"/>
            <a:ext cx="502920" cy="502920"/>
          </a:xfrm>
          <a:prstGeom prst="ellipse">
            <a:avLst/>
          </a:prstGeom>
          <a:solidFill>
            <a:srgbClr val="0C2233"/>
          </a:solidFill>
          <a:ln w="15875">
            <a:solidFill>
              <a:srgbClr val="2DE2C0"/>
            </a:solidFill>
            <a:prstDash val="solid"/>
          </a:ln>
        </p:spPr>
      </p:sp>
      <p:pic>
        <p:nvPicPr>
          <p:cNvPr id="32" name="Image 5" descr="preencoded.png"/>
          <p:cNvPicPr>
            <a:picLocks noChangeAspect="1"/>
          </p:cNvPicPr>
          <p:nvPr/>
        </p:nvPicPr>
        <p:blipFill>
          <a:blip r:embed="rId9"/>
          <a:stretch>
            <a:fillRect/>
          </a:stretch>
        </p:blipFill>
        <p:spPr>
          <a:xfrm>
            <a:off x="3925519" y="3056839"/>
            <a:ext cx="241402" cy="241402"/>
          </a:xfrm>
          <a:prstGeom prst="rect">
            <a:avLst/>
          </a:prstGeom>
        </p:spPr>
      </p:pic>
      <p:sp>
        <p:nvSpPr>
          <p:cNvPr id="33" name="Text 25"/>
          <p:cNvSpPr txBox="1"/>
          <p:nvPr/>
        </p:nvSpPr>
        <p:spPr>
          <a:xfrm>
            <a:off x="3429000" y="3538728"/>
            <a:ext cx="1234440" cy="274320"/>
          </a:xfrm>
          <a:prstGeom prst="rect">
            <a:avLst/>
          </a:prstGeom>
          <a:noFill/>
          <a:ln/>
        </p:spPr>
        <p:txBody>
          <a:bodyPr wrap="square" lIns="0" tIns="0" rIns="0" bIns="0" rtlCol="0" anchor="ctr"/>
          <a:lstStyle/>
          <a:p>
            <a:pPr marL="0" indent="0" algn="ctr">
              <a:buNone/>
            </a:pPr>
            <a:r>
              <a:rPr lang="en-US" sz="1250" b="1" dirty="0">
                <a:solidFill>
                  <a:srgbClr val="EAF2FF"/>
                </a:solidFill>
                <a:latin typeface="Calibri" pitchFamily="34" charset="0"/>
                <a:ea typeface="Calibri" pitchFamily="34" charset="-122"/>
                <a:cs typeface="Calibri" pitchFamily="34" charset="-120"/>
              </a:rPr>
              <a:t>DNS + RDAP</a:t>
            </a:r>
            <a:endParaRPr lang="en-US" sz="1250" dirty="0"/>
          </a:p>
        </p:txBody>
      </p:sp>
      <p:sp>
        <p:nvSpPr>
          <p:cNvPr id="34" name="Text 26"/>
          <p:cNvSpPr txBox="1"/>
          <p:nvPr/>
        </p:nvSpPr>
        <p:spPr>
          <a:xfrm>
            <a:off x="3429000" y="3813048"/>
            <a:ext cx="1234440" cy="228600"/>
          </a:xfrm>
          <a:prstGeom prst="rect">
            <a:avLst/>
          </a:prstGeom>
          <a:noFill/>
          <a:ln/>
        </p:spPr>
        <p:txBody>
          <a:bodyPr wrap="square" lIns="0" tIns="0" rIns="0" bIns="0" rtlCol="0" anchor="ctr"/>
          <a:lstStyle/>
          <a:p>
            <a:pPr marL="0" indent="0" algn="ctr">
              <a:buNone/>
            </a:pPr>
            <a:r>
              <a:rPr lang="en-US" sz="1050" dirty="0">
                <a:solidFill>
                  <a:srgbClr val="9DB2CC"/>
                </a:solidFill>
                <a:latin typeface="Calibri" pitchFamily="34" charset="0"/>
                <a:ea typeface="Calibri" pitchFamily="34" charset="-122"/>
                <a:cs typeface="Calibri" pitchFamily="34" charset="-120"/>
              </a:rPr>
              <a:t>Live lookups</a:t>
            </a:r>
            <a:endParaRPr lang="en-US" sz="1050" dirty="0"/>
          </a:p>
        </p:txBody>
      </p:sp>
      <p:sp>
        <p:nvSpPr>
          <p:cNvPr id="35" name="Shape 27"/>
          <p:cNvSpPr/>
          <p:nvPr/>
        </p:nvSpPr>
        <p:spPr>
          <a:xfrm>
            <a:off x="457200" y="4389120"/>
            <a:ext cx="4251960" cy="411480"/>
          </a:xfrm>
          <a:prstGeom prst="roundRect">
            <a:avLst>
              <a:gd name="adj" fmla="val 17778"/>
            </a:avLst>
          </a:prstGeom>
          <a:solidFill>
            <a:srgbClr val="0F2036"/>
          </a:solidFill>
          <a:ln w="12700">
            <a:solidFill>
              <a:srgbClr val="1D3A5C"/>
            </a:solidFill>
            <a:prstDash val="solid"/>
          </a:ln>
        </p:spPr>
      </p:sp>
      <p:sp>
        <p:nvSpPr>
          <p:cNvPr id="36" name="Text 28"/>
          <p:cNvSpPr txBox="1"/>
          <p:nvPr/>
        </p:nvSpPr>
        <p:spPr>
          <a:xfrm>
            <a:off x="566928" y="4389120"/>
            <a:ext cx="4069080" cy="411480"/>
          </a:xfrm>
          <a:prstGeom prst="rect">
            <a:avLst/>
          </a:prstGeom>
          <a:noFill/>
          <a:ln/>
        </p:spPr>
        <p:txBody>
          <a:bodyPr wrap="square" lIns="0" tIns="0" rIns="0" bIns="0" rtlCol="0" anchor="ctr"/>
          <a:lstStyle/>
          <a:p>
            <a:pPr marL="0" indent="0">
              <a:buNone/>
            </a:pPr>
            <a:r>
              <a:rPr lang="en-US" sz="1000" dirty="0">
                <a:solidFill>
                  <a:srgbClr val="9DB2CC"/>
                </a:solidFill>
                <a:latin typeface="Calibri" pitchFamily="34" charset="0"/>
                <a:ea typeface="Calibri" pitchFamily="34" charset="-122"/>
                <a:cs typeface="Calibri" pitchFamily="34" charset="-120"/>
              </a:rPr>
              <a:t>Data: Phishing.Database feed (392,068 domains) + Enron-Spam sample (5,000 real emails)</a:t>
            </a:r>
            <a:endParaRPr lang="en-US" sz="1000" dirty="0"/>
          </a:p>
        </p:txBody>
      </p:sp>
      <p:sp>
        <p:nvSpPr>
          <p:cNvPr id="37" name="Shape 29"/>
          <p:cNvSpPr/>
          <p:nvPr/>
        </p:nvSpPr>
        <p:spPr>
          <a:xfrm>
            <a:off x="5029200" y="1280160"/>
            <a:ext cx="3657600" cy="3337560"/>
          </a:xfrm>
          <a:prstGeom prst="roundRect">
            <a:avLst>
              <a:gd name="adj" fmla="val 2192"/>
            </a:avLst>
          </a:prstGeom>
          <a:solidFill>
            <a:srgbClr val="0F2036"/>
          </a:solidFill>
          <a:ln w="12700">
            <a:solidFill>
              <a:srgbClr val="1D3A5C"/>
            </a:solidFill>
            <a:prstDash val="solid"/>
          </a:ln>
        </p:spPr>
      </p:sp>
      <p:sp>
        <p:nvSpPr>
          <p:cNvPr id="38" name="Text 30"/>
          <p:cNvSpPr txBox="1"/>
          <p:nvPr/>
        </p:nvSpPr>
        <p:spPr>
          <a:xfrm>
            <a:off x="5212080" y="1417320"/>
            <a:ext cx="3291840" cy="201168"/>
          </a:xfrm>
          <a:prstGeom prst="rect">
            <a:avLst/>
          </a:prstGeom>
          <a:noFill/>
          <a:ln/>
        </p:spPr>
        <p:txBody>
          <a:bodyPr wrap="square" lIns="0" tIns="0" rIns="0" bIns="0" rtlCol="0" anchor="ctr"/>
          <a:lstStyle/>
          <a:p>
            <a:pPr marL="0" indent="0">
              <a:buNone/>
            </a:pPr>
            <a:r>
              <a:rPr lang="en-US" sz="1000" b="1" kern="0" spc="200" dirty="0">
                <a:solidFill>
                  <a:srgbClr val="2DE2C0"/>
                </a:solidFill>
                <a:latin typeface="Courier New" pitchFamily="34" charset="0"/>
                <a:ea typeface="Courier New" pitchFamily="34" charset="-122"/>
                <a:cs typeface="Courier New" pitchFamily="34" charset="-120"/>
              </a:rPr>
              <a:t>ALSO IN THE PROJECT</a:t>
            </a:r>
            <a:endParaRPr lang="en-US" sz="1000" dirty="0"/>
          </a:p>
        </p:txBody>
      </p:sp>
      <p:sp>
        <p:nvSpPr>
          <p:cNvPr id="39" name="Shape 31"/>
          <p:cNvSpPr/>
          <p:nvPr/>
        </p:nvSpPr>
        <p:spPr>
          <a:xfrm>
            <a:off x="5212080" y="1737360"/>
            <a:ext cx="365760" cy="365760"/>
          </a:xfrm>
          <a:prstGeom prst="ellipse">
            <a:avLst/>
          </a:prstGeom>
          <a:solidFill>
            <a:srgbClr val="0C2233"/>
          </a:solidFill>
          <a:ln w="15875">
            <a:solidFill>
              <a:srgbClr val="2DE2C0"/>
            </a:solidFill>
            <a:prstDash val="solid"/>
          </a:ln>
        </p:spPr>
      </p:sp>
      <p:pic>
        <p:nvPicPr>
          <p:cNvPr id="40" name="Image 6" descr="preencoded.png"/>
          <p:cNvPicPr>
            <a:picLocks noChangeAspect="1"/>
          </p:cNvPicPr>
          <p:nvPr/>
        </p:nvPicPr>
        <p:blipFill>
          <a:blip r:embed="rId5"/>
          <a:stretch>
            <a:fillRect/>
          </a:stretch>
        </p:blipFill>
        <p:spPr>
          <a:xfrm>
            <a:off x="5307178" y="1832458"/>
            <a:ext cx="175565" cy="175565"/>
          </a:xfrm>
          <a:prstGeom prst="rect">
            <a:avLst/>
          </a:prstGeom>
        </p:spPr>
      </p:pic>
      <p:sp>
        <p:nvSpPr>
          <p:cNvPr id="41" name="Text 32"/>
          <p:cNvSpPr txBox="1"/>
          <p:nvPr/>
        </p:nvSpPr>
        <p:spPr>
          <a:xfrm>
            <a:off x="5715000" y="1737360"/>
            <a:ext cx="2834640" cy="365760"/>
          </a:xfrm>
          <a:prstGeom prst="rect">
            <a:avLst/>
          </a:prstGeom>
          <a:noFill/>
          <a:ln/>
        </p:spPr>
        <p:txBody>
          <a:bodyPr wrap="square" lIns="0" tIns="0" rIns="0" bIns="0" rtlCol="0" anchor="ctr"/>
          <a:lstStyle/>
          <a:p>
            <a:pPr marL="0" indent="0">
              <a:buNone/>
            </a:pPr>
            <a:r>
              <a:rPr lang="en-US" sz="1200" dirty="0">
                <a:solidFill>
                  <a:srgbClr val="EAF2FF"/>
                </a:solidFill>
                <a:latin typeface="Calibri" pitchFamily="34" charset="0"/>
                <a:ea typeface="Calibri" pitchFamily="34" charset="-122"/>
                <a:cs typeface="Calibri" pitchFamily="34" charset="-120"/>
              </a:rPr>
              <a:t>Model lab: 4 algorithms compared</a:t>
            </a:r>
            <a:endParaRPr lang="en-US" sz="1200" dirty="0"/>
          </a:p>
        </p:txBody>
      </p:sp>
      <p:sp>
        <p:nvSpPr>
          <p:cNvPr id="42" name="Shape 33"/>
          <p:cNvSpPr/>
          <p:nvPr/>
        </p:nvSpPr>
        <p:spPr>
          <a:xfrm>
            <a:off x="5212080" y="2212848"/>
            <a:ext cx="365760" cy="365760"/>
          </a:xfrm>
          <a:prstGeom prst="ellipse">
            <a:avLst/>
          </a:prstGeom>
          <a:solidFill>
            <a:srgbClr val="0C2233"/>
          </a:solidFill>
          <a:ln w="15875">
            <a:solidFill>
              <a:srgbClr val="2DE2C0"/>
            </a:solidFill>
            <a:prstDash val="solid"/>
          </a:ln>
        </p:spPr>
      </p:sp>
      <p:pic>
        <p:nvPicPr>
          <p:cNvPr id="43" name="Image 7" descr="preencoded.png"/>
          <p:cNvPicPr>
            <a:picLocks noChangeAspect="1"/>
          </p:cNvPicPr>
          <p:nvPr/>
        </p:nvPicPr>
        <p:blipFill>
          <a:blip r:embed="rId10"/>
          <a:stretch>
            <a:fillRect/>
          </a:stretch>
        </p:blipFill>
        <p:spPr>
          <a:xfrm>
            <a:off x="5307178" y="2307946"/>
            <a:ext cx="175565" cy="175565"/>
          </a:xfrm>
          <a:prstGeom prst="rect">
            <a:avLst/>
          </a:prstGeom>
        </p:spPr>
      </p:pic>
      <p:sp>
        <p:nvSpPr>
          <p:cNvPr id="44" name="Text 34"/>
          <p:cNvSpPr txBox="1"/>
          <p:nvPr/>
        </p:nvSpPr>
        <p:spPr>
          <a:xfrm>
            <a:off x="5715000" y="2212848"/>
            <a:ext cx="2834640" cy="365760"/>
          </a:xfrm>
          <a:prstGeom prst="rect">
            <a:avLst/>
          </a:prstGeom>
          <a:noFill/>
          <a:ln/>
        </p:spPr>
        <p:txBody>
          <a:bodyPr wrap="square" lIns="0" tIns="0" rIns="0" bIns="0" rtlCol="0" anchor="ctr"/>
          <a:lstStyle/>
          <a:p>
            <a:pPr marL="0" indent="0">
              <a:buNone/>
            </a:pPr>
            <a:r>
              <a:rPr lang="en-US" sz="1200" dirty="0">
                <a:solidFill>
                  <a:srgbClr val="EAF2FF"/>
                </a:solidFill>
                <a:latin typeface="Calibri" pitchFamily="34" charset="0"/>
                <a:ea typeface="Calibri" pitchFamily="34" charset="-122"/>
                <a:cs typeface="Calibri" pitchFamily="34" charset="-120"/>
              </a:rPr>
              <a:t>Spot the phish quiz game</a:t>
            </a:r>
            <a:endParaRPr lang="en-US" sz="1200" dirty="0"/>
          </a:p>
        </p:txBody>
      </p:sp>
      <p:sp>
        <p:nvSpPr>
          <p:cNvPr id="45" name="Shape 35"/>
          <p:cNvSpPr/>
          <p:nvPr/>
        </p:nvSpPr>
        <p:spPr>
          <a:xfrm>
            <a:off x="5212080" y="2688336"/>
            <a:ext cx="365760" cy="365760"/>
          </a:xfrm>
          <a:prstGeom prst="ellipse">
            <a:avLst/>
          </a:prstGeom>
          <a:solidFill>
            <a:srgbClr val="0C2233"/>
          </a:solidFill>
          <a:ln w="15875">
            <a:solidFill>
              <a:srgbClr val="2DE2C0"/>
            </a:solidFill>
            <a:prstDash val="solid"/>
          </a:ln>
        </p:spPr>
      </p:sp>
      <p:pic>
        <p:nvPicPr>
          <p:cNvPr id="46" name="Image 8" descr="preencoded.png"/>
          <p:cNvPicPr>
            <a:picLocks noChangeAspect="1"/>
          </p:cNvPicPr>
          <p:nvPr/>
        </p:nvPicPr>
        <p:blipFill>
          <a:blip r:embed="rId11"/>
          <a:stretch>
            <a:fillRect/>
          </a:stretch>
        </p:blipFill>
        <p:spPr>
          <a:xfrm>
            <a:off x="5307178" y="2783434"/>
            <a:ext cx="175565" cy="175565"/>
          </a:xfrm>
          <a:prstGeom prst="rect">
            <a:avLst/>
          </a:prstGeom>
        </p:spPr>
      </p:pic>
      <p:sp>
        <p:nvSpPr>
          <p:cNvPr id="47" name="Text 36"/>
          <p:cNvSpPr txBox="1"/>
          <p:nvPr/>
        </p:nvSpPr>
        <p:spPr>
          <a:xfrm>
            <a:off x="5715000" y="2688336"/>
            <a:ext cx="2834640" cy="365760"/>
          </a:xfrm>
          <a:prstGeom prst="rect">
            <a:avLst/>
          </a:prstGeom>
          <a:noFill/>
          <a:ln/>
        </p:spPr>
        <p:txBody>
          <a:bodyPr wrap="square" lIns="0" tIns="0" rIns="0" bIns="0" rtlCol="0" anchor="ctr"/>
          <a:lstStyle/>
          <a:p>
            <a:pPr marL="0" indent="0">
              <a:buNone/>
            </a:pPr>
            <a:r>
              <a:rPr lang="en-US" sz="1200" dirty="0">
                <a:solidFill>
                  <a:srgbClr val="EAF2FF"/>
                </a:solidFill>
                <a:latin typeface="Calibri" pitchFamily="34" charset="0"/>
                <a:ea typeface="Calibri" pitchFamily="34" charset="-122"/>
                <a:cs typeface="Calibri" pitchFamily="34" charset="-120"/>
              </a:rPr>
              <a:t>Bulk CSV scan with export</a:t>
            </a:r>
            <a:endParaRPr lang="en-US" sz="1200" dirty="0"/>
          </a:p>
        </p:txBody>
      </p:sp>
      <p:sp>
        <p:nvSpPr>
          <p:cNvPr id="48" name="Shape 37"/>
          <p:cNvSpPr/>
          <p:nvPr/>
        </p:nvSpPr>
        <p:spPr>
          <a:xfrm>
            <a:off x="5212080" y="3163824"/>
            <a:ext cx="365760" cy="365760"/>
          </a:xfrm>
          <a:prstGeom prst="ellipse">
            <a:avLst/>
          </a:prstGeom>
          <a:solidFill>
            <a:srgbClr val="0C2233"/>
          </a:solidFill>
          <a:ln w="15875">
            <a:solidFill>
              <a:srgbClr val="2DE2C0"/>
            </a:solidFill>
            <a:prstDash val="solid"/>
          </a:ln>
        </p:spPr>
      </p:sp>
      <p:pic>
        <p:nvPicPr>
          <p:cNvPr id="49" name="Image 9" descr="preencoded.png"/>
          <p:cNvPicPr>
            <a:picLocks noChangeAspect="1"/>
          </p:cNvPicPr>
          <p:nvPr/>
        </p:nvPicPr>
        <p:blipFill>
          <a:blip r:embed="rId12"/>
          <a:stretch>
            <a:fillRect/>
          </a:stretch>
        </p:blipFill>
        <p:spPr>
          <a:xfrm>
            <a:off x="5307178" y="3258922"/>
            <a:ext cx="175565" cy="175565"/>
          </a:xfrm>
          <a:prstGeom prst="rect">
            <a:avLst/>
          </a:prstGeom>
        </p:spPr>
      </p:pic>
      <p:sp>
        <p:nvSpPr>
          <p:cNvPr id="50" name="Text 38"/>
          <p:cNvSpPr txBox="1"/>
          <p:nvPr/>
        </p:nvSpPr>
        <p:spPr>
          <a:xfrm>
            <a:off x="5715000" y="3163824"/>
            <a:ext cx="2834640" cy="365760"/>
          </a:xfrm>
          <a:prstGeom prst="rect">
            <a:avLst/>
          </a:prstGeom>
          <a:noFill/>
          <a:ln/>
        </p:spPr>
        <p:txBody>
          <a:bodyPr wrap="square" lIns="0" tIns="0" rIns="0" bIns="0" rtlCol="0" anchor="ctr"/>
          <a:lstStyle/>
          <a:p>
            <a:pPr marL="0" indent="0">
              <a:buNone/>
            </a:pPr>
            <a:r>
              <a:rPr lang="en-US" sz="1200" dirty="0">
                <a:solidFill>
                  <a:srgbClr val="EAF2FF"/>
                </a:solidFill>
                <a:latin typeface="Calibri" pitchFamily="34" charset="0"/>
                <a:ea typeface="Calibri" pitchFamily="34" charset="-122"/>
                <a:cs typeface="Calibri" pitchFamily="34" charset="-120"/>
              </a:rPr>
              <a:t>Printable scan reports</a:t>
            </a:r>
            <a:endParaRPr lang="en-US" sz="1200" dirty="0"/>
          </a:p>
        </p:txBody>
      </p:sp>
      <p:sp>
        <p:nvSpPr>
          <p:cNvPr id="51" name="Shape 39"/>
          <p:cNvSpPr/>
          <p:nvPr/>
        </p:nvSpPr>
        <p:spPr>
          <a:xfrm>
            <a:off x="5212080" y="3639312"/>
            <a:ext cx="365760" cy="365760"/>
          </a:xfrm>
          <a:prstGeom prst="ellipse">
            <a:avLst/>
          </a:prstGeom>
          <a:solidFill>
            <a:srgbClr val="0C2233"/>
          </a:solidFill>
          <a:ln w="15875">
            <a:solidFill>
              <a:srgbClr val="2DE2C0"/>
            </a:solidFill>
            <a:prstDash val="solid"/>
          </a:ln>
        </p:spPr>
      </p:sp>
      <p:pic>
        <p:nvPicPr>
          <p:cNvPr id="52" name="Image 10" descr="preencoded.png"/>
          <p:cNvPicPr>
            <a:picLocks noChangeAspect="1"/>
          </p:cNvPicPr>
          <p:nvPr/>
        </p:nvPicPr>
        <p:blipFill>
          <a:blip r:embed="rId13"/>
          <a:stretch>
            <a:fillRect/>
          </a:stretch>
        </p:blipFill>
        <p:spPr>
          <a:xfrm>
            <a:off x="5307178" y="3734410"/>
            <a:ext cx="175565" cy="175565"/>
          </a:xfrm>
          <a:prstGeom prst="rect">
            <a:avLst/>
          </a:prstGeom>
        </p:spPr>
      </p:pic>
      <p:sp>
        <p:nvSpPr>
          <p:cNvPr id="53" name="Text 40"/>
          <p:cNvSpPr txBox="1"/>
          <p:nvPr/>
        </p:nvSpPr>
        <p:spPr>
          <a:xfrm>
            <a:off x="5715000" y="3639312"/>
            <a:ext cx="2834640" cy="365760"/>
          </a:xfrm>
          <a:prstGeom prst="rect">
            <a:avLst/>
          </a:prstGeom>
          <a:noFill/>
          <a:ln/>
        </p:spPr>
        <p:txBody>
          <a:bodyPr wrap="square" lIns="0" tIns="0" rIns="0" bIns="0" rtlCol="0" anchor="ctr"/>
          <a:lstStyle/>
          <a:p>
            <a:pPr marL="0" indent="0">
              <a:buNone/>
            </a:pPr>
            <a:r>
              <a:rPr lang="en-US" sz="1200" dirty="0">
                <a:solidFill>
                  <a:srgbClr val="EAF2FF"/>
                </a:solidFill>
                <a:latin typeface="Calibri" pitchFamily="34" charset="0"/>
                <a:ea typeface="Calibri" pitchFamily="34" charset="-122"/>
                <a:cs typeface="Calibri" pitchFamily="34" charset="-120"/>
              </a:rPr>
              <a:t>Dark mode, drag-and-drop .eml</a:t>
            </a:r>
            <a:endParaRPr lang="en-US" sz="1200" dirty="0"/>
          </a:p>
        </p:txBody>
      </p:sp>
      <p:sp>
        <p:nvSpPr>
          <p:cNvPr id="54" name="Shape 41"/>
          <p:cNvSpPr/>
          <p:nvPr/>
        </p:nvSpPr>
        <p:spPr>
          <a:xfrm>
            <a:off x="5212080" y="4114800"/>
            <a:ext cx="365760" cy="365760"/>
          </a:xfrm>
          <a:prstGeom prst="ellipse">
            <a:avLst/>
          </a:prstGeom>
          <a:solidFill>
            <a:srgbClr val="0C2233"/>
          </a:solidFill>
          <a:ln w="15875">
            <a:solidFill>
              <a:srgbClr val="2DE2C0"/>
            </a:solidFill>
            <a:prstDash val="solid"/>
          </a:ln>
        </p:spPr>
      </p:sp>
      <p:pic>
        <p:nvPicPr>
          <p:cNvPr id="55" name="Image 11" descr="preencoded.png"/>
          <p:cNvPicPr>
            <a:picLocks noChangeAspect="1"/>
          </p:cNvPicPr>
          <p:nvPr/>
        </p:nvPicPr>
        <p:blipFill>
          <a:blip r:embed="rId14"/>
          <a:stretch>
            <a:fillRect/>
          </a:stretch>
        </p:blipFill>
        <p:spPr>
          <a:xfrm>
            <a:off x="5307178" y="4209898"/>
            <a:ext cx="175565" cy="175565"/>
          </a:xfrm>
          <a:prstGeom prst="rect">
            <a:avLst/>
          </a:prstGeom>
        </p:spPr>
      </p:pic>
      <p:sp>
        <p:nvSpPr>
          <p:cNvPr id="56" name="Text 42"/>
          <p:cNvSpPr txBox="1"/>
          <p:nvPr/>
        </p:nvSpPr>
        <p:spPr>
          <a:xfrm>
            <a:off x="5715000" y="4114800"/>
            <a:ext cx="2834640" cy="365760"/>
          </a:xfrm>
          <a:prstGeom prst="rect">
            <a:avLst/>
          </a:prstGeom>
          <a:noFill/>
          <a:ln/>
        </p:spPr>
        <p:txBody>
          <a:bodyPr wrap="square" lIns="0" tIns="0" rIns="0" bIns="0" rtlCol="0" anchor="ctr"/>
          <a:lstStyle/>
          <a:p>
            <a:pPr marL="0" indent="0">
              <a:buNone/>
            </a:pPr>
            <a:r>
              <a:rPr lang="en-US" sz="1200" dirty="0">
                <a:solidFill>
                  <a:srgbClr val="EAF2FF"/>
                </a:solidFill>
                <a:latin typeface="Calibri" pitchFamily="34" charset="0"/>
                <a:ea typeface="Calibri" pitchFamily="34" charset="-122"/>
                <a:cs typeface="Calibri" pitchFamily="34" charset="-120"/>
              </a:rPr>
              <a:t>Update threat feed from internet</a:t>
            </a:r>
            <a:endParaRPr lang="en-US" sz="1200" dirty="0"/>
          </a:p>
        </p:txBody>
      </p:sp>
    </p:spTree>
  </p:cSld>
  <p:clrMapOvr>
    <a:masterClrMapping/>
  </p:clrMapOvr>
  <p:transition spd="med">
    <p:push/>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rgbClr val="2DE2C0"/>
                </a:solidFill>
                <a:latin typeface="Courier New" pitchFamily="34" charset="0"/>
                <a:ea typeface="Courier New" pitchFamily="34" charset="-122"/>
                <a:cs typeface="Courier New" pitchFamily="34" charset="-120"/>
              </a:rPr>
              <a:t>// 10  IMPLEMENTATION AND USER FLOW</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b="1" dirty="0">
                <a:solidFill>
                  <a:srgbClr val="EAF2FF"/>
                </a:solidFill>
                <a:latin typeface="Calibri" pitchFamily="34" charset="0"/>
                <a:ea typeface="Calibri" pitchFamily="34" charset="-122"/>
                <a:cs typeface="Calibri" pitchFamily="34" charset="-120"/>
              </a:rPr>
              <a:t>From opening the app to retraining the model</a:t>
            </a:r>
            <a:endParaRPr lang="en-US" sz="3000" dirty="0"/>
          </a:p>
        </p:txBody>
      </p:sp>
      <p:sp>
        <p:nvSpPr>
          <p:cNvPr id="4" name="Text 2"/>
          <p:cNvSpPr txBox="1"/>
          <p:nvPr/>
        </p:nvSpPr>
        <p:spPr>
          <a:xfrm>
            <a:off x="7498080" y="4864608"/>
            <a:ext cx="1188720" cy="182880"/>
          </a:xfrm>
          <a:prstGeom prst="rect">
            <a:avLst/>
          </a:prstGeom>
          <a:noFill/>
          <a:ln/>
        </p:spPr>
        <p:txBody>
          <a:bodyPr wrap="square" lIns="0" tIns="0" rIns="0" bIns="0" rtlCol="0" anchor="ctr"/>
          <a:lstStyle/>
          <a:p>
            <a:pPr marL="0" indent="0" algn="r">
              <a:buNone/>
            </a:pPr>
            <a:r>
              <a:rPr lang="en-US" sz="900" dirty="0">
                <a:solidFill>
                  <a:srgbClr val="9DB2CC"/>
                </a:solidFill>
                <a:latin typeface="Courier New" pitchFamily="34" charset="0"/>
                <a:ea typeface="Courier New" pitchFamily="34" charset="-122"/>
                <a:cs typeface="Courier New" pitchFamily="34" charset="-120"/>
              </a:rPr>
              <a:t>10 / 15</a:t>
            </a:r>
            <a:endParaRPr lang="en-US" sz="900" dirty="0"/>
          </a:p>
        </p:txBody>
      </p:sp>
      <p:sp>
        <p:nvSpPr>
          <p:cNvPr id="5" name="Shape 3"/>
          <p:cNvSpPr/>
          <p:nvPr/>
        </p:nvSpPr>
        <p:spPr>
          <a:xfrm>
            <a:off x="457200" y="1234440"/>
            <a:ext cx="1234440" cy="1371600"/>
          </a:xfrm>
          <a:prstGeom prst="roundRect">
            <a:avLst>
              <a:gd name="adj" fmla="val 5926"/>
            </a:avLst>
          </a:prstGeom>
          <a:solidFill>
            <a:srgbClr val="0F2036"/>
          </a:solidFill>
          <a:ln w="12700">
            <a:solidFill>
              <a:srgbClr val="1D3A5C"/>
            </a:solidFill>
            <a:prstDash val="solid"/>
          </a:ln>
        </p:spPr>
      </p:sp>
      <p:sp>
        <p:nvSpPr>
          <p:cNvPr id="6" name="Shape 4"/>
          <p:cNvSpPr/>
          <p:nvPr/>
        </p:nvSpPr>
        <p:spPr>
          <a:xfrm>
            <a:off x="822960" y="1353312"/>
            <a:ext cx="502920" cy="502920"/>
          </a:xfrm>
          <a:prstGeom prst="ellipse">
            <a:avLst/>
          </a:prstGeom>
          <a:solidFill>
            <a:srgbClr val="0C2233"/>
          </a:solidFill>
          <a:ln w="15875">
            <a:solidFill>
              <a:srgbClr val="2DE2C0"/>
            </a:solidFill>
            <a:prstDash val="solid"/>
          </a:ln>
        </p:spPr>
      </p:sp>
      <p:pic>
        <p:nvPicPr>
          <p:cNvPr id="7" name="Image 0" descr="preencoded.png"/>
          <p:cNvPicPr>
            <a:picLocks noChangeAspect="1"/>
          </p:cNvPicPr>
          <p:nvPr/>
        </p:nvPicPr>
        <p:blipFill>
          <a:blip r:embed="rId4"/>
          <a:stretch>
            <a:fillRect/>
          </a:stretch>
        </p:blipFill>
        <p:spPr>
          <a:xfrm>
            <a:off x="953719" y="1484071"/>
            <a:ext cx="241402" cy="241402"/>
          </a:xfrm>
          <a:prstGeom prst="rect">
            <a:avLst/>
          </a:prstGeom>
        </p:spPr>
      </p:pic>
      <p:sp>
        <p:nvSpPr>
          <p:cNvPr id="8" name="Text 5"/>
          <p:cNvSpPr txBox="1"/>
          <p:nvPr/>
        </p:nvSpPr>
        <p:spPr>
          <a:xfrm>
            <a:off x="502920" y="1920240"/>
            <a:ext cx="1143000" cy="274320"/>
          </a:xfrm>
          <a:prstGeom prst="rect">
            <a:avLst/>
          </a:prstGeom>
          <a:noFill/>
          <a:ln/>
        </p:spPr>
        <p:txBody>
          <a:bodyPr wrap="square" lIns="0" tIns="0" rIns="0" bIns="0" rtlCol="0" anchor="ctr"/>
          <a:lstStyle/>
          <a:p>
            <a:pPr marL="0" indent="0" algn="ctr">
              <a:buNone/>
            </a:pPr>
            <a:r>
              <a:rPr lang="en-US" sz="1150" b="1" dirty="0">
                <a:solidFill>
                  <a:srgbClr val="EAF2FF"/>
                </a:solidFill>
                <a:latin typeface="Calibri" pitchFamily="34" charset="0"/>
                <a:ea typeface="Calibri" pitchFamily="34" charset="-122"/>
                <a:cs typeface="Calibri" pitchFamily="34" charset="-120"/>
              </a:rPr>
              <a:t>Open app</a:t>
            </a:r>
            <a:endParaRPr lang="en-US" sz="1150" dirty="0"/>
          </a:p>
        </p:txBody>
      </p:sp>
      <p:sp>
        <p:nvSpPr>
          <p:cNvPr id="9" name="Text 6"/>
          <p:cNvSpPr txBox="1"/>
          <p:nvPr/>
        </p:nvSpPr>
        <p:spPr>
          <a:xfrm>
            <a:off x="521208" y="2194560"/>
            <a:ext cx="1106424" cy="365760"/>
          </a:xfrm>
          <a:prstGeom prst="rect">
            <a:avLst/>
          </a:prstGeom>
          <a:noFill/>
          <a:ln/>
        </p:spPr>
        <p:txBody>
          <a:bodyPr wrap="square" lIns="0" tIns="0" rIns="0" bIns="0" rtlCol="0" anchor="t"/>
          <a:lstStyle/>
          <a:p>
            <a:pPr marL="0" indent="0" algn="ctr">
              <a:buNone/>
            </a:pPr>
            <a:r>
              <a:rPr lang="en-US" sz="950" dirty="0">
                <a:solidFill>
                  <a:srgbClr val="9DB2CC"/>
                </a:solidFill>
                <a:latin typeface="Calibri" pitchFamily="34" charset="0"/>
                <a:ea typeface="Calibri" pitchFamily="34" charset="-122"/>
                <a:cs typeface="Calibri" pitchFamily="34" charset="-120"/>
              </a:rPr>
              <a:t>Dashboard</a:t>
            </a:r>
            <a:endParaRPr lang="en-US" sz="950" dirty="0"/>
          </a:p>
        </p:txBody>
      </p:sp>
      <p:sp>
        <p:nvSpPr>
          <p:cNvPr id="10" name="Shape 7"/>
          <p:cNvSpPr/>
          <p:nvPr/>
        </p:nvSpPr>
        <p:spPr>
          <a:xfrm>
            <a:off x="1719072" y="1810512"/>
            <a:ext cx="91440" cy="182880"/>
          </a:xfrm>
          <a:prstGeom prst="chevron">
            <a:avLst/>
          </a:prstGeom>
          <a:solidFill>
            <a:srgbClr val="2DE2C0"/>
          </a:solidFill>
          <a:ln w="12700">
            <a:solidFill>
              <a:srgbClr val="2DE2C0"/>
            </a:solidFill>
            <a:prstDash val="solid"/>
          </a:ln>
        </p:spPr>
      </p:sp>
      <p:sp>
        <p:nvSpPr>
          <p:cNvPr id="11" name="Shape 8"/>
          <p:cNvSpPr/>
          <p:nvPr/>
        </p:nvSpPr>
        <p:spPr>
          <a:xfrm>
            <a:off x="1856232" y="1234440"/>
            <a:ext cx="1234440" cy="1371600"/>
          </a:xfrm>
          <a:prstGeom prst="roundRect">
            <a:avLst>
              <a:gd name="adj" fmla="val 5926"/>
            </a:avLst>
          </a:prstGeom>
          <a:solidFill>
            <a:srgbClr val="0F2036"/>
          </a:solidFill>
          <a:ln w="12700">
            <a:solidFill>
              <a:srgbClr val="1D3A5C"/>
            </a:solidFill>
            <a:prstDash val="solid"/>
          </a:ln>
        </p:spPr>
      </p:sp>
      <p:sp>
        <p:nvSpPr>
          <p:cNvPr id="12" name="Shape 9"/>
          <p:cNvSpPr/>
          <p:nvPr/>
        </p:nvSpPr>
        <p:spPr>
          <a:xfrm>
            <a:off x="2221992" y="1353312"/>
            <a:ext cx="502920" cy="502920"/>
          </a:xfrm>
          <a:prstGeom prst="ellipse">
            <a:avLst/>
          </a:prstGeom>
          <a:solidFill>
            <a:srgbClr val="0C2233"/>
          </a:solidFill>
          <a:ln w="15875">
            <a:solidFill>
              <a:srgbClr val="2DE2C0"/>
            </a:solidFill>
            <a:prstDash val="solid"/>
          </a:ln>
        </p:spPr>
      </p:sp>
      <p:pic>
        <p:nvPicPr>
          <p:cNvPr id="13" name="Image 1" descr="preencoded.png"/>
          <p:cNvPicPr>
            <a:picLocks noChangeAspect="1"/>
          </p:cNvPicPr>
          <p:nvPr/>
        </p:nvPicPr>
        <p:blipFill>
          <a:blip r:embed="rId5"/>
          <a:stretch>
            <a:fillRect/>
          </a:stretch>
        </p:blipFill>
        <p:spPr>
          <a:xfrm>
            <a:off x="2352751" y="1484071"/>
            <a:ext cx="241402" cy="241402"/>
          </a:xfrm>
          <a:prstGeom prst="rect">
            <a:avLst/>
          </a:prstGeom>
        </p:spPr>
      </p:pic>
      <p:sp>
        <p:nvSpPr>
          <p:cNvPr id="14" name="Text 10"/>
          <p:cNvSpPr txBox="1"/>
          <p:nvPr/>
        </p:nvSpPr>
        <p:spPr>
          <a:xfrm>
            <a:off x="1901952" y="1920240"/>
            <a:ext cx="1143000" cy="274320"/>
          </a:xfrm>
          <a:prstGeom prst="rect">
            <a:avLst/>
          </a:prstGeom>
          <a:noFill/>
          <a:ln/>
        </p:spPr>
        <p:txBody>
          <a:bodyPr wrap="square" lIns="0" tIns="0" rIns="0" bIns="0" rtlCol="0" anchor="ctr"/>
          <a:lstStyle/>
          <a:p>
            <a:pPr marL="0" indent="0" algn="ctr">
              <a:buNone/>
            </a:pPr>
            <a:r>
              <a:rPr lang="en-US" sz="1150" b="1" dirty="0">
                <a:solidFill>
                  <a:srgbClr val="EAF2FF"/>
                </a:solidFill>
                <a:latin typeface="Calibri" pitchFamily="34" charset="0"/>
                <a:ea typeface="Calibri" pitchFamily="34" charset="-122"/>
                <a:cs typeface="Calibri" pitchFamily="34" charset="-120"/>
              </a:rPr>
              <a:t>Paste or upload</a:t>
            </a:r>
            <a:endParaRPr lang="en-US" sz="1150" dirty="0"/>
          </a:p>
        </p:txBody>
      </p:sp>
      <p:sp>
        <p:nvSpPr>
          <p:cNvPr id="15" name="Text 11"/>
          <p:cNvSpPr txBox="1"/>
          <p:nvPr/>
        </p:nvSpPr>
        <p:spPr>
          <a:xfrm>
            <a:off x="1920240" y="2194560"/>
            <a:ext cx="1106424" cy="365760"/>
          </a:xfrm>
          <a:prstGeom prst="rect">
            <a:avLst/>
          </a:prstGeom>
          <a:noFill/>
          <a:ln/>
        </p:spPr>
        <p:txBody>
          <a:bodyPr wrap="square" lIns="0" tIns="0" rIns="0" bIns="0" rtlCol="0" anchor="t"/>
          <a:lstStyle/>
          <a:p>
            <a:pPr marL="0" indent="0" algn="ctr">
              <a:buNone/>
            </a:pPr>
            <a:r>
              <a:rPr lang="en-US" sz="950" dirty="0">
                <a:solidFill>
                  <a:srgbClr val="9DB2CC"/>
                </a:solidFill>
                <a:latin typeface="Calibri" pitchFamily="34" charset="0"/>
                <a:ea typeface="Calibri" pitchFamily="34" charset="-122"/>
                <a:cs typeface="Calibri" pitchFamily="34" charset="-120"/>
              </a:rPr>
              <a:t>text, .eml, CSV</a:t>
            </a:r>
            <a:endParaRPr lang="en-US" sz="950" dirty="0"/>
          </a:p>
        </p:txBody>
      </p:sp>
      <p:sp>
        <p:nvSpPr>
          <p:cNvPr id="16" name="Shape 12"/>
          <p:cNvSpPr/>
          <p:nvPr/>
        </p:nvSpPr>
        <p:spPr>
          <a:xfrm>
            <a:off x="3118104" y="1810512"/>
            <a:ext cx="91440" cy="182880"/>
          </a:xfrm>
          <a:prstGeom prst="chevron">
            <a:avLst/>
          </a:prstGeom>
          <a:solidFill>
            <a:srgbClr val="2DE2C0"/>
          </a:solidFill>
          <a:ln w="12700">
            <a:solidFill>
              <a:srgbClr val="2DE2C0"/>
            </a:solidFill>
            <a:prstDash val="solid"/>
          </a:ln>
        </p:spPr>
      </p:sp>
      <p:sp>
        <p:nvSpPr>
          <p:cNvPr id="17" name="Shape 13"/>
          <p:cNvSpPr/>
          <p:nvPr/>
        </p:nvSpPr>
        <p:spPr>
          <a:xfrm>
            <a:off x="3255264" y="1234440"/>
            <a:ext cx="1234440" cy="1371600"/>
          </a:xfrm>
          <a:prstGeom prst="roundRect">
            <a:avLst>
              <a:gd name="adj" fmla="val 5926"/>
            </a:avLst>
          </a:prstGeom>
          <a:solidFill>
            <a:srgbClr val="0F2036"/>
          </a:solidFill>
          <a:ln w="12700">
            <a:solidFill>
              <a:srgbClr val="1D3A5C"/>
            </a:solidFill>
            <a:prstDash val="solid"/>
          </a:ln>
        </p:spPr>
      </p:sp>
      <p:sp>
        <p:nvSpPr>
          <p:cNvPr id="18" name="Shape 14"/>
          <p:cNvSpPr/>
          <p:nvPr/>
        </p:nvSpPr>
        <p:spPr>
          <a:xfrm>
            <a:off x="3621024" y="1353312"/>
            <a:ext cx="502920" cy="502920"/>
          </a:xfrm>
          <a:prstGeom prst="ellipse">
            <a:avLst/>
          </a:prstGeom>
          <a:solidFill>
            <a:srgbClr val="0C2233"/>
          </a:solidFill>
          <a:ln w="15875">
            <a:solidFill>
              <a:srgbClr val="2DE2C0"/>
            </a:solidFill>
            <a:prstDash val="solid"/>
          </a:ln>
        </p:spPr>
      </p:sp>
      <p:pic>
        <p:nvPicPr>
          <p:cNvPr id="19" name="Image 2" descr="preencoded.png"/>
          <p:cNvPicPr>
            <a:picLocks noChangeAspect="1"/>
          </p:cNvPicPr>
          <p:nvPr/>
        </p:nvPicPr>
        <p:blipFill>
          <a:blip r:embed="rId6"/>
          <a:stretch>
            <a:fillRect/>
          </a:stretch>
        </p:blipFill>
        <p:spPr>
          <a:xfrm>
            <a:off x="3751783" y="1484071"/>
            <a:ext cx="241402" cy="241402"/>
          </a:xfrm>
          <a:prstGeom prst="rect">
            <a:avLst/>
          </a:prstGeom>
        </p:spPr>
      </p:pic>
      <p:sp>
        <p:nvSpPr>
          <p:cNvPr id="20" name="Text 15"/>
          <p:cNvSpPr txBox="1"/>
          <p:nvPr/>
        </p:nvSpPr>
        <p:spPr>
          <a:xfrm>
            <a:off x="3300984" y="1920240"/>
            <a:ext cx="1143000" cy="274320"/>
          </a:xfrm>
          <a:prstGeom prst="rect">
            <a:avLst/>
          </a:prstGeom>
          <a:noFill/>
          <a:ln/>
        </p:spPr>
        <p:txBody>
          <a:bodyPr wrap="square" lIns="0" tIns="0" rIns="0" bIns="0" rtlCol="0" anchor="ctr"/>
          <a:lstStyle/>
          <a:p>
            <a:pPr marL="0" indent="0" algn="ctr">
              <a:buNone/>
            </a:pPr>
            <a:r>
              <a:rPr lang="en-US" sz="1150" b="1" dirty="0">
                <a:solidFill>
                  <a:srgbClr val="EAF2FF"/>
                </a:solidFill>
                <a:latin typeface="Calibri" pitchFamily="34" charset="0"/>
                <a:ea typeface="Calibri" pitchFamily="34" charset="-122"/>
                <a:cs typeface="Calibri" pitchFamily="34" charset="-120"/>
              </a:rPr>
              <a:t>Live preview</a:t>
            </a:r>
            <a:endParaRPr lang="en-US" sz="1150" dirty="0"/>
          </a:p>
        </p:txBody>
      </p:sp>
      <p:sp>
        <p:nvSpPr>
          <p:cNvPr id="21" name="Text 16"/>
          <p:cNvSpPr txBox="1"/>
          <p:nvPr/>
        </p:nvSpPr>
        <p:spPr>
          <a:xfrm>
            <a:off x="3319272" y="2194560"/>
            <a:ext cx="1106424" cy="365760"/>
          </a:xfrm>
          <a:prstGeom prst="rect">
            <a:avLst/>
          </a:prstGeom>
          <a:noFill/>
          <a:ln/>
        </p:spPr>
        <p:txBody>
          <a:bodyPr wrap="square" lIns="0" tIns="0" rIns="0" bIns="0" rtlCol="0" anchor="t"/>
          <a:lstStyle/>
          <a:p>
            <a:pPr marL="0" indent="0" algn="ctr">
              <a:buNone/>
            </a:pPr>
            <a:r>
              <a:rPr lang="en-US" sz="950" dirty="0">
                <a:solidFill>
                  <a:srgbClr val="9DB2CC"/>
                </a:solidFill>
                <a:latin typeface="Calibri" pitchFamily="34" charset="0"/>
                <a:ea typeface="Calibri" pitchFamily="34" charset="-122"/>
                <a:cs typeface="Calibri" pitchFamily="34" charset="-120"/>
              </a:rPr>
              <a:t>score as you type</a:t>
            </a:r>
            <a:endParaRPr lang="en-US" sz="950" dirty="0"/>
          </a:p>
        </p:txBody>
      </p:sp>
      <p:sp>
        <p:nvSpPr>
          <p:cNvPr id="22" name="Shape 17"/>
          <p:cNvSpPr/>
          <p:nvPr/>
        </p:nvSpPr>
        <p:spPr>
          <a:xfrm>
            <a:off x="4517136" y="1810512"/>
            <a:ext cx="91440" cy="182880"/>
          </a:xfrm>
          <a:prstGeom prst="chevron">
            <a:avLst/>
          </a:prstGeom>
          <a:solidFill>
            <a:srgbClr val="2DE2C0"/>
          </a:solidFill>
          <a:ln w="12700">
            <a:solidFill>
              <a:srgbClr val="2DE2C0"/>
            </a:solidFill>
            <a:prstDash val="solid"/>
          </a:ln>
        </p:spPr>
      </p:sp>
      <p:sp>
        <p:nvSpPr>
          <p:cNvPr id="23" name="Shape 18"/>
          <p:cNvSpPr/>
          <p:nvPr/>
        </p:nvSpPr>
        <p:spPr>
          <a:xfrm>
            <a:off x="4654296" y="1234440"/>
            <a:ext cx="1234440" cy="1371600"/>
          </a:xfrm>
          <a:prstGeom prst="roundRect">
            <a:avLst>
              <a:gd name="adj" fmla="val 5926"/>
            </a:avLst>
          </a:prstGeom>
          <a:solidFill>
            <a:srgbClr val="0F2036"/>
          </a:solidFill>
          <a:ln w="12700">
            <a:solidFill>
              <a:srgbClr val="1D3A5C"/>
            </a:solidFill>
            <a:prstDash val="solid"/>
          </a:ln>
        </p:spPr>
      </p:sp>
      <p:sp>
        <p:nvSpPr>
          <p:cNvPr id="24" name="Shape 19"/>
          <p:cNvSpPr/>
          <p:nvPr/>
        </p:nvSpPr>
        <p:spPr>
          <a:xfrm>
            <a:off x="5020056" y="1353312"/>
            <a:ext cx="502920" cy="502920"/>
          </a:xfrm>
          <a:prstGeom prst="ellipse">
            <a:avLst/>
          </a:prstGeom>
          <a:solidFill>
            <a:srgbClr val="0C2233"/>
          </a:solidFill>
          <a:ln w="15875">
            <a:solidFill>
              <a:srgbClr val="2DE2C0"/>
            </a:solidFill>
            <a:prstDash val="solid"/>
          </a:ln>
        </p:spPr>
      </p:sp>
      <p:pic>
        <p:nvPicPr>
          <p:cNvPr id="25" name="Image 3" descr="preencoded.png"/>
          <p:cNvPicPr>
            <a:picLocks noChangeAspect="1"/>
          </p:cNvPicPr>
          <p:nvPr/>
        </p:nvPicPr>
        <p:blipFill>
          <a:blip r:embed="rId7"/>
          <a:stretch>
            <a:fillRect/>
          </a:stretch>
        </p:blipFill>
        <p:spPr>
          <a:xfrm>
            <a:off x="5150815" y="1484071"/>
            <a:ext cx="241402" cy="241402"/>
          </a:xfrm>
          <a:prstGeom prst="rect">
            <a:avLst/>
          </a:prstGeom>
        </p:spPr>
      </p:pic>
      <p:sp>
        <p:nvSpPr>
          <p:cNvPr id="26" name="Text 20"/>
          <p:cNvSpPr txBox="1"/>
          <p:nvPr/>
        </p:nvSpPr>
        <p:spPr>
          <a:xfrm>
            <a:off x="4700016" y="1920240"/>
            <a:ext cx="1143000" cy="274320"/>
          </a:xfrm>
          <a:prstGeom prst="rect">
            <a:avLst/>
          </a:prstGeom>
          <a:noFill/>
          <a:ln/>
        </p:spPr>
        <p:txBody>
          <a:bodyPr wrap="square" lIns="0" tIns="0" rIns="0" bIns="0" rtlCol="0" anchor="ctr"/>
          <a:lstStyle/>
          <a:p>
            <a:pPr marL="0" indent="0" algn="ctr">
              <a:buNone/>
            </a:pPr>
            <a:r>
              <a:rPr lang="en-US" sz="1150" b="1" dirty="0">
                <a:solidFill>
                  <a:srgbClr val="EAF2FF"/>
                </a:solidFill>
                <a:latin typeface="Calibri" pitchFamily="34" charset="0"/>
                <a:ea typeface="Calibri" pitchFamily="34" charset="-122"/>
                <a:cs typeface="Calibri" pitchFamily="34" charset="-120"/>
              </a:rPr>
              <a:t>Scan</a:t>
            </a:r>
            <a:endParaRPr lang="en-US" sz="1150" dirty="0"/>
          </a:p>
        </p:txBody>
      </p:sp>
      <p:sp>
        <p:nvSpPr>
          <p:cNvPr id="27" name="Text 21"/>
          <p:cNvSpPr txBox="1"/>
          <p:nvPr/>
        </p:nvSpPr>
        <p:spPr>
          <a:xfrm>
            <a:off x="4718304" y="2194560"/>
            <a:ext cx="1106424" cy="365760"/>
          </a:xfrm>
          <a:prstGeom prst="rect">
            <a:avLst/>
          </a:prstGeom>
          <a:noFill/>
          <a:ln/>
        </p:spPr>
        <p:txBody>
          <a:bodyPr wrap="square" lIns="0" tIns="0" rIns="0" bIns="0" rtlCol="0" anchor="t"/>
          <a:lstStyle/>
          <a:p>
            <a:pPr marL="0" indent="0" algn="ctr">
              <a:buNone/>
            </a:pPr>
            <a:r>
              <a:rPr lang="en-US" sz="950" dirty="0">
                <a:solidFill>
                  <a:srgbClr val="9DB2CC"/>
                </a:solidFill>
                <a:latin typeface="Calibri" pitchFamily="34" charset="0"/>
                <a:ea typeface="Calibri" pitchFamily="34" charset="-122"/>
                <a:cs typeface="Calibri" pitchFamily="34" charset="-120"/>
              </a:rPr>
              <a:t>model + rules + threat DB</a:t>
            </a:r>
            <a:endParaRPr lang="en-US" sz="950" dirty="0"/>
          </a:p>
        </p:txBody>
      </p:sp>
      <p:sp>
        <p:nvSpPr>
          <p:cNvPr id="28" name="Shape 22"/>
          <p:cNvSpPr/>
          <p:nvPr/>
        </p:nvSpPr>
        <p:spPr>
          <a:xfrm>
            <a:off x="5916168" y="1810512"/>
            <a:ext cx="91440" cy="182880"/>
          </a:xfrm>
          <a:prstGeom prst="chevron">
            <a:avLst/>
          </a:prstGeom>
          <a:solidFill>
            <a:srgbClr val="2DE2C0"/>
          </a:solidFill>
          <a:ln w="12700">
            <a:solidFill>
              <a:srgbClr val="2DE2C0"/>
            </a:solidFill>
            <a:prstDash val="solid"/>
          </a:ln>
        </p:spPr>
      </p:sp>
      <p:sp>
        <p:nvSpPr>
          <p:cNvPr id="29" name="Shape 23"/>
          <p:cNvSpPr/>
          <p:nvPr/>
        </p:nvSpPr>
        <p:spPr>
          <a:xfrm>
            <a:off x="6053328" y="1234440"/>
            <a:ext cx="1234440" cy="1371600"/>
          </a:xfrm>
          <a:prstGeom prst="roundRect">
            <a:avLst>
              <a:gd name="adj" fmla="val 5926"/>
            </a:avLst>
          </a:prstGeom>
          <a:solidFill>
            <a:srgbClr val="0F2036"/>
          </a:solidFill>
          <a:ln w="12700">
            <a:solidFill>
              <a:srgbClr val="1D3A5C"/>
            </a:solidFill>
            <a:prstDash val="solid"/>
          </a:ln>
        </p:spPr>
      </p:sp>
      <p:sp>
        <p:nvSpPr>
          <p:cNvPr id="30" name="Shape 24"/>
          <p:cNvSpPr/>
          <p:nvPr/>
        </p:nvSpPr>
        <p:spPr>
          <a:xfrm>
            <a:off x="6419088" y="1353312"/>
            <a:ext cx="502920" cy="502920"/>
          </a:xfrm>
          <a:prstGeom prst="ellipse">
            <a:avLst/>
          </a:prstGeom>
          <a:solidFill>
            <a:srgbClr val="0C2233"/>
          </a:solidFill>
          <a:ln w="15875">
            <a:solidFill>
              <a:srgbClr val="2DE2C0"/>
            </a:solidFill>
            <a:prstDash val="solid"/>
          </a:ln>
        </p:spPr>
      </p:sp>
      <p:pic>
        <p:nvPicPr>
          <p:cNvPr id="31" name="Image 4" descr="preencoded.png"/>
          <p:cNvPicPr>
            <a:picLocks noChangeAspect="1"/>
          </p:cNvPicPr>
          <p:nvPr/>
        </p:nvPicPr>
        <p:blipFill>
          <a:blip r:embed="rId8"/>
          <a:stretch>
            <a:fillRect/>
          </a:stretch>
        </p:blipFill>
        <p:spPr>
          <a:xfrm>
            <a:off x="6549847" y="1484071"/>
            <a:ext cx="241402" cy="241402"/>
          </a:xfrm>
          <a:prstGeom prst="rect">
            <a:avLst/>
          </a:prstGeom>
        </p:spPr>
      </p:pic>
      <p:sp>
        <p:nvSpPr>
          <p:cNvPr id="32" name="Text 25"/>
          <p:cNvSpPr txBox="1"/>
          <p:nvPr/>
        </p:nvSpPr>
        <p:spPr>
          <a:xfrm>
            <a:off x="6099048" y="1920240"/>
            <a:ext cx="1143000" cy="274320"/>
          </a:xfrm>
          <a:prstGeom prst="rect">
            <a:avLst/>
          </a:prstGeom>
          <a:noFill/>
          <a:ln/>
        </p:spPr>
        <p:txBody>
          <a:bodyPr wrap="square" lIns="0" tIns="0" rIns="0" bIns="0" rtlCol="0" anchor="ctr"/>
          <a:lstStyle/>
          <a:p>
            <a:pPr marL="0" indent="0" algn="ctr">
              <a:buNone/>
            </a:pPr>
            <a:r>
              <a:rPr lang="en-US" sz="1150" b="1" dirty="0">
                <a:solidFill>
                  <a:srgbClr val="EAF2FF"/>
                </a:solidFill>
                <a:latin typeface="Calibri" pitchFamily="34" charset="0"/>
                <a:ea typeface="Calibri" pitchFamily="34" charset="-122"/>
                <a:cs typeface="Calibri" pitchFamily="34" charset="-120"/>
              </a:rPr>
              <a:t>Review</a:t>
            </a:r>
            <a:endParaRPr lang="en-US" sz="1150" dirty="0"/>
          </a:p>
        </p:txBody>
      </p:sp>
      <p:sp>
        <p:nvSpPr>
          <p:cNvPr id="33" name="Text 26"/>
          <p:cNvSpPr txBox="1"/>
          <p:nvPr/>
        </p:nvSpPr>
        <p:spPr>
          <a:xfrm>
            <a:off x="6117336" y="2194560"/>
            <a:ext cx="1106424" cy="365760"/>
          </a:xfrm>
          <a:prstGeom prst="rect">
            <a:avLst/>
          </a:prstGeom>
          <a:noFill/>
          <a:ln/>
        </p:spPr>
        <p:txBody>
          <a:bodyPr wrap="square" lIns="0" tIns="0" rIns="0" bIns="0" rtlCol="0" anchor="t"/>
          <a:lstStyle/>
          <a:p>
            <a:pPr marL="0" indent="0" algn="ctr">
              <a:buNone/>
            </a:pPr>
            <a:r>
              <a:rPr lang="en-US" sz="950" dirty="0">
                <a:solidFill>
                  <a:srgbClr val="9DB2CC"/>
                </a:solidFill>
                <a:latin typeface="Calibri" pitchFamily="34" charset="0"/>
                <a:ea typeface="Calibri" pitchFamily="34" charset="-122"/>
                <a:cs typeface="Calibri" pitchFamily="34" charset="-120"/>
              </a:rPr>
              <a:t>score, reasons, highlights</a:t>
            </a:r>
            <a:endParaRPr lang="en-US" sz="950" dirty="0"/>
          </a:p>
        </p:txBody>
      </p:sp>
      <p:sp>
        <p:nvSpPr>
          <p:cNvPr id="34" name="Shape 27"/>
          <p:cNvSpPr/>
          <p:nvPr/>
        </p:nvSpPr>
        <p:spPr>
          <a:xfrm>
            <a:off x="7315200" y="1810512"/>
            <a:ext cx="91440" cy="182880"/>
          </a:xfrm>
          <a:prstGeom prst="chevron">
            <a:avLst/>
          </a:prstGeom>
          <a:solidFill>
            <a:srgbClr val="2DE2C0"/>
          </a:solidFill>
          <a:ln w="12700">
            <a:solidFill>
              <a:srgbClr val="2DE2C0"/>
            </a:solidFill>
            <a:prstDash val="solid"/>
          </a:ln>
        </p:spPr>
      </p:sp>
      <p:sp>
        <p:nvSpPr>
          <p:cNvPr id="35" name="Shape 28"/>
          <p:cNvSpPr/>
          <p:nvPr/>
        </p:nvSpPr>
        <p:spPr>
          <a:xfrm>
            <a:off x="7452360" y="1234440"/>
            <a:ext cx="1234440" cy="1371600"/>
          </a:xfrm>
          <a:prstGeom prst="roundRect">
            <a:avLst>
              <a:gd name="adj" fmla="val 5926"/>
            </a:avLst>
          </a:prstGeom>
          <a:solidFill>
            <a:srgbClr val="0F2036"/>
          </a:solidFill>
          <a:ln w="12700">
            <a:solidFill>
              <a:srgbClr val="1D3A5C"/>
            </a:solidFill>
            <a:prstDash val="solid"/>
          </a:ln>
        </p:spPr>
      </p:sp>
      <p:sp>
        <p:nvSpPr>
          <p:cNvPr id="36" name="Shape 29"/>
          <p:cNvSpPr/>
          <p:nvPr/>
        </p:nvSpPr>
        <p:spPr>
          <a:xfrm>
            <a:off x="7818120" y="1353312"/>
            <a:ext cx="502920" cy="502920"/>
          </a:xfrm>
          <a:prstGeom prst="ellipse">
            <a:avLst/>
          </a:prstGeom>
          <a:solidFill>
            <a:srgbClr val="0C2233"/>
          </a:solidFill>
          <a:ln w="15875">
            <a:solidFill>
              <a:srgbClr val="2DE2C0"/>
            </a:solidFill>
            <a:prstDash val="solid"/>
          </a:ln>
        </p:spPr>
      </p:sp>
      <p:pic>
        <p:nvPicPr>
          <p:cNvPr id="37" name="Image 5" descr="preencoded.png"/>
          <p:cNvPicPr>
            <a:picLocks noChangeAspect="1"/>
          </p:cNvPicPr>
          <p:nvPr/>
        </p:nvPicPr>
        <p:blipFill>
          <a:blip r:embed="rId9"/>
          <a:stretch>
            <a:fillRect/>
          </a:stretch>
        </p:blipFill>
        <p:spPr>
          <a:xfrm>
            <a:off x="7948879" y="1484071"/>
            <a:ext cx="241402" cy="241402"/>
          </a:xfrm>
          <a:prstGeom prst="rect">
            <a:avLst/>
          </a:prstGeom>
        </p:spPr>
      </p:pic>
      <p:sp>
        <p:nvSpPr>
          <p:cNvPr id="38" name="Text 30"/>
          <p:cNvSpPr txBox="1"/>
          <p:nvPr/>
        </p:nvSpPr>
        <p:spPr>
          <a:xfrm>
            <a:off x="7498080" y="1920240"/>
            <a:ext cx="1143000" cy="274320"/>
          </a:xfrm>
          <a:prstGeom prst="rect">
            <a:avLst/>
          </a:prstGeom>
          <a:noFill/>
          <a:ln/>
        </p:spPr>
        <p:txBody>
          <a:bodyPr wrap="square" lIns="0" tIns="0" rIns="0" bIns="0" rtlCol="0" anchor="ctr"/>
          <a:lstStyle/>
          <a:p>
            <a:pPr marL="0" indent="0" algn="ctr">
              <a:buNone/>
            </a:pPr>
            <a:r>
              <a:rPr lang="en-US" sz="1150" b="1" dirty="0">
                <a:solidFill>
                  <a:srgbClr val="EAF2FF"/>
                </a:solidFill>
                <a:latin typeface="Calibri" pitchFamily="34" charset="0"/>
                <a:ea typeface="Calibri" pitchFamily="34" charset="-122"/>
                <a:cs typeface="Calibri" pitchFamily="34" charset="-120"/>
              </a:rPr>
              <a:t>Feedback</a:t>
            </a:r>
            <a:endParaRPr lang="en-US" sz="1150" dirty="0"/>
          </a:p>
        </p:txBody>
      </p:sp>
      <p:sp>
        <p:nvSpPr>
          <p:cNvPr id="39" name="Text 31"/>
          <p:cNvSpPr txBox="1"/>
          <p:nvPr/>
        </p:nvSpPr>
        <p:spPr>
          <a:xfrm>
            <a:off x="7516368" y="2194560"/>
            <a:ext cx="1106424" cy="365760"/>
          </a:xfrm>
          <a:prstGeom prst="rect">
            <a:avLst/>
          </a:prstGeom>
          <a:noFill/>
          <a:ln/>
        </p:spPr>
        <p:txBody>
          <a:bodyPr wrap="square" lIns="0" tIns="0" rIns="0" bIns="0" rtlCol="0" anchor="t"/>
          <a:lstStyle/>
          <a:p>
            <a:pPr marL="0" indent="0" algn="ctr">
              <a:buNone/>
            </a:pPr>
            <a:r>
              <a:rPr lang="en-US" sz="950" dirty="0">
                <a:solidFill>
                  <a:srgbClr val="9DB2CC"/>
                </a:solidFill>
                <a:latin typeface="Calibri" pitchFamily="34" charset="0"/>
                <a:ea typeface="Calibri" pitchFamily="34" charset="-122"/>
                <a:cs typeface="Calibri" pitchFamily="34" charset="-120"/>
              </a:rPr>
              <a:t>mark right or wrong</a:t>
            </a:r>
            <a:endParaRPr lang="en-US" sz="950" dirty="0"/>
          </a:p>
        </p:txBody>
      </p:sp>
      <p:sp>
        <p:nvSpPr>
          <p:cNvPr id="40" name="Text 32"/>
          <p:cNvSpPr txBox="1"/>
          <p:nvPr/>
        </p:nvSpPr>
        <p:spPr>
          <a:xfrm>
            <a:off x="457200" y="2834640"/>
            <a:ext cx="8229600" cy="201168"/>
          </a:xfrm>
          <a:prstGeom prst="rect">
            <a:avLst/>
          </a:prstGeom>
          <a:noFill/>
          <a:ln/>
        </p:spPr>
        <p:txBody>
          <a:bodyPr wrap="square" lIns="0" tIns="0" rIns="0" bIns="0" rtlCol="0" anchor="ctr"/>
          <a:lstStyle/>
          <a:p>
            <a:pPr marL="0" indent="0">
              <a:buNone/>
            </a:pPr>
            <a:r>
              <a:rPr lang="en-US" sz="1000" b="1" kern="0" spc="200" dirty="0">
                <a:solidFill>
                  <a:srgbClr val="2DE2C0"/>
                </a:solidFill>
                <a:latin typeface="Courier New" pitchFamily="34" charset="0"/>
                <a:ea typeface="Courier New" pitchFamily="34" charset="-122"/>
                <a:cs typeface="Courier New" pitchFamily="34" charset="-120"/>
              </a:rPr>
              <a:t>IMPLEMENTATION: FIVE MODULES</a:t>
            </a:r>
            <a:endParaRPr lang="en-US" sz="1000" dirty="0"/>
          </a:p>
        </p:txBody>
      </p:sp>
      <p:sp>
        <p:nvSpPr>
          <p:cNvPr id="41" name="Shape 33"/>
          <p:cNvSpPr/>
          <p:nvPr/>
        </p:nvSpPr>
        <p:spPr>
          <a:xfrm>
            <a:off x="457200" y="3154680"/>
            <a:ext cx="1554480" cy="1463040"/>
          </a:xfrm>
          <a:prstGeom prst="roundRect">
            <a:avLst>
              <a:gd name="adj" fmla="val 5000"/>
            </a:avLst>
          </a:prstGeom>
          <a:solidFill>
            <a:srgbClr val="0F2036"/>
          </a:solidFill>
          <a:ln w="12700">
            <a:solidFill>
              <a:srgbClr val="1D3A5C"/>
            </a:solidFill>
            <a:prstDash val="solid"/>
          </a:ln>
        </p:spPr>
      </p:sp>
      <p:sp>
        <p:nvSpPr>
          <p:cNvPr id="42" name="Text 34"/>
          <p:cNvSpPr txBox="1"/>
          <p:nvPr/>
        </p:nvSpPr>
        <p:spPr>
          <a:xfrm>
            <a:off x="566928" y="3273552"/>
            <a:ext cx="1371600" cy="274320"/>
          </a:xfrm>
          <a:prstGeom prst="rect">
            <a:avLst/>
          </a:prstGeom>
          <a:noFill/>
          <a:ln/>
        </p:spPr>
        <p:txBody>
          <a:bodyPr wrap="square" lIns="0" tIns="0" rIns="0" bIns="0" rtlCol="0" anchor="ctr"/>
          <a:lstStyle/>
          <a:p>
            <a:pPr marL="0" indent="0">
              <a:buNone/>
            </a:pPr>
            <a:r>
              <a:rPr lang="en-US" sz="1200" b="1" dirty="0">
                <a:solidFill>
                  <a:srgbClr val="2DE2C0"/>
                </a:solidFill>
                <a:latin typeface="Courier New" pitchFamily="34" charset="0"/>
                <a:ea typeface="Courier New" pitchFamily="34" charset="-122"/>
                <a:cs typeface="Courier New" pitchFamily="34" charset="-120"/>
              </a:rPr>
              <a:t>app.py</a:t>
            </a:r>
            <a:endParaRPr lang="en-US" sz="1200" dirty="0"/>
          </a:p>
        </p:txBody>
      </p:sp>
      <p:sp>
        <p:nvSpPr>
          <p:cNvPr id="43" name="Text 35"/>
          <p:cNvSpPr txBox="1"/>
          <p:nvPr/>
        </p:nvSpPr>
        <p:spPr>
          <a:xfrm>
            <a:off x="566928" y="3611880"/>
            <a:ext cx="1353312" cy="914400"/>
          </a:xfrm>
          <a:prstGeom prst="rect">
            <a:avLst/>
          </a:prstGeom>
          <a:noFill/>
          <a:ln/>
        </p:spPr>
        <p:txBody>
          <a:bodyPr wrap="square" lIns="0" tIns="0" rIns="0" bIns="0" rtlCol="0" anchor="t"/>
          <a:lstStyle/>
          <a:p>
            <a:pPr marL="0" indent="0">
              <a:buNone/>
            </a:pPr>
            <a:r>
              <a:rPr lang="en-US" sz="1100" dirty="0">
                <a:solidFill>
                  <a:srgbClr val="9DB2CC"/>
                </a:solidFill>
                <a:latin typeface="Calibri" pitchFamily="34" charset="0"/>
                <a:ea typeface="Calibri" pitchFamily="34" charset="-122"/>
                <a:cs typeface="Calibri" pitchFamily="34" charset="-120"/>
              </a:rPr>
              <a:t>Flask routes, REST API and API-key auth</a:t>
            </a:r>
            <a:endParaRPr lang="en-US" sz="1100" dirty="0"/>
          </a:p>
        </p:txBody>
      </p:sp>
      <p:sp>
        <p:nvSpPr>
          <p:cNvPr id="44" name="Shape 36"/>
          <p:cNvSpPr/>
          <p:nvPr/>
        </p:nvSpPr>
        <p:spPr>
          <a:xfrm>
            <a:off x="2125980" y="3154680"/>
            <a:ext cx="1554480" cy="1463040"/>
          </a:xfrm>
          <a:prstGeom prst="roundRect">
            <a:avLst>
              <a:gd name="adj" fmla="val 5000"/>
            </a:avLst>
          </a:prstGeom>
          <a:solidFill>
            <a:srgbClr val="0F2036"/>
          </a:solidFill>
          <a:ln w="12700">
            <a:solidFill>
              <a:srgbClr val="1D3A5C"/>
            </a:solidFill>
            <a:prstDash val="solid"/>
          </a:ln>
        </p:spPr>
      </p:sp>
      <p:sp>
        <p:nvSpPr>
          <p:cNvPr id="45" name="Text 37"/>
          <p:cNvSpPr txBox="1"/>
          <p:nvPr/>
        </p:nvSpPr>
        <p:spPr>
          <a:xfrm>
            <a:off x="2235708" y="3273552"/>
            <a:ext cx="1371600" cy="274320"/>
          </a:xfrm>
          <a:prstGeom prst="rect">
            <a:avLst/>
          </a:prstGeom>
          <a:noFill/>
          <a:ln/>
        </p:spPr>
        <p:txBody>
          <a:bodyPr wrap="square" lIns="0" tIns="0" rIns="0" bIns="0" rtlCol="0" anchor="ctr"/>
          <a:lstStyle/>
          <a:p>
            <a:pPr marL="0" indent="0">
              <a:buNone/>
            </a:pPr>
            <a:r>
              <a:rPr lang="en-US" sz="1200" b="1" dirty="0">
                <a:solidFill>
                  <a:srgbClr val="2DE2C0"/>
                </a:solidFill>
                <a:latin typeface="Courier New" pitchFamily="34" charset="0"/>
                <a:ea typeface="Courier New" pitchFamily="34" charset="-122"/>
                <a:cs typeface="Courier New" pitchFamily="34" charset="-120"/>
              </a:rPr>
              <a:t>detector.py</a:t>
            </a:r>
            <a:endParaRPr lang="en-US" sz="1200" dirty="0"/>
          </a:p>
        </p:txBody>
      </p:sp>
      <p:sp>
        <p:nvSpPr>
          <p:cNvPr id="46" name="Text 38"/>
          <p:cNvSpPr txBox="1"/>
          <p:nvPr/>
        </p:nvSpPr>
        <p:spPr>
          <a:xfrm>
            <a:off x="2235708" y="3611880"/>
            <a:ext cx="1353312" cy="914400"/>
          </a:xfrm>
          <a:prstGeom prst="rect">
            <a:avLst/>
          </a:prstGeom>
          <a:noFill/>
          <a:ln/>
        </p:spPr>
        <p:txBody>
          <a:bodyPr wrap="square" lIns="0" tIns="0" rIns="0" bIns="0" rtlCol="0" anchor="t"/>
          <a:lstStyle/>
          <a:p>
            <a:pPr marL="0" indent="0">
              <a:buNone/>
            </a:pPr>
            <a:r>
              <a:rPr lang="en-US" sz="1100" dirty="0">
                <a:solidFill>
                  <a:srgbClr val="9DB2CC"/>
                </a:solidFill>
                <a:latin typeface="Calibri" pitchFamily="34" charset="0"/>
                <a:ea typeface="Calibri" pitchFamily="34" charset="-122"/>
                <a:cs typeface="Calibri" pitchFamily="34" charset="-120"/>
              </a:rPr>
              <a:t>Features, ML model, rules, .eml parsing</a:t>
            </a:r>
            <a:endParaRPr lang="en-US" sz="1100" dirty="0"/>
          </a:p>
        </p:txBody>
      </p:sp>
      <p:sp>
        <p:nvSpPr>
          <p:cNvPr id="47" name="Shape 39"/>
          <p:cNvSpPr/>
          <p:nvPr/>
        </p:nvSpPr>
        <p:spPr>
          <a:xfrm>
            <a:off x="3794760" y="3154680"/>
            <a:ext cx="1554480" cy="1463040"/>
          </a:xfrm>
          <a:prstGeom prst="roundRect">
            <a:avLst>
              <a:gd name="adj" fmla="val 5000"/>
            </a:avLst>
          </a:prstGeom>
          <a:solidFill>
            <a:srgbClr val="0F2036"/>
          </a:solidFill>
          <a:ln w="12700">
            <a:solidFill>
              <a:srgbClr val="1D3A5C"/>
            </a:solidFill>
            <a:prstDash val="solid"/>
          </a:ln>
        </p:spPr>
      </p:sp>
      <p:sp>
        <p:nvSpPr>
          <p:cNvPr id="48" name="Text 40"/>
          <p:cNvSpPr txBox="1"/>
          <p:nvPr/>
        </p:nvSpPr>
        <p:spPr>
          <a:xfrm>
            <a:off x="3904488" y="3273552"/>
            <a:ext cx="1371600" cy="274320"/>
          </a:xfrm>
          <a:prstGeom prst="rect">
            <a:avLst/>
          </a:prstGeom>
          <a:noFill/>
          <a:ln/>
        </p:spPr>
        <p:txBody>
          <a:bodyPr wrap="square" lIns="0" tIns="0" rIns="0" bIns="0" rtlCol="0" anchor="ctr"/>
          <a:lstStyle/>
          <a:p>
            <a:pPr marL="0" indent="0">
              <a:buNone/>
            </a:pPr>
            <a:r>
              <a:rPr lang="en-US" sz="1200" b="1" dirty="0">
                <a:solidFill>
                  <a:srgbClr val="2DE2C0"/>
                </a:solidFill>
                <a:latin typeface="Courier New" pitchFamily="34" charset="0"/>
                <a:ea typeface="Courier New" pitchFamily="34" charset="-122"/>
                <a:cs typeface="Courier New" pitchFamily="34" charset="-120"/>
              </a:rPr>
              <a:t>intel.py</a:t>
            </a:r>
            <a:endParaRPr lang="en-US" sz="1200" dirty="0"/>
          </a:p>
        </p:txBody>
      </p:sp>
      <p:sp>
        <p:nvSpPr>
          <p:cNvPr id="49" name="Text 41"/>
          <p:cNvSpPr txBox="1"/>
          <p:nvPr/>
        </p:nvSpPr>
        <p:spPr>
          <a:xfrm>
            <a:off x="3904488" y="3611880"/>
            <a:ext cx="1353312" cy="914400"/>
          </a:xfrm>
          <a:prstGeom prst="rect">
            <a:avLst/>
          </a:prstGeom>
          <a:noFill/>
          <a:ln/>
        </p:spPr>
        <p:txBody>
          <a:bodyPr wrap="square" lIns="0" tIns="0" rIns="0" bIns="0" rtlCol="0" anchor="t"/>
          <a:lstStyle/>
          <a:p>
            <a:pPr marL="0" indent="0">
              <a:buNone/>
            </a:pPr>
            <a:r>
              <a:rPr lang="en-US" sz="1100" dirty="0">
                <a:solidFill>
                  <a:srgbClr val="9DB2CC"/>
                </a:solidFill>
                <a:latin typeface="Calibri" pitchFamily="34" charset="0"/>
                <a:ea typeface="Calibri" pitchFamily="34" charset="-122"/>
                <a:cs typeface="Calibri" pitchFamily="34" charset="-120"/>
              </a:rPr>
              <a:t>Threat feed, domain age, SPF/DMARC</a:t>
            </a:r>
            <a:endParaRPr lang="en-US" sz="1100" dirty="0"/>
          </a:p>
        </p:txBody>
      </p:sp>
      <p:sp>
        <p:nvSpPr>
          <p:cNvPr id="50" name="Shape 42"/>
          <p:cNvSpPr/>
          <p:nvPr/>
        </p:nvSpPr>
        <p:spPr>
          <a:xfrm>
            <a:off x="5463540" y="3154680"/>
            <a:ext cx="1554480" cy="1463040"/>
          </a:xfrm>
          <a:prstGeom prst="roundRect">
            <a:avLst>
              <a:gd name="adj" fmla="val 5000"/>
            </a:avLst>
          </a:prstGeom>
          <a:solidFill>
            <a:srgbClr val="0F2036"/>
          </a:solidFill>
          <a:ln w="12700">
            <a:solidFill>
              <a:srgbClr val="1D3A5C"/>
            </a:solidFill>
            <a:prstDash val="solid"/>
          </a:ln>
        </p:spPr>
      </p:sp>
      <p:sp>
        <p:nvSpPr>
          <p:cNvPr id="51" name="Text 43"/>
          <p:cNvSpPr txBox="1"/>
          <p:nvPr/>
        </p:nvSpPr>
        <p:spPr>
          <a:xfrm>
            <a:off x="5573268" y="3273552"/>
            <a:ext cx="1371600" cy="274320"/>
          </a:xfrm>
          <a:prstGeom prst="rect">
            <a:avLst/>
          </a:prstGeom>
          <a:noFill/>
          <a:ln/>
        </p:spPr>
        <p:txBody>
          <a:bodyPr wrap="square" lIns="0" tIns="0" rIns="0" bIns="0" rtlCol="0" anchor="ctr"/>
          <a:lstStyle/>
          <a:p>
            <a:pPr marL="0" indent="0">
              <a:buNone/>
            </a:pPr>
            <a:r>
              <a:rPr lang="en-US" sz="1200" b="1" dirty="0">
                <a:solidFill>
                  <a:srgbClr val="2DE2C0"/>
                </a:solidFill>
                <a:latin typeface="Courier New" pitchFamily="34" charset="0"/>
                <a:ea typeface="Courier New" pitchFamily="34" charset="-122"/>
                <a:cs typeface="Courier New" pitchFamily="34" charset="-120"/>
              </a:rPr>
              <a:t>db.py</a:t>
            </a:r>
            <a:endParaRPr lang="en-US" sz="1200" dirty="0"/>
          </a:p>
        </p:txBody>
      </p:sp>
      <p:sp>
        <p:nvSpPr>
          <p:cNvPr id="52" name="Text 44"/>
          <p:cNvSpPr txBox="1"/>
          <p:nvPr/>
        </p:nvSpPr>
        <p:spPr>
          <a:xfrm>
            <a:off x="5573268" y="3611880"/>
            <a:ext cx="1353312" cy="914400"/>
          </a:xfrm>
          <a:prstGeom prst="rect">
            <a:avLst/>
          </a:prstGeom>
          <a:noFill/>
          <a:ln/>
        </p:spPr>
        <p:txBody>
          <a:bodyPr wrap="square" lIns="0" tIns="0" rIns="0" bIns="0" rtlCol="0" anchor="t"/>
          <a:lstStyle/>
          <a:p>
            <a:pPr marL="0" indent="0">
              <a:buNone/>
            </a:pPr>
            <a:r>
              <a:rPr lang="en-US" sz="1100" dirty="0">
                <a:solidFill>
                  <a:srgbClr val="9DB2CC"/>
                </a:solidFill>
                <a:latin typeface="Calibri" pitchFamily="34" charset="0"/>
                <a:ea typeface="Calibri" pitchFamily="34" charset="-122"/>
                <a:cs typeface="Calibri" pitchFamily="34" charset="-120"/>
              </a:rPr>
              <a:t>SQLite history, lists and settings</a:t>
            </a:r>
            <a:endParaRPr lang="en-US" sz="1100" dirty="0"/>
          </a:p>
        </p:txBody>
      </p:sp>
      <p:sp>
        <p:nvSpPr>
          <p:cNvPr id="53" name="Shape 45"/>
          <p:cNvSpPr/>
          <p:nvPr/>
        </p:nvSpPr>
        <p:spPr>
          <a:xfrm>
            <a:off x="7132320" y="3154680"/>
            <a:ext cx="1554480" cy="1463040"/>
          </a:xfrm>
          <a:prstGeom prst="roundRect">
            <a:avLst>
              <a:gd name="adj" fmla="val 5000"/>
            </a:avLst>
          </a:prstGeom>
          <a:solidFill>
            <a:srgbClr val="0F2036"/>
          </a:solidFill>
          <a:ln w="12700">
            <a:solidFill>
              <a:srgbClr val="1D3A5C"/>
            </a:solidFill>
            <a:prstDash val="solid"/>
          </a:ln>
        </p:spPr>
      </p:sp>
      <p:sp>
        <p:nvSpPr>
          <p:cNvPr id="54" name="Text 46"/>
          <p:cNvSpPr txBox="1"/>
          <p:nvPr/>
        </p:nvSpPr>
        <p:spPr>
          <a:xfrm>
            <a:off x="7242048" y="3273552"/>
            <a:ext cx="1371600" cy="274320"/>
          </a:xfrm>
          <a:prstGeom prst="rect">
            <a:avLst/>
          </a:prstGeom>
          <a:noFill/>
          <a:ln/>
        </p:spPr>
        <p:txBody>
          <a:bodyPr wrap="square" lIns="0" tIns="0" rIns="0" bIns="0" rtlCol="0" anchor="ctr"/>
          <a:lstStyle/>
          <a:p>
            <a:pPr marL="0" indent="0">
              <a:buNone/>
            </a:pPr>
            <a:r>
              <a:rPr lang="en-US" sz="1200" b="1" dirty="0">
                <a:solidFill>
                  <a:srgbClr val="2DE2C0"/>
                </a:solidFill>
                <a:latin typeface="Courier New" pitchFamily="34" charset="0"/>
                <a:ea typeface="Courier New" pitchFamily="34" charset="-122"/>
                <a:cs typeface="Courier New" pitchFamily="34" charset="-120"/>
              </a:rPr>
              <a:t>templates/</a:t>
            </a:r>
            <a:endParaRPr lang="en-US" sz="1200" dirty="0"/>
          </a:p>
        </p:txBody>
      </p:sp>
      <p:sp>
        <p:nvSpPr>
          <p:cNvPr id="55" name="Text 47"/>
          <p:cNvSpPr txBox="1"/>
          <p:nvPr/>
        </p:nvSpPr>
        <p:spPr>
          <a:xfrm>
            <a:off x="7242048" y="3611880"/>
            <a:ext cx="1353312" cy="914400"/>
          </a:xfrm>
          <a:prstGeom prst="rect">
            <a:avLst/>
          </a:prstGeom>
          <a:noFill/>
          <a:ln/>
        </p:spPr>
        <p:txBody>
          <a:bodyPr wrap="square" lIns="0" tIns="0" rIns="0" bIns="0" rtlCol="0" anchor="t"/>
          <a:lstStyle/>
          <a:p>
            <a:pPr marL="0" indent="0">
              <a:buNone/>
            </a:pPr>
            <a:r>
              <a:rPr lang="en-US" sz="1100" dirty="0">
                <a:solidFill>
                  <a:srgbClr val="9DB2CC"/>
                </a:solidFill>
                <a:latin typeface="Calibri" pitchFamily="34" charset="0"/>
                <a:ea typeface="Calibri" pitchFamily="34" charset="-122"/>
                <a:cs typeface="Calibri" pitchFamily="34" charset="-120"/>
              </a:rPr>
              <a:t>Dashboard, scan, history, quiz, model lab</a:t>
            </a:r>
            <a:endParaRPr lang="en-US" sz="1100" dirty="0"/>
          </a:p>
        </p:txBody>
      </p:sp>
    </p:spTree>
  </p:cSld>
  <p:clrMapOvr>
    <a:masterClrMapping/>
  </p:clrMapOvr>
  <p:transition spd="med">
    <p:push/>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B1A4BD7-155E-3BFD-F55C-8C5EBB06834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213FFF0-3D2A-F9E7-B0FA-7473F0C9DD8A}"/>
              </a:ext>
            </a:extLst>
          </p:cNvPr>
          <p:cNvPicPr>
            <a:picLocks noChangeAspect="1"/>
          </p:cNvPicPr>
          <p:nvPr/>
        </p:nvPicPr>
        <p:blipFill>
          <a:blip r:embed="rId4"/>
          <a:stretch>
            <a:fillRect/>
          </a:stretch>
        </p:blipFill>
        <p:spPr>
          <a:xfrm>
            <a:off x="1090246" y="354183"/>
            <a:ext cx="6963508" cy="3916973"/>
          </a:xfrm>
          <a:prstGeom prst="rect">
            <a:avLst/>
          </a:prstGeom>
        </p:spPr>
      </p:pic>
      <p:sp>
        <p:nvSpPr>
          <p:cNvPr id="4" name="TextBox 3">
            <a:extLst>
              <a:ext uri="{FF2B5EF4-FFF2-40B4-BE49-F238E27FC236}">
                <a16:creationId xmlns:a16="http://schemas.microsoft.com/office/drawing/2014/main" id="{79E8A575-4E9D-DFF2-2CAC-6FC1EA4EBA9B}"/>
              </a:ext>
            </a:extLst>
          </p:cNvPr>
          <p:cNvSpPr txBox="1"/>
          <p:nvPr/>
        </p:nvSpPr>
        <p:spPr>
          <a:xfrm>
            <a:off x="190793" y="4336256"/>
            <a:ext cx="8762414" cy="646331"/>
          </a:xfrm>
          <a:prstGeom prst="rect">
            <a:avLst/>
          </a:prstGeom>
          <a:noFill/>
        </p:spPr>
        <p:txBody>
          <a:bodyPr wrap="square" rtlCol="0">
            <a:spAutoFit/>
          </a:bodyPr>
          <a:lstStyle/>
          <a:p>
            <a:pPr algn="ctr"/>
            <a:r>
              <a:rPr lang="en-IN" b="1" dirty="0">
                <a:solidFill>
                  <a:schemeClr val="bg1"/>
                </a:solidFill>
              </a:rPr>
              <a:t>Fig. 1 Dashboard (top) Dashboard with quick email check, live statistics and results breakdown</a:t>
            </a:r>
          </a:p>
        </p:txBody>
      </p:sp>
    </p:spTree>
    <p:extLst>
      <p:ext uri="{BB962C8B-B14F-4D97-AF65-F5344CB8AC3E}">
        <p14:creationId xmlns:p14="http://schemas.microsoft.com/office/powerpoint/2010/main" val="3799257151"/>
      </p:ext>
    </p:extLst>
  </p:cSld>
  <p:clrMapOvr>
    <a:masterClrMapping/>
  </p:clrMapOvr>
  <p:transition spd="med">
    <p:push/>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92D50D7-EE44-F79D-CF50-8BE19D36B5E6}"/>
            </a:ext>
          </a:extLst>
        </p:cNvPr>
        <p:cNvGrpSpPr/>
        <p:nvPr/>
      </p:nvGrpSpPr>
      <p:grpSpPr>
        <a:xfrm>
          <a:off x="0" y="0"/>
          <a:ext cx="0" cy="0"/>
          <a:chOff x="0" y="0"/>
          <a:chExt cx="0" cy="0"/>
        </a:xfrm>
      </p:grpSpPr>
      <p:pic>
        <p:nvPicPr>
          <p:cNvPr id="57" name="Picture 56">
            <a:extLst>
              <a:ext uri="{FF2B5EF4-FFF2-40B4-BE49-F238E27FC236}">
                <a16:creationId xmlns:a16="http://schemas.microsoft.com/office/drawing/2014/main" id="{9D228AEA-6844-45B7-8172-39E7D719329E}"/>
              </a:ext>
            </a:extLst>
          </p:cNvPr>
          <p:cNvPicPr>
            <a:picLocks noChangeAspect="1"/>
          </p:cNvPicPr>
          <p:nvPr/>
        </p:nvPicPr>
        <p:blipFill>
          <a:blip r:embed="rId4"/>
          <a:stretch>
            <a:fillRect/>
          </a:stretch>
        </p:blipFill>
        <p:spPr>
          <a:xfrm>
            <a:off x="1196340" y="403860"/>
            <a:ext cx="6637020" cy="3733324"/>
          </a:xfrm>
          <a:prstGeom prst="rect">
            <a:avLst/>
          </a:prstGeom>
        </p:spPr>
      </p:pic>
      <p:sp>
        <p:nvSpPr>
          <p:cNvPr id="58" name="TextBox 57">
            <a:extLst>
              <a:ext uri="{FF2B5EF4-FFF2-40B4-BE49-F238E27FC236}">
                <a16:creationId xmlns:a16="http://schemas.microsoft.com/office/drawing/2014/main" id="{696A152C-F3C6-757A-DA0B-02F1F36A71EB}"/>
              </a:ext>
            </a:extLst>
          </p:cNvPr>
          <p:cNvSpPr txBox="1"/>
          <p:nvPr/>
        </p:nvSpPr>
        <p:spPr>
          <a:xfrm>
            <a:off x="1196340" y="4416474"/>
            <a:ext cx="6637020" cy="646331"/>
          </a:xfrm>
          <a:prstGeom prst="rect">
            <a:avLst/>
          </a:prstGeom>
          <a:noFill/>
        </p:spPr>
        <p:txBody>
          <a:bodyPr wrap="square" rtlCol="0">
            <a:spAutoFit/>
          </a:bodyPr>
          <a:lstStyle/>
          <a:p>
            <a:pPr algn="ctr"/>
            <a:r>
              <a:rPr lang="en-IN" b="1" dirty="0">
                <a:solidFill>
                  <a:schemeClr val="bg1"/>
                </a:solidFill>
              </a:rPr>
              <a:t>Fig. 2 Dashboard (bottom) Recent scans, riskiest sender domains and security tip</a:t>
            </a:r>
          </a:p>
        </p:txBody>
      </p:sp>
    </p:spTree>
    <p:extLst>
      <p:ext uri="{BB962C8B-B14F-4D97-AF65-F5344CB8AC3E}">
        <p14:creationId xmlns:p14="http://schemas.microsoft.com/office/powerpoint/2010/main" val="2034998054"/>
      </p:ext>
    </p:extLst>
  </p:cSld>
  <p:clrMapOvr>
    <a:masterClrMapping/>
  </p:clrMapOvr>
  <p:transition spd="med">
    <p:push/>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4C87010-9A47-B632-0964-29791392B09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98AFEBD-FDB2-9C01-448F-86BAC094B5E0}"/>
              </a:ext>
            </a:extLst>
          </p:cNvPr>
          <p:cNvPicPr>
            <a:picLocks noChangeAspect="1"/>
          </p:cNvPicPr>
          <p:nvPr/>
        </p:nvPicPr>
        <p:blipFill>
          <a:blip r:embed="rId4"/>
          <a:stretch>
            <a:fillRect/>
          </a:stretch>
        </p:blipFill>
        <p:spPr>
          <a:xfrm>
            <a:off x="955040" y="198120"/>
            <a:ext cx="7233920" cy="4069080"/>
          </a:xfrm>
          <a:prstGeom prst="rect">
            <a:avLst/>
          </a:prstGeom>
        </p:spPr>
      </p:pic>
      <p:sp>
        <p:nvSpPr>
          <p:cNvPr id="6" name="TextBox 5">
            <a:extLst>
              <a:ext uri="{FF2B5EF4-FFF2-40B4-BE49-F238E27FC236}">
                <a16:creationId xmlns:a16="http://schemas.microsoft.com/office/drawing/2014/main" id="{2056E7A2-D7E8-F8B7-1D91-C6D52B67D9B8}"/>
              </a:ext>
            </a:extLst>
          </p:cNvPr>
          <p:cNvSpPr txBox="1"/>
          <p:nvPr/>
        </p:nvSpPr>
        <p:spPr>
          <a:xfrm>
            <a:off x="797954" y="4518660"/>
            <a:ext cx="7548092" cy="369332"/>
          </a:xfrm>
          <a:prstGeom prst="rect">
            <a:avLst/>
          </a:prstGeom>
          <a:noFill/>
        </p:spPr>
        <p:txBody>
          <a:bodyPr wrap="none" rtlCol="0">
            <a:spAutoFit/>
          </a:bodyPr>
          <a:lstStyle/>
          <a:p>
            <a:r>
              <a:rPr lang="en-IN" b="1" dirty="0">
                <a:solidFill>
                  <a:schemeClr val="bg1"/>
                </a:solidFill>
              </a:rPr>
              <a:t>Fig. 3 Scan an email Scan page with paste input, live preview and .</a:t>
            </a:r>
            <a:r>
              <a:rPr lang="en-IN" b="1" dirty="0" err="1">
                <a:solidFill>
                  <a:schemeClr val="bg1"/>
                </a:solidFill>
              </a:rPr>
              <a:t>eml</a:t>
            </a:r>
            <a:r>
              <a:rPr lang="en-IN" b="1" dirty="0">
                <a:solidFill>
                  <a:schemeClr val="bg1"/>
                </a:solidFill>
              </a:rPr>
              <a:t> upload</a:t>
            </a:r>
          </a:p>
        </p:txBody>
      </p:sp>
    </p:spTree>
    <p:extLst>
      <p:ext uri="{BB962C8B-B14F-4D97-AF65-F5344CB8AC3E}">
        <p14:creationId xmlns:p14="http://schemas.microsoft.com/office/powerpoint/2010/main" val="4039550949"/>
      </p:ext>
    </p:extLst>
  </p:cSld>
  <p:clrMapOvr>
    <a:masterClrMapping/>
  </p:clrMapOvr>
  <p:transition spd="med">
    <p:push/>
  </p:transition>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563B0A7-6EF7-4096-BC23-0E0124A60FE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FA114CF-52CE-8080-B6CD-F41EA3F9FA16}"/>
              </a:ext>
            </a:extLst>
          </p:cNvPr>
          <p:cNvSpPr txBox="1"/>
          <p:nvPr/>
        </p:nvSpPr>
        <p:spPr>
          <a:xfrm>
            <a:off x="594360" y="4355068"/>
            <a:ext cx="7955280" cy="646331"/>
          </a:xfrm>
          <a:prstGeom prst="rect">
            <a:avLst/>
          </a:prstGeom>
          <a:noFill/>
        </p:spPr>
        <p:txBody>
          <a:bodyPr wrap="square" rtlCol="0">
            <a:spAutoFit/>
          </a:bodyPr>
          <a:lstStyle/>
          <a:p>
            <a:pPr algn="ctr"/>
            <a:r>
              <a:rPr lang="en-IN" b="1" dirty="0">
                <a:solidFill>
                  <a:schemeClr val="bg1"/>
                </a:solidFill>
              </a:rPr>
              <a:t>Fig. 4 Result (KYC email, Phishing 77) Scan result for a phishing email, with score ring, reasons and highlighted warning signs</a:t>
            </a:r>
          </a:p>
        </p:txBody>
      </p:sp>
      <p:pic>
        <p:nvPicPr>
          <p:cNvPr id="6" name="Picture 5">
            <a:extLst>
              <a:ext uri="{FF2B5EF4-FFF2-40B4-BE49-F238E27FC236}">
                <a16:creationId xmlns:a16="http://schemas.microsoft.com/office/drawing/2014/main" id="{4349B72B-F893-52DC-CF84-A6C093132A6D}"/>
              </a:ext>
            </a:extLst>
          </p:cNvPr>
          <p:cNvPicPr>
            <a:picLocks noChangeAspect="1"/>
          </p:cNvPicPr>
          <p:nvPr/>
        </p:nvPicPr>
        <p:blipFill>
          <a:blip r:embed="rId4"/>
          <a:stretch>
            <a:fillRect/>
          </a:stretch>
        </p:blipFill>
        <p:spPr>
          <a:xfrm>
            <a:off x="742950" y="398908"/>
            <a:ext cx="7658100" cy="3856489"/>
          </a:xfrm>
          <a:prstGeom prst="rect">
            <a:avLst/>
          </a:prstGeom>
        </p:spPr>
      </p:pic>
    </p:spTree>
    <p:extLst>
      <p:ext uri="{BB962C8B-B14F-4D97-AF65-F5344CB8AC3E}">
        <p14:creationId xmlns:p14="http://schemas.microsoft.com/office/powerpoint/2010/main" val="3214507394"/>
      </p:ext>
    </p:extLst>
  </p:cSld>
  <p:clrMapOvr>
    <a:masterClrMapping/>
  </p:clrMapOvr>
  <p:transition spd="med">
    <p:push/>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29623D64-8CCE-07F1-E3E5-04B2AE362C8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352B7D1-0AB6-18E9-D423-1F871EDCFAE8}"/>
              </a:ext>
            </a:extLst>
          </p:cNvPr>
          <p:cNvPicPr>
            <a:picLocks noChangeAspect="1"/>
          </p:cNvPicPr>
          <p:nvPr/>
        </p:nvPicPr>
        <p:blipFill>
          <a:blip r:embed="rId4"/>
          <a:stretch>
            <a:fillRect/>
          </a:stretch>
        </p:blipFill>
        <p:spPr>
          <a:xfrm>
            <a:off x="674370" y="409519"/>
            <a:ext cx="7795260" cy="3686604"/>
          </a:xfrm>
          <a:prstGeom prst="rect">
            <a:avLst/>
          </a:prstGeom>
        </p:spPr>
      </p:pic>
      <p:sp>
        <p:nvSpPr>
          <p:cNvPr id="6" name="TextBox 5">
            <a:extLst>
              <a:ext uri="{FF2B5EF4-FFF2-40B4-BE49-F238E27FC236}">
                <a16:creationId xmlns:a16="http://schemas.microsoft.com/office/drawing/2014/main" id="{9214FBDA-0869-7F6E-7B08-F9622CBAE06F}"/>
              </a:ext>
            </a:extLst>
          </p:cNvPr>
          <p:cNvSpPr txBox="1"/>
          <p:nvPr/>
        </p:nvSpPr>
        <p:spPr>
          <a:xfrm>
            <a:off x="1127050" y="4488180"/>
            <a:ext cx="6889899" cy="369332"/>
          </a:xfrm>
          <a:prstGeom prst="rect">
            <a:avLst/>
          </a:prstGeom>
          <a:noFill/>
        </p:spPr>
        <p:txBody>
          <a:bodyPr wrap="none" rtlCol="0">
            <a:spAutoFit/>
          </a:bodyPr>
          <a:lstStyle/>
          <a:p>
            <a:r>
              <a:rPr lang="en-IN" b="1" dirty="0">
                <a:solidFill>
                  <a:schemeClr val="bg1"/>
                </a:solidFill>
              </a:rPr>
              <a:t>Fig. 5 Result (meeting email, Safe 11) Scan result for a legitimate email</a:t>
            </a:r>
          </a:p>
        </p:txBody>
      </p:sp>
    </p:spTree>
    <p:extLst>
      <p:ext uri="{BB962C8B-B14F-4D97-AF65-F5344CB8AC3E}">
        <p14:creationId xmlns:p14="http://schemas.microsoft.com/office/powerpoint/2010/main" val="1339489596"/>
      </p:ext>
    </p:extLst>
  </p:cSld>
  <p:clrMapOvr>
    <a:masterClrMapping/>
  </p:clrMapOvr>
  <p:transition spd="med">
    <p:push/>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64F25AC-8441-8B6F-54D2-18AC2215944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1E8169E-9317-4DC9-D072-BBE7ACD4CAC0}"/>
              </a:ext>
            </a:extLst>
          </p:cNvPr>
          <p:cNvSpPr txBox="1"/>
          <p:nvPr/>
        </p:nvSpPr>
        <p:spPr>
          <a:xfrm>
            <a:off x="178938" y="4495800"/>
            <a:ext cx="8786123" cy="369332"/>
          </a:xfrm>
          <a:prstGeom prst="rect">
            <a:avLst/>
          </a:prstGeom>
          <a:noFill/>
        </p:spPr>
        <p:txBody>
          <a:bodyPr wrap="none" rtlCol="0">
            <a:spAutoFit/>
          </a:bodyPr>
          <a:lstStyle/>
          <a:p>
            <a:r>
              <a:rPr lang="en-IN" b="1" dirty="0">
                <a:solidFill>
                  <a:schemeClr val="bg1"/>
                </a:solidFill>
              </a:rPr>
              <a:t>Fig. 6 History Scan history stored in the SQLite database, with search, filter and CSV export</a:t>
            </a:r>
          </a:p>
        </p:txBody>
      </p:sp>
      <p:pic>
        <p:nvPicPr>
          <p:cNvPr id="3" name="Picture 2">
            <a:extLst>
              <a:ext uri="{FF2B5EF4-FFF2-40B4-BE49-F238E27FC236}">
                <a16:creationId xmlns:a16="http://schemas.microsoft.com/office/drawing/2014/main" id="{AF4557A6-4AD2-BF29-BA00-3218E1879035}"/>
              </a:ext>
            </a:extLst>
          </p:cNvPr>
          <p:cNvPicPr>
            <a:picLocks noChangeAspect="1"/>
          </p:cNvPicPr>
          <p:nvPr/>
        </p:nvPicPr>
        <p:blipFill>
          <a:blip r:embed="rId4"/>
          <a:stretch>
            <a:fillRect/>
          </a:stretch>
        </p:blipFill>
        <p:spPr>
          <a:xfrm>
            <a:off x="815339" y="152400"/>
            <a:ext cx="7513320" cy="4226243"/>
          </a:xfrm>
          <a:prstGeom prst="rect">
            <a:avLst/>
          </a:prstGeom>
        </p:spPr>
      </p:pic>
    </p:spTree>
    <p:extLst>
      <p:ext uri="{BB962C8B-B14F-4D97-AF65-F5344CB8AC3E}">
        <p14:creationId xmlns:p14="http://schemas.microsoft.com/office/powerpoint/2010/main" val="2880802030"/>
      </p:ext>
    </p:extLst>
  </p:cSld>
  <p:clrMapOvr>
    <a:masterClrMapping/>
  </p:clrMapOvr>
  <p:transition spd="med">
    <p:push/>
  </p:transition>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0D749F4-CFAF-D364-416C-21D9D901D00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01F22AD-77A1-B79F-05CF-58029FB521EB}"/>
              </a:ext>
            </a:extLst>
          </p:cNvPr>
          <p:cNvSpPr txBox="1"/>
          <p:nvPr/>
        </p:nvSpPr>
        <p:spPr>
          <a:xfrm>
            <a:off x="470469" y="4352389"/>
            <a:ext cx="8203062" cy="646331"/>
          </a:xfrm>
          <a:prstGeom prst="rect">
            <a:avLst/>
          </a:prstGeom>
          <a:noFill/>
        </p:spPr>
        <p:txBody>
          <a:bodyPr wrap="square" rtlCol="0">
            <a:spAutoFit/>
          </a:bodyPr>
          <a:lstStyle/>
          <a:p>
            <a:pPr algn="ctr"/>
            <a:r>
              <a:rPr lang="en-IN" b="1" dirty="0">
                <a:solidFill>
                  <a:schemeClr val="bg1"/>
                </a:solidFill>
              </a:rPr>
              <a:t>Fig. 7 Data &amp; settings Threat intelligence, trusted and blocked domain lists, and training data settings</a:t>
            </a:r>
          </a:p>
        </p:txBody>
      </p:sp>
      <p:pic>
        <p:nvPicPr>
          <p:cNvPr id="7" name="Picture 6">
            <a:extLst>
              <a:ext uri="{FF2B5EF4-FFF2-40B4-BE49-F238E27FC236}">
                <a16:creationId xmlns:a16="http://schemas.microsoft.com/office/drawing/2014/main" id="{6F9BA9F1-4977-468A-EE1A-6D193B3B03A4}"/>
              </a:ext>
            </a:extLst>
          </p:cNvPr>
          <p:cNvPicPr>
            <a:picLocks noChangeAspect="1"/>
          </p:cNvPicPr>
          <p:nvPr/>
        </p:nvPicPr>
        <p:blipFill>
          <a:blip r:embed="rId4"/>
          <a:stretch>
            <a:fillRect/>
          </a:stretch>
        </p:blipFill>
        <p:spPr>
          <a:xfrm>
            <a:off x="954405" y="167640"/>
            <a:ext cx="7235190" cy="4069795"/>
          </a:xfrm>
          <a:prstGeom prst="rect">
            <a:avLst/>
          </a:prstGeom>
        </p:spPr>
      </p:pic>
    </p:spTree>
    <p:extLst>
      <p:ext uri="{BB962C8B-B14F-4D97-AF65-F5344CB8AC3E}">
        <p14:creationId xmlns:p14="http://schemas.microsoft.com/office/powerpoint/2010/main" val="526503524"/>
      </p:ext>
    </p:extLst>
  </p:cSld>
  <p:clrMapOvr>
    <a:masterClrMapping/>
  </p:clrMapOvr>
  <p:transition spd="med">
    <p:push/>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9BCDCF0-3CA4-3C80-468E-1BE4952C13F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9F6AF42-E9AD-5523-FA8A-9EFB515800AD}"/>
              </a:ext>
            </a:extLst>
          </p:cNvPr>
          <p:cNvPicPr>
            <a:picLocks noChangeAspect="1"/>
          </p:cNvPicPr>
          <p:nvPr/>
        </p:nvPicPr>
        <p:blipFill>
          <a:blip r:embed="rId4"/>
          <a:stretch>
            <a:fillRect/>
          </a:stretch>
        </p:blipFill>
        <p:spPr>
          <a:xfrm>
            <a:off x="1089660" y="251460"/>
            <a:ext cx="6964680" cy="3917633"/>
          </a:xfrm>
          <a:prstGeom prst="rect">
            <a:avLst/>
          </a:prstGeom>
        </p:spPr>
      </p:pic>
      <p:sp>
        <p:nvSpPr>
          <p:cNvPr id="10" name="TextBox 9">
            <a:extLst>
              <a:ext uri="{FF2B5EF4-FFF2-40B4-BE49-F238E27FC236}">
                <a16:creationId xmlns:a16="http://schemas.microsoft.com/office/drawing/2014/main" id="{9BF4FC96-B929-D0B4-8991-B3FDFCB8D96E}"/>
              </a:ext>
            </a:extLst>
          </p:cNvPr>
          <p:cNvSpPr txBox="1"/>
          <p:nvPr/>
        </p:nvSpPr>
        <p:spPr>
          <a:xfrm>
            <a:off x="1733434" y="4377928"/>
            <a:ext cx="5677132" cy="369332"/>
          </a:xfrm>
          <a:prstGeom prst="rect">
            <a:avLst/>
          </a:prstGeom>
          <a:noFill/>
        </p:spPr>
        <p:txBody>
          <a:bodyPr wrap="none" rtlCol="0">
            <a:spAutoFit/>
          </a:bodyPr>
          <a:lstStyle/>
          <a:p>
            <a:r>
              <a:rPr lang="en-IN" b="1" dirty="0">
                <a:solidFill>
                  <a:schemeClr val="bg1"/>
                </a:solidFill>
              </a:rPr>
              <a:t>Fig. 8 API REST API page with API key and usage examples</a:t>
            </a:r>
          </a:p>
        </p:txBody>
      </p:sp>
    </p:spTree>
    <p:extLst>
      <p:ext uri="{BB962C8B-B14F-4D97-AF65-F5344CB8AC3E}">
        <p14:creationId xmlns:p14="http://schemas.microsoft.com/office/powerpoint/2010/main" val="3639402730"/>
      </p:ext>
    </p:extLst>
  </p:cSld>
  <p:clrMapOvr>
    <a:masterClrMapping/>
  </p:clrMapOvr>
  <p:transition spd="med">
    <p:push/>
  </p:transition>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E57029F-87EB-A888-57FF-1091065C8B66}"/>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BE352E4-5673-8919-0E7B-A77CFE231FA2}"/>
              </a:ext>
            </a:extLst>
          </p:cNvPr>
          <p:cNvPicPr>
            <a:picLocks noChangeAspect="1"/>
          </p:cNvPicPr>
          <p:nvPr/>
        </p:nvPicPr>
        <p:blipFill>
          <a:blip r:embed="rId4"/>
          <a:stretch>
            <a:fillRect/>
          </a:stretch>
        </p:blipFill>
        <p:spPr>
          <a:xfrm>
            <a:off x="1116330" y="289560"/>
            <a:ext cx="6911340" cy="3887629"/>
          </a:xfrm>
          <a:prstGeom prst="rect">
            <a:avLst/>
          </a:prstGeom>
        </p:spPr>
      </p:pic>
      <p:sp>
        <p:nvSpPr>
          <p:cNvPr id="10" name="TextBox 9">
            <a:extLst>
              <a:ext uri="{FF2B5EF4-FFF2-40B4-BE49-F238E27FC236}">
                <a16:creationId xmlns:a16="http://schemas.microsoft.com/office/drawing/2014/main" id="{152B0FDD-FCAD-58DA-CF51-B5D4F5EB5FB2}"/>
              </a:ext>
            </a:extLst>
          </p:cNvPr>
          <p:cNvSpPr txBox="1"/>
          <p:nvPr/>
        </p:nvSpPr>
        <p:spPr>
          <a:xfrm>
            <a:off x="1691788" y="4425434"/>
            <a:ext cx="5760423" cy="369332"/>
          </a:xfrm>
          <a:prstGeom prst="rect">
            <a:avLst/>
          </a:prstGeom>
          <a:noFill/>
        </p:spPr>
        <p:txBody>
          <a:bodyPr wrap="none" rtlCol="0">
            <a:spAutoFit/>
          </a:bodyPr>
          <a:lstStyle/>
          <a:p>
            <a:r>
              <a:rPr lang="en-IN" b="1" dirty="0">
                <a:solidFill>
                  <a:schemeClr val="bg1"/>
                </a:solidFill>
              </a:rPr>
              <a:t>Fig. 9 Spot the phish Awareness quiz built from real emails</a:t>
            </a:r>
          </a:p>
        </p:txBody>
      </p:sp>
    </p:spTree>
    <p:extLst>
      <p:ext uri="{BB962C8B-B14F-4D97-AF65-F5344CB8AC3E}">
        <p14:creationId xmlns:p14="http://schemas.microsoft.com/office/powerpoint/2010/main" val="1292794777"/>
      </p:ext>
    </p:extLst>
  </p:cSld>
  <p:clrMapOvr>
    <a:masterClrMapping/>
  </p:clrMapOvr>
  <p:transition spd="med">
    <p:push/>
  </p:transition>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14824D4-D9F7-EBBE-AC60-864A4EACB79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D3A02C8-9E07-4AAC-7714-F44F62FF656B}"/>
              </a:ext>
            </a:extLst>
          </p:cNvPr>
          <p:cNvSpPr txBox="1"/>
          <p:nvPr/>
        </p:nvSpPr>
        <p:spPr>
          <a:xfrm>
            <a:off x="2099792" y="149572"/>
            <a:ext cx="4648200" cy="523220"/>
          </a:xfrm>
          <a:prstGeom prst="rect">
            <a:avLst/>
          </a:prstGeom>
          <a:noFill/>
        </p:spPr>
        <p:txBody>
          <a:bodyPr wrap="square" rtlCol="0">
            <a:spAutoFit/>
          </a:bodyPr>
          <a:lstStyle/>
          <a:p>
            <a:pPr algn="ctr"/>
            <a:r>
              <a:rPr lang="en-US" sz="2800" b="1" dirty="0">
                <a:solidFill>
                  <a:schemeClr val="bg1"/>
                </a:solidFill>
              </a:rPr>
              <a:t>GITHUB REPOSITORY LINK</a:t>
            </a:r>
            <a:endParaRPr lang="en-IN" sz="2800" b="1" dirty="0">
              <a:solidFill>
                <a:schemeClr val="bg1"/>
              </a:solidFill>
            </a:endParaRPr>
          </a:p>
        </p:txBody>
      </p:sp>
      <p:sp>
        <p:nvSpPr>
          <p:cNvPr id="4" name="Rectangle 3">
            <a:extLst>
              <a:ext uri="{FF2B5EF4-FFF2-40B4-BE49-F238E27FC236}">
                <a16:creationId xmlns:a16="http://schemas.microsoft.com/office/drawing/2014/main" id="{FED17BEB-19A5-990B-5142-3BE6EFA09D81}"/>
              </a:ext>
            </a:extLst>
          </p:cNvPr>
          <p:cNvSpPr/>
          <p:nvPr/>
        </p:nvSpPr>
        <p:spPr>
          <a:xfrm>
            <a:off x="1771650" y="4409153"/>
            <a:ext cx="5600700" cy="58477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solidFill>
                  <a:schemeClr val="bg1"/>
                </a:solidFill>
                <a:hlinkClick r:id="rId4"/>
              </a:rPr>
              <a:t>https://github.com/NithinMurali-code/phishguard.git</a:t>
            </a:r>
            <a:endParaRPr lang="en-IN" b="1" dirty="0">
              <a:solidFill>
                <a:schemeClr val="bg1"/>
              </a:solidFill>
            </a:endParaRPr>
          </a:p>
        </p:txBody>
      </p:sp>
      <p:pic>
        <p:nvPicPr>
          <p:cNvPr id="6" name="Picture 5">
            <a:extLst>
              <a:ext uri="{FF2B5EF4-FFF2-40B4-BE49-F238E27FC236}">
                <a16:creationId xmlns:a16="http://schemas.microsoft.com/office/drawing/2014/main" id="{E8E0A8A0-0551-39B8-90D7-9F99B6EA646C}"/>
              </a:ext>
            </a:extLst>
          </p:cNvPr>
          <p:cNvPicPr>
            <a:picLocks noChangeAspect="1"/>
          </p:cNvPicPr>
          <p:nvPr/>
        </p:nvPicPr>
        <p:blipFill>
          <a:blip r:embed="rId5"/>
          <a:stretch>
            <a:fillRect/>
          </a:stretch>
        </p:blipFill>
        <p:spPr>
          <a:xfrm>
            <a:off x="1082040" y="762279"/>
            <a:ext cx="6683705" cy="3557386"/>
          </a:xfrm>
          <a:prstGeom prst="rect">
            <a:avLst/>
          </a:prstGeom>
        </p:spPr>
      </p:pic>
    </p:spTree>
    <p:extLst>
      <p:ext uri="{BB962C8B-B14F-4D97-AF65-F5344CB8AC3E}">
        <p14:creationId xmlns:p14="http://schemas.microsoft.com/office/powerpoint/2010/main" val="3228270514"/>
      </p:ext>
    </p:extLst>
  </p:cSld>
  <p:clrMapOvr>
    <a:masterClrMapping/>
  </p:clrMapOvr>
  <p:transition spd="med">
    <p:push/>
  </p:transition>
</p:sld>
</file>

<file path=ppt/slides/slide2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rgbClr val="2DE2C0"/>
                </a:solidFill>
                <a:latin typeface="Courier New" pitchFamily="34" charset="0"/>
                <a:ea typeface="Courier New" pitchFamily="34" charset="-122"/>
                <a:cs typeface="Courier New" pitchFamily="34" charset="-120"/>
              </a:rPr>
              <a:t>// 11  TESTING AND EXPECTED RESULTS</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b="1" dirty="0">
                <a:solidFill>
                  <a:srgbClr val="EAF2FF"/>
                </a:solidFill>
                <a:latin typeface="Calibri" pitchFamily="34" charset="0"/>
                <a:ea typeface="Calibri" pitchFamily="34" charset="-122"/>
                <a:cs typeface="Calibri" pitchFamily="34" charset="-120"/>
              </a:rPr>
              <a:t>What we measured</a:t>
            </a:r>
            <a:endParaRPr lang="en-US" sz="3000" dirty="0"/>
          </a:p>
        </p:txBody>
      </p:sp>
      <p:sp>
        <p:nvSpPr>
          <p:cNvPr id="4" name="Text 2"/>
          <p:cNvSpPr txBox="1"/>
          <p:nvPr/>
        </p:nvSpPr>
        <p:spPr>
          <a:xfrm>
            <a:off x="7498080" y="4864608"/>
            <a:ext cx="1188720" cy="182880"/>
          </a:xfrm>
          <a:prstGeom prst="rect">
            <a:avLst/>
          </a:prstGeom>
          <a:noFill/>
          <a:ln/>
        </p:spPr>
        <p:txBody>
          <a:bodyPr wrap="square" lIns="0" tIns="0" rIns="0" bIns="0" rtlCol="0" anchor="ctr"/>
          <a:lstStyle/>
          <a:p>
            <a:pPr marL="0" indent="0" algn="r">
              <a:buNone/>
            </a:pPr>
            <a:r>
              <a:rPr lang="en-US" sz="900" dirty="0">
                <a:solidFill>
                  <a:srgbClr val="9DB2CC"/>
                </a:solidFill>
                <a:latin typeface="Courier New" pitchFamily="34" charset="0"/>
                <a:ea typeface="Courier New" pitchFamily="34" charset="-122"/>
                <a:cs typeface="Courier New" pitchFamily="34" charset="-120"/>
              </a:rPr>
              <a:t>11 / 15</a:t>
            </a:r>
            <a:endParaRPr lang="en-US" sz="900" dirty="0"/>
          </a:p>
        </p:txBody>
      </p:sp>
      <p:sp>
        <p:nvSpPr>
          <p:cNvPr id="5" name="Text 3"/>
          <p:cNvSpPr txBox="1"/>
          <p:nvPr/>
        </p:nvSpPr>
        <p:spPr>
          <a:xfrm>
            <a:off x="457200" y="1234440"/>
            <a:ext cx="2377440" cy="228600"/>
          </a:xfrm>
          <a:prstGeom prst="rect">
            <a:avLst/>
          </a:prstGeom>
          <a:noFill/>
          <a:ln/>
        </p:spPr>
        <p:txBody>
          <a:bodyPr wrap="square" lIns="0" tIns="0" rIns="0" bIns="0" rtlCol="0" anchor="ctr"/>
          <a:lstStyle/>
          <a:p>
            <a:pPr marL="0" indent="0">
              <a:buNone/>
            </a:pPr>
            <a:r>
              <a:rPr lang="en-US" sz="1000" b="1" kern="0" spc="100" dirty="0">
                <a:solidFill>
                  <a:srgbClr val="2DE2C0"/>
                </a:solidFill>
                <a:latin typeface="Courier New" pitchFamily="34" charset="0"/>
                <a:ea typeface="Courier New" pitchFamily="34" charset="-122"/>
                <a:cs typeface="Courier New" pitchFamily="34" charset="-120"/>
              </a:rPr>
              <a:t>Test email</a:t>
            </a:r>
            <a:endParaRPr lang="en-US" sz="1000" dirty="0"/>
          </a:p>
        </p:txBody>
      </p:sp>
      <p:sp>
        <p:nvSpPr>
          <p:cNvPr id="6" name="Text 4"/>
          <p:cNvSpPr txBox="1"/>
          <p:nvPr/>
        </p:nvSpPr>
        <p:spPr>
          <a:xfrm>
            <a:off x="2926080" y="1234440"/>
            <a:ext cx="1371600" cy="228600"/>
          </a:xfrm>
          <a:prstGeom prst="rect">
            <a:avLst/>
          </a:prstGeom>
          <a:noFill/>
          <a:ln/>
        </p:spPr>
        <p:txBody>
          <a:bodyPr wrap="square" lIns="0" tIns="0" rIns="0" bIns="0" rtlCol="0" anchor="ctr"/>
          <a:lstStyle/>
          <a:p>
            <a:pPr marL="0" indent="0">
              <a:buNone/>
            </a:pPr>
            <a:r>
              <a:rPr lang="en-US" sz="1000" b="1" kern="0" spc="100" dirty="0">
                <a:solidFill>
                  <a:srgbClr val="2DE2C0"/>
                </a:solidFill>
                <a:latin typeface="Courier New" pitchFamily="34" charset="0"/>
                <a:ea typeface="Courier New" pitchFamily="34" charset="-122"/>
                <a:cs typeface="Courier New" pitchFamily="34" charset="-120"/>
              </a:rPr>
              <a:t>Expected</a:t>
            </a:r>
            <a:endParaRPr lang="en-US" sz="1000" dirty="0"/>
          </a:p>
        </p:txBody>
      </p:sp>
      <p:sp>
        <p:nvSpPr>
          <p:cNvPr id="7" name="Text 5"/>
          <p:cNvSpPr txBox="1"/>
          <p:nvPr/>
        </p:nvSpPr>
        <p:spPr>
          <a:xfrm>
            <a:off x="4343400" y="1234440"/>
            <a:ext cx="1280160" cy="228600"/>
          </a:xfrm>
          <a:prstGeom prst="rect">
            <a:avLst/>
          </a:prstGeom>
          <a:noFill/>
          <a:ln/>
        </p:spPr>
        <p:txBody>
          <a:bodyPr wrap="square" lIns="0" tIns="0" rIns="0" bIns="0" rtlCol="0" anchor="ctr"/>
          <a:lstStyle/>
          <a:p>
            <a:pPr marL="0" indent="0">
              <a:buNone/>
            </a:pPr>
            <a:r>
              <a:rPr lang="en-US" sz="1000" b="1" kern="0" spc="100" dirty="0">
                <a:solidFill>
                  <a:srgbClr val="2DE2C0"/>
                </a:solidFill>
                <a:latin typeface="Courier New" pitchFamily="34" charset="0"/>
                <a:ea typeface="Courier New" pitchFamily="34" charset="-122"/>
                <a:cs typeface="Courier New" pitchFamily="34" charset="-120"/>
              </a:rPr>
              <a:t>Observed</a:t>
            </a:r>
            <a:endParaRPr lang="en-US" sz="1000" dirty="0"/>
          </a:p>
        </p:txBody>
      </p:sp>
      <p:sp>
        <p:nvSpPr>
          <p:cNvPr id="8" name="Shape 6"/>
          <p:cNvSpPr/>
          <p:nvPr/>
        </p:nvSpPr>
        <p:spPr>
          <a:xfrm>
            <a:off x="457200" y="1554480"/>
            <a:ext cx="5166360" cy="585216"/>
          </a:xfrm>
          <a:prstGeom prst="roundRect">
            <a:avLst>
              <a:gd name="adj" fmla="val 12500"/>
            </a:avLst>
          </a:prstGeom>
          <a:solidFill>
            <a:srgbClr val="0F2036"/>
          </a:solidFill>
          <a:ln w="12700">
            <a:solidFill>
              <a:srgbClr val="1D3A5C"/>
            </a:solidFill>
            <a:prstDash val="solid"/>
          </a:ln>
        </p:spPr>
      </p:sp>
      <p:sp>
        <p:nvSpPr>
          <p:cNvPr id="9" name="Text 7"/>
          <p:cNvSpPr txBox="1"/>
          <p:nvPr/>
        </p:nvSpPr>
        <p:spPr>
          <a:xfrm>
            <a:off x="594360" y="1554480"/>
            <a:ext cx="2240280" cy="585216"/>
          </a:xfrm>
          <a:prstGeom prst="rect">
            <a:avLst/>
          </a:prstGeom>
          <a:noFill/>
          <a:ln/>
        </p:spPr>
        <p:txBody>
          <a:bodyPr wrap="square" lIns="0" tIns="0" rIns="0" bIns="0" rtlCol="0" anchor="ctr"/>
          <a:lstStyle/>
          <a:p>
            <a:pPr marL="0" indent="0">
              <a:buNone/>
            </a:pPr>
            <a:r>
              <a:rPr lang="en-US" sz="1100" dirty="0">
                <a:solidFill>
                  <a:srgbClr val="EAF2FF"/>
                </a:solidFill>
                <a:latin typeface="Calibri" pitchFamily="34" charset="0"/>
                <a:ea typeface="Calibri" pitchFamily="34" charset="-122"/>
                <a:cs typeface="Calibri" pitchFamily="34" charset="-120"/>
              </a:rPr>
              <a:t>Fake PayPal mail: IP link, urgent wording</a:t>
            </a:r>
            <a:endParaRPr lang="en-US" sz="1100" dirty="0"/>
          </a:p>
        </p:txBody>
      </p:sp>
      <p:sp>
        <p:nvSpPr>
          <p:cNvPr id="10" name="Text 8"/>
          <p:cNvSpPr txBox="1"/>
          <p:nvPr/>
        </p:nvSpPr>
        <p:spPr>
          <a:xfrm>
            <a:off x="2926080" y="1554480"/>
            <a:ext cx="1280160" cy="585216"/>
          </a:xfrm>
          <a:prstGeom prst="rect">
            <a:avLst/>
          </a:prstGeom>
          <a:noFill/>
          <a:ln/>
        </p:spPr>
        <p:txBody>
          <a:bodyPr wrap="square" lIns="0" tIns="0" rIns="0" bIns="0" rtlCol="0" anchor="ctr"/>
          <a:lstStyle/>
          <a:p>
            <a:pPr marL="0" indent="0">
              <a:buNone/>
            </a:pPr>
            <a:r>
              <a:rPr lang="en-US" sz="1100" dirty="0">
                <a:solidFill>
                  <a:srgbClr val="9DB2CC"/>
                </a:solidFill>
                <a:latin typeface="Calibri" pitchFamily="34" charset="0"/>
                <a:ea typeface="Calibri" pitchFamily="34" charset="-122"/>
                <a:cs typeface="Calibri" pitchFamily="34" charset="-120"/>
              </a:rPr>
              <a:t>Phishing</a:t>
            </a:r>
            <a:endParaRPr lang="en-US" sz="1100" dirty="0"/>
          </a:p>
        </p:txBody>
      </p:sp>
      <p:sp>
        <p:nvSpPr>
          <p:cNvPr id="11" name="Shape 9"/>
          <p:cNvSpPr/>
          <p:nvPr/>
        </p:nvSpPr>
        <p:spPr>
          <a:xfrm>
            <a:off x="4297680" y="1691640"/>
            <a:ext cx="1234440" cy="310896"/>
          </a:xfrm>
          <a:prstGeom prst="roundRect">
            <a:avLst>
              <a:gd name="adj" fmla="val 50000"/>
            </a:avLst>
          </a:prstGeom>
          <a:solidFill>
            <a:srgbClr val="0C2233"/>
          </a:solidFill>
          <a:ln w="12700">
            <a:solidFill>
              <a:srgbClr val="FF5C5C"/>
            </a:solidFill>
            <a:prstDash val="solid"/>
          </a:ln>
        </p:spPr>
      </p:sp>
      <p:sp>
        <p:nvSpPr>
          <p:cNvPr id="12" name="Text 10"/>
          <p:cNvSpPr txBox="1"/>
          <p:nvPr/>
        </p:nvSpPr>
        <p:spPr>
          <a:xfrm>
            <a:off x="4297680" y="1691640"/>
            <a:ext cx="1234440" cy="310896"/>
          </a:xfrm>
          <a:prstGeom prst="rect">
            <a:avLst/>
          </a:prstGeom>
          <a:noFill/>
          <a:ln/>
        </p:spPr>
        <p:txBody>
          <a:bodyPr wrap="square" lIns="0" tIns="0" rIns="0" bIns="0" rtlCol="0" anchor="ctr"/>
          <a:lstStyle/>
          <a:p>
            <a:pPr marL="0" indent="0" algn="ctr">
              <a:buNone/>
            </a:pPr>
            <a:r>
              <a:rPr lang="en-US" sz="1050" b="1" dirty="0">
                <a:solidFill>
                  <a:srgbClr val="FF5C5C"/>
                </a:solidFill>
                <a:latin typeface="Calibri" pitchFamily="34" charset="0"/>
                <a:ea typeface="Calibri" pitchFamily="34" charset="-122"/>
                <a:cs typeface="Calibri" pitchFamily="34" charset="-120"/>
              </a:rPr>
              <a:t>Phishing 99</a:t>
            </a:r>
            <a:endParaRPr lang="en-US" sz="1050" dirty="0"/>
          </a:p>
        </p:txBody>
      </p:sp>
      <p:sp>
        <p:nvSpPr>
          <p:cNvPr id="13" name="Shape 11"/>
          <p:cNvSpPr/>
          <p:nvPr/>
        </p:nvSpPr>
        <p:spPr>
          <a:xfrm>
            <a:off x="457200" y="2231136"/>
            <a:ext cx="5166360" cy="585216"/>
          </a:xfrm>
          <a:prstGeom prst="roundRect">
            <a:avLst>
              <a:gd name="adj" fmla="val 12500"/>
            </a:avLst>
          </a:prstGeom>
          <a:solidFill>
            <a:srgbClr val="0F2036"/>
          </a:solidFill>
          <a:ln w="12700">
            <a:solidFill>
              <a:srgbClr val="1D3A5C"/>
            </a:solidFill>
            <a:prstDash val="solid"/>
          </a:ln>
        </p:spPr>
      </p:sp>
      <p:sp>
        <p:nvSpPr>
          <p:cNvPr id="14" name="Text 12"/>
          <p:cNvSpPr txBox="1"/>
          <p:nvPr/>
        </p:nvSpPr>
        <p:spPr>
          <a:xfrm>
            <a:off x="594360" y="2231136"/>
            <a:ext cx="2240280" cy="585216"/>
          </a:xfrm>
          <a:prstGeom prst="rect">
            <a:avLst/>
          </a:prstGeom>
          <a:noFill/>
          <a:ln/>
        </p:spPr>
        <p:txBody>
          <a:bodyPr wrap="square" lIns="0" tIns="0" rIns="0" bIns="0" rtlCol="0" anchor="ctr"/>
          <a:lstStyle/>
          <a:p>
            <a:pPr marL="0" indent="0">
              <a:buNone/>
            </a:pPr>
            <a:r>
              <a:rPr lang="en-US" sz="1100" dirty="0">
                <a:solidFill>
                  <a:srgbClr val="EAF2FF"/>
                </a:solidFill>
                <a:latin typeface="Calibri" pitchFamily="34" charset="0"/>
                <a:ea typeface="Calibri" pitchFamily="34" charset="-122"/>
                <a:cs typeface="Calibri" pitchFamily="34" charset="-120"/>
              </a:rPr>
              <a:t>Work email with a GitHub link</a:t>
            </a:r>
            <a:endParaRPr lang="en-US" sz="1100" dirty="0"/>
          </a:p>
        </p:txBody>
      </p:sp>
      <p:sp>
        <p:nvSpPr>
          <p:cNvPr id="15" name="Text 13"/>
          <p:cNvSpPr txBox="1"/>
          <p:nvPr/>
        </p:nvSpPr>
        <p:spPr>
          <a:xfrm>
            <a:off x="2926080" y="2231136"/>
            <a:ext cx="1280160" cy="585216"/>
          </a:xfrm>
          <a:prstGeom prst="rect">
            <a:avLst/>
          </a:prstGeom>
          <a:noFill/>
          <a:ln/>
        </p:spPr>
        <p:txBody>
          <a:bodyPr wrap="square" lIns="0" tIns="0" rIns="0" bIns="0" rtlCol="0" anchor="ctr"/>
          <a:lstStyle/>
          <a:p>
            <a:pPr marL="0" indent="0">
              <a:buNone/>
            </a:pPr>
            <a:r>
              <a:rPr lang="en-US" sz="1100" dirty="0">
                <a:solidFill>
                  <a:srgbClr val="9DB2CC"/>
                </a:solidFill>
                <a:latin typeface="Calibri" pitchFamily="34" charset="0"/>
                <a:ea typeface="Calibri" pitchFamily="34" charset="-122"/>
                <a:cs typeface="Calibri" pitchFamily="34" charset="-120"/>
              </a:rPr>
              <a:t>Safe</a:t>
            </a:r>
            <a:endParaRPr lang="en-US" sz="1100" dirty="0"/>
          </a:p>
        </p:txBody>
      </p:sp>
      <p:sp>
        <p:nvSpPr>
          <p:cNvPr id="16" name="Shape 14"/>
          <p:cNvSpPr/>
          <p:nvPr/>
        </p:nvSpPr>
        <p:spPr>
          <a:xfrm>
            <a:off x="4297680" y="2368296"/>
            <a:ext cx="1234440" cy="310896"/>
          </a:xfrm>
          <a:prstGeom prst="roundRect">
            <a:avLst>
              <a:gd name="adj" fmla="val 50000"/>
            </a:avLst>
          </a:prstGeom>
          <a:solidFill>
            <a:srgbClr val="0C2233"/>
          </a:solidFill>
          <a:ln w="12700">
            <a:solidFill>
              <a:srgbClr val="2DE2C0"/>
            </a:solidFill>
            <a:prstDash val="solid"/>
          </a:ln>
        </p:spPr>
      </p:sp>
      <p:sp>
        <p:nvSpPr>
          <p:cNvPr id="17" name="Text 15"/>
          <p:cNvSpPr txBox="1"/>
          <p:nvPr/>
        </p:nvSpPr>
        <p:spPr>
          <a:xfrm>
            <a:off x="4297680" y="2368296"/>
            <a:ext cx="1234440" cy="310896"/>
          </a:xfrm>
          <a:prstGeom prst="rect">
            <a:avLst/>
          </a:prstGeom>
          <a:noFill/>
          <a:ln/>
        </p:spPr>
        <p:txBody>
          <a:bodyPr wrap="square" lIns="0" tIns="0" rIns="0" bIns="0" rtlCol="0" anchor="ctr"/>
          <a:lstStyle/>
          <a:p>
            <a:pPr marL="0" indent="0" algn="ctr">
              <a:buNone/>
            </a:pPr>
            <a:r>
              <a:rPr lang="en-US" sz="1050" b="1" dirty="0">
                <a:solidFill>
                  <a:srgbClr val="2DE2C0"/>
                </a:solidFill>
                <a:latin typeface="Calibri" pitchFamily="34" charset="0"/>
                <a:ea typeface="Calibri" pitchFamily="34" charset="-122"/>
                <a:cs typeface="Calibri" pitchFamily="34" charset="-120"/>
              </a:rPr>
              <a:t>Safe 0</a:t>
            </a:r>
            <a:endParaRPr lang="en-US" sz="1050" dirty="0"/>
          </a:p>
        </p:txBody>
      </p:sp>
      <p:sp>
        <p:nvSpPr>
          <p:cNvPr id="18" name="Shape 16"/>
          <p:cNvSpPr/>
          <p:nvPr/>
        </p:nvSpPr>
        <p:spPr>
          <a:xfrm>
            <a:off x="457200" y="2907792"/>
            <a:ext cx="5166360" cy="585216"/>
          </a:xfrm>
          <a:prstGeom prst="roundRect">
            <a:avLst>
              <a:gd name="adj" fmla="val 12500"/>
            </a:avLst>
          </a:prstGeom>
          <a:solidFill>
            <a:srgbClr val="0F2036"/>
          </a:solidFill>
          <a:ln w="12700">
            <a:solidFill>
              <a:srgbClr val="1D3A5C"/>
            </a:solidFill>
            <a:prstDash val="solid"/>
          </a:ln>
        </p:spPr>
      </p:sp>
      <p:sp>
        <p:nvSpPr>
          <p:cNvPr id="19" name="Text 17"/>
          <p:cNvSpPr txBox="1"/>
          <p:nvPr/>
        </p:nvSpPr>
        <p:spPr>
          <a:xfrm>
            <a:off x="594360" y="2907792"/>
            <a:ext cx="2240280" cy="585216"/>
          </a:xfrm>
          <a:prstGeom prst="rect">
            <a:avLst/>
          </a:prstGeom>
          <a:noFill/>
          <a:ln/>
        </p:spPr>
        <p:txBody>
          <a:bodyPr wrap="square" lIns="0" tIns="0" rIns="0" bIns="0" rtlCol="0" anchor="ctr"/>
          <a:lstStyle/>
          <a:p>
            <a:pPr marL="0" indent="0">
              <a:buNone/>
            </a:pPr>
            <a:r>
              <a:rPr lang="en-US" sz="1100" dirty="0">
                <a:solidFill>
                  <a:srgbClr val="EAF2FF"/>
                </a:solidFill>
                <a:latin typeface="Calibri" pitchFamily="34" charset="0"/>
                <a:ea typeface="Calibri" pitchFamily="34" charset="-122"/>
                <a:cs typeface="Calibri" pitchFamily="34" charset="-120"/>
              </a:rPr>
              <a:t>Casual lunch message</a:t>
            </a:r>
            <a:endParaRPr lang="en-US" sz="1100" dirty="0"/>
          </a:p>
        </p:txBody>
      </p:sp>
      <p:sp>
        <p:nvSpPr>
          <p:cNvPr id="20" name="Text 18"/>
          <p:cNvSpPr txBox="1"/>
          <p:nvPr/>
        </p:nvSpPr>
        <p:spPr>
          <a:xfrm>
            <a:off x="2926080" y="2907792"/>
            <a:ext cx="1280160" cy="585216"/>
          </a:xfrm>
          <a:prstGeom prst="rect">
            <a:avLst/>
          </a:prstGeom>
          <a:noFill/>
          <a:ln/>
        </p:spPr>
        <p:txBody>
          <a:bodyPr wrap="square" lIns="0" tIns="0" rIns="0" bIns="0" rtlCol="0" anchor="ctr"/>
          <a:lstStyle/>
          <a:p>
            <a:pPr marL="0" indent="0">
              <a:buNone/>
            </a:pPr>
            <a:r>
              <a:rPr lang="en-US" sz="1100" dirty="0">
                <a:solidFill>
                  <a:srgbClr val="9DB2CC"/>
                </a:solidFill>
                <a:latin typeface="Calibri" pitchFamily="34" charset="0"/>
                <a:ea typeface="Calibri" pitchFamily="34" charset="-122"/>
                <a:cs typeface="Calibri" pitchFamily="34" charset="-120"/>
              </a:rPr>
              <a:t>Safe</a:t>
            </a:r>
            <a:endParaRPr lang="en-US" sz="1100" dirty="0"/>
          </a:p>
        </p:txBody>
      </p:sp>
      <p:sp>
        <p:nvSpPr>
          <p:cNvPr id="21" name="Shape 19"/>
          <p:cNvSpPr/>
          <p:nvPr/>
        </p:nvSpPr>
        <p:spPr>
          <a:xfrm>
            <a:off x="4297680" y="3044952"/>
            <a:ext cx="1234440" cy="310896"/>
          </a:xfrm>
          <a:prstGeom prst="roundRect">
            <a:avLst>
              <a:gd name="adj" fmla="val 50000"/>
            </a:avLst>
          </a:prstGeom>
          <a:solidFill>
            <a:srgbClr val="0C2233"/>
          </a:solidFill>
          <a:ln w="12700">
            <a:solidFill>
              <a:srgbClr val="2DE2C0"/>
            </a:solidFill>
            <a:prstDash val="solid"/>
          </a:ln>
        </p:spPr>
      </p:sp>
      <p:sp>
        <p:nvSpPr>
          <p:cNvPr id="22" name="Text 20"/>
          <p:cNvSpPr txBox="1"/>
          <p:nvPr/>
        </p:nvSpPr>
        <p:spPr>
          <a:xfrm>
            <a:off x="4297680" y="3044952"/>
            <a:ext cx="1234440" cy="310896"/>
          </a:xfrm>
          <a:prstGeom prst="rect">
            <a:avLst/>
          </a:prstGeom>
          <a:noFill/>
          <a:ln/>
        </p:spPr>
        <p:txBody>
          <a:bodyPr wrap="square" lIns="0" tIns="0" rIns="0" bIns="0" rtlCol="0" anchor="ctr"/>
          <a:lstStyle/>
          <a:p>
            <a:pPr marL="0" indent="0" algn="ctr">
              <a:buNone/>
            </a:pPr>
            <a:r>
              <a:rPr lang="en-US" sz="1050" b="1" dirty="0">
                <a:solidFill>
                  <a:srgbClr val="2DE2C0"/>
                </a:solidFill>
                <a:latin typeface="Calibri" pitchFamily="34" charset="0"/>
                <a:ea typeface="Calibri" pitchFamily="34" charset="-122"/>
                <a:cs typeface="Calibri" pitchFamily="34" charset="-120"/>
              </a:rPr>
              <a:t>Safe 1</a:t>
            </a:r>
            <a:endParaRPr lang="en-US" sz="1050" dirty="0"/>
          </a:p>
        </p:txBody>
      </p:sp>
      <p:sp>
        <p:nvSpPr>
          <p:cNvPr id="23" name="Shape 21"/>
          <p:cNvSpPr/>
          <p:nvPr/>
        </p:nvSpPr>
        <p:spPr>
          <a:xfrm>
            <a:off x="457200" y="3584448"/>
            <a:ext cx="5166360" cy="585216"/>
          </a:xfrm>
          <a:prstGeom prst="roundRect">
            <a:avLst>
              <a:gd name="adj" fmla="val 12500"/>
            </a:avLst>
          </a:prstGeom>
          <a:solidFill>
            <a:srgbClr val="0F2036"/>
          </a:solidFill>
          <a:ln w="12700">
            <a:solidFill>
              <a:srgbClr val="1D3A5C"/>
            </a:solidFill>
            <a:prstDash val="solid"/>
          </a:ln>
        </p:spPr>
      </p:sp>
      <p:sp>
        <p:nvSpPr>
          <p:cNvPr id="24" name="Text 22"/>
          <p:cNvSpPr txBox="1"/>
          <p:nvPr/>
        </p:nvSpPr>
        <p:spPr>
          <a:xfrm>
            <a:off x="594360" y="3584448"/>
            <a:ext cx="2240280" cy="585216"/>
          </a:xfrm>
          <a:prstGeom prst="rect">
            <a:avLst/>
          </a:prstGeom>
          <a:noFill/>
          <a:ln/>
        </p:spPr>
        <p:txBody>
          <a:bodyPr wrap="square" lIns="0" tIns="0" rIns="0" bIns="0" rtlCol="0" anchor="ctr"/>
          <a:lstStyle/>
          <a:p>
            <a:pPr marL="0" indent="0">
              <a:buNone/>
            </a:pPr>
            <a:r>
              <a:rPr lang="en-US" sz="1100" dirty="0">
                <a:solidFill>
                  <a:srgbClr val="EAF2FF"/>
                </a:solidFill>
                <a:latin typeface="Calibri" pitchFamily="34" charset="0"/>
                <a:ea typeface="Calibri" pitchFamily="34" charset="-122"/>
                <a:cs typeface="Calibri" pitchFamily="34" charset="-120"/>
              </a:rPr>
              <a:t>Lottery scam text with no link</a:t>
            </a:r>
            <a:endParaRPr lang="en-US" sz="1100" dirty="0"/>
          </a:p>
        </p:txBody>
      </p:sp>
      <p:sp>
        <p:nvSpPr>
          <p:cNvPr id="25" name="Text 23"/>
          <p:cNvSpPr txBox="1"/>
          <p:nvPr/>
        </p:nvSpPr>
        <p:spPr>
          <a:xfrm>
            <a:off x="2926080" y="3584448"/>
            <a:ext cx="1280160" cy="585216"/>
          </a:xfrm>
          <a:prstGeom prst="rect">
            <a:avLst/>
          </a:prstGeom>
          <a:noFill/>
          <a:ln/>
        </p:spPr>
        <p:txBody>
          <a:bodyPr wrap="square" lIns="0" tIns="0" rIns="0" bIns="0" rtlCol="0" anchor="ctr"/>
          <a:lstStyle/>
          <a:p>
            <a:pPr marL="0" indent="0">
              <a:buNone/>
            </a:pPr>
            <a:r>
              <a:rPr lang="en-US" sz="1100" dirty="0">
                <a:solidFill>
                  <a:srgbClr val="9DB2CC"/>
                </a:solidFill>
                <a:latin typeface="Calibri" pitchFamily="34" charset="0"/>
                <a:ea typeface="Calibri" pitchFamily="34" charset="-122"/>
                <a:cs typeface="Calibri" pitchFamily="34" charset="-120"/>
              </a:rPr>
              <a:t>Flagged</a:t>
            </a:r>
            <a:endParaRPr lang="en-US" sz="1100" dirty="0"/>
          </a:p>
        </p:txBody>
      </p:sp>
      <p:sp>
        <p:nvSpPr>
          <p:cNvPr id="26" name="Shape 24"/>
          <p:cNvSpPr/>
          <p:nvPr/>
        </p:nvSpPr>
        <p:spPr>
          <a:xfrm>
            <a:off x="4297680" y="3721608"/>
            <a:ext cx="1234440" cy="310896"/>
          </a:xfrm>
          <a:prstGeom prst="roundRect">
            <a:avLst>
              <a:gd name="adj" fmla="val 50000"/>
            </a:avLst>
          </a:prstGeom>
          <a:solidFill>
            <a:srgbClr val="0C2233"/>
          </a:solidFill>
          <a:ln w="12700">
            <a:solidFill>
              <a:srgbClr val="FFB547"/>
            </a:solidFill>
            <a:prstDash val="solid"/>
          </a:ln>
        </p:spPr>
      </p:sp>
      <p:sp>
        <p:nvSpPr>
          <p:cNvPr id="27" name="Text 25"/>
          <p:cNvSpPr txBox="1"/>
          <p:nvPr/>
        </p:nvSpPr>
        <p:spPr>
          <a:xfrm>
            <a:off x="4297680" y="3721608"/>
            <a:ext cx="1234440" cy="310896"/>
          </a:xfrm>
          <a:prstGeom prst="rect">
            <a:avLst/>
          </a:prstGeom>
          <a:noFill/>
          <a:ln/>
        </p:spPr>
        <p:txBody>
          <a:bodyPr wrap="square" lIns="0" tIns="0" rIns="0" bIns="0" rtlCol="0" anchor="ctr"/>
          <a:lstStyle/>
          <a:p>
            <a:pPr marL="0" indent="0" algn="ctr">
              <a:buNone/>
            </a:pPr>
            <a:r>
              <a:rPr lang="en-US" sz="1050" b="1" dirty="0">
                <a:solidFill>
                  <a:srgbClr val="FFB547"/>
                </a:solidFill>
                <a:latin typeface="Calibri" pitchFamily="34" charset="0"/>
                <a:ea typeface="Calibri" pitchFamily="34" charset="-122"/>
                <a:cs typeface="Calibri" pitchFamily="34" charset="-120"/>
              </a:rPr>
              <a:t>Suspicious 51</a:t>
            </a:r>
            <a:endParaRPr lang="en-US" sz="1050" dirty="0"/>
          </a:p>
        </p:txBody>
      </p:sp>
      <p:sp>
        <p:nvSpPr>
          <p:cNvPr id="28" name="Text 26"/>
          <p:cNvSpPr txBox="1"/>
          <p:nvPr/>
        </p:nvSpPr>
        <p:spPr>
          <a:xfrm>
            <a:off x="457200" y="4297680"/>
            <a:ext cx="5166360" cy="411480"/>
          </a:xfrm>
          <a:prstGeom prst="rect">
            <a:avLst/>
          </a:prstGeom>
          <a:noFill/>
          <a:ln/>
        </p:spPr>
        <p:txBody>
          <a:bodyPr wrap="square" lIns="0" tIns="0" rIns="0" bIns="0" rtlCol="0" anchor="t"/>
          <a:lstStyle/>
          <a:p>
            <a:pPr marL="0" indent="0">
              <a:buNone/>
            </a:pPr>
            <a:r>
              <a:rPr lang="en-US" sz="1050" dirty="0">
                <a:solidFill>
                  <a:srgbClr val="9DB2CC"/>
                </a:solidFill>
                <a:latin typeface="Calibri" pitchFamily="34" charset="0"/>
                <a:ea typeface="Calibri" pitchFamily="34" charset="-122"/>
                <a:cs typeface="Calibri" pitchFamily="34" charset="-120"/>
              </a:rPr>
              <a:t>Sample end-to-end checks on the finished app. All pages and API endpoints also responded correctly in testing.</a:t>
            </a:r>
            <a:endParaRPr lang="en-US" sz="1050" dirty="0"/>
          </a:p>
        </p:txBody>
      </p:sp>
      <p:sp>
        <p:nvSpPr>
          <p:cNvPr id="29" name="Shape 27"/>
          <p:cNvSpPr/>
          <p:nvPr/>
        </p:nvSpPr>
        <p:spPr>
          <a:xfrm>
            <a:off x="5852160" y="1280160"/>
            <a:ext cx="1371600" cy="1325880"/>
          </a:xfrm>
          <a:prstGeom prst="roundRect">
            <a:avLst>
              <a:gd name="adj" fmla="val 5517"/>
            </a:avLst>
          </a:prstGeom>
          <a:solidFill>
            <a:srgbClr val="0F2036"/>
          </a:solidFill>
          <a:ln w="12700">
            <a:solidFill>
              <a:srgbClr val="1D3A5C"/>
            </a:solidFill>
            <a:prstDash val="solid"/>
          </a:ln>
        </p:spPr>
      </p:sp>
      <p:sp>
        <p:nvSpPr>
          <p:cNvPr id="30" name="Text 28"/>
          <p:cNvSpPr txBox="1"/>
          <p:nvPr/>
        </p:nvSpPr>
        <p:spPr>
          <a:xfrm>
            <a:off x="5961888" y="1417320"/>
            <a:ext cx="1188720" cy="457200"/>
          </a:xfrm>
          <a:prstGeom prst="rect">
            <a:avLst/>
          </a:prstGeom>
          <a:noFill/>
          <a:ln/>
        </p:spPr>
        <p:txBody>
          <a:bodyPr wrap="square" lIns="0" tIns="0" rIns="0" bIns="0" rtlCol="0" anchor="ctr"/>
          <a:lstStyle/>
          <a:p>
            <a:pPr marL="0" indent="0">
              <a:buNone/>
            </a:pPr>
            <a:r>
              <a:rPr lang="en-US" sz="2400" b="1" dirty="0">
                <a:solidFill>
                  <a:srgbClr val="2DE2C0"/>
                </a:solidFill>
                <a:latin typeface="Calibri" pitchFamily="34" charset="0"/>
                <a:ea typeface="Calibri" pitchFamily="34" charset="-122"/>
                <a:cs typeface="Calibri" pitchFamily="34" charset="-120"/>
              </a:rPr>
              <a:t>98.23%</a:t>
            </a:r>
            <a:endParaRPr lang="en-US" sz="2400" dirty="0"/>
          </a:p>
        </p:txBody>
      </p:sp>
      <p:sp>
        <p:nvSpPr>
          <p:cNvPr id="31" name="Text 29"/>
          <p:cNvSpPr txBox="1"/>
          <p:nvPr/>
        </p:nvSpPr>
        <p:spPr>
          <a:xfrm>
            <a:off x="5961888" y="1938528"/>
            <a:ext cx="1170432" cy="594360"/>
          </a:xfrm>
          <a:prstGeom prst="rect">
            <a:avLst/>
          </a:prstGeom>
          <a:noFill/>
          <a:ln/>
        </p:spPr>
        <p:txBody>
          <a:bodyPr wrap="square" lIns="0" tIns="0" rIns="0" bIns="0" rtlCol="0" anchor="t"/>
          <a:lstStyle/>
          <a:p>
            <a:pPr marL="0" indent="0">
              <a:buNone/>
            </a:pPr>
            <a:r>
              <a:rPr lang="en-US" sz="1050" dirty="0">
                <a:solidFill>
                  <a:srgbClr val="9DB2CC"/>
                </a:solidFill>
                <a:latin typeface="Calibri" pitchFamily="34" charset="0"/>
                <a:ea typeface="Calibri" pitchFamily="34" charset="-122"/>
                <a:cs typeface="Calibri" pitchFamily="34" charset="-120"/>
              </a:rPr>
              <a:t>accuracy on 960 held-out real emails</a:t>
            </a:r>
            <a:endParaRPr lang="en-US" sz="1050" dirty="0"/>
          </a:p>
        </p:txBody>
      </p:sp>
      <p:sp>
        <p:nvSpPr>
          <p:cNvPr id="32" name="Shape 30"/>
          <p:cNvSpPr/>
          <p:nvPr/>
        </p:nvSpPr>
        <p:spPr>
          <a:xfrm>
            <a:off x="7315200" y="1280160"/>
            <a:ext cx="1371600" cy="1325880"/>
          </a:xfrm>
          <a:prstGeom prst="roundRect">
            <a:avLst>
              <a:gd name="adj" fmla="val 5517"/>
            </a:avLst>
          </a:prstGeom>
          <a:solidFill>
            <a:srgbClr val="0F2036"/>
          </a:solidFill>
          <a:ln w="12700">
            <a:solidFill>
              <a:srgbClr val="1D3A5C"/>
            </a:solidFill>
            <a:prstDash val="solid"/>
          </a:ln>
        </p:spPr>
      </p:sp>
      <p:sp>
        <p:nvSpPr>
          <p:cNvPr id="33" name="Text 31"/>
          <p:cNvSpPr txBox="1"/>
          <p:nvPr/>
        </p:nvSpPr>
        <p:spPr>
          <a:xfrm>
            <a:off x="7424928" y="1417320"/>
            <a:ext cx="1188720" cy="457200"/>
          </a:xfrm>
          <a:prstGeom prst="rect">
            <a:avLst/>
          </a:prstGeom>
          <a:noFill/>
          <a:ln/>
        </p:spPr>
        <p:txBody>
          <a:bodyPr wrap="square" lIns="0" tIns="0" rIns="0" bIns="0" rtlCol="0" anchor="ctr"/>
          <a:lstStyle/>
          <a:p>
            <a:pPr marL="0" indent="0">
              <a:buNone/>
            </a:pPr>
            <a:r>
              <a:rPr lang="en-US" sz="2400" b="1" dirty="0">
                <a:solidFill>
                  <a:srgbClr val="2DE2C0"/>
                </a:solidFill>
                <a:latin typeface="Calibri" pitchFamily="34" charset="0"/>
                <a:ea typeface="Calibri" pitchFamily="34" charset="-122"/>
                <a:cs typeface="Calibri" pitchFamily="34" charset="-120"/>
              </a:rPr>
              <a:t>98.94%</a:t>
            </a:r>
            <a:endParaRPr lang="en-US" sz="2400" dirty="0"/>
          </a:p>
        </p:txBody>
      </p:sp>
      <p:sp>
        <p:nvSpPr>
          <p:cNvPr id="34" name="Text 32"/>
          <p:cNvSpPr txBox="1"/>
          <p:nvPr/>
        </p:nvSpPr>
        <p:spPr>
          <a:xfrm>
            <a:off x="7424928" y="1938528"/>
            <a:ext cx="1170432" cy="594360"/>
          </a:xfrm>
          <a:prstGeom prst="rect">
            <a:avLst/>
          </a:prstGeom>
          <a:noFill/>
          <a:ln/>
        </p:spPr>
        <p:txBody>
          <a:bodyPr wrap="square" lIns="0" tIns="0" rIns="0" bIns="0" rtlCol="0" anchor="t"/>
          <a:lstStyle/>
          <a:p>
            <a:pPr marL="0" indent="0">
              <a:buNone/>
            </a:pPr>
            <a:r>
              <a:rPr lang="en-US" sz="1050" dirty="0">
                <a:solidFill>
                  <a:srgbClr val="9DB2CC"/>
                </a:solidFill>
                <a:latin typeface="Calibri" pitchFamily="34" charset="0"/>
                <a:ea typeface="Calibri" pitchFamily="34" charset="-122"/>
                <a:cs typeface="Calibri" pitchFamily="34" charset="-120"/>
              </a:rPr>
              <a:t>overall accuracy on 1,600 test emails</a:t>
            </a:r>
            <a:endParaRPr lang="en-US" sz="1050" dirty="0"/>
          </a:p>
        </p:txBody>
      </p:sp>
      <p:sp>
        <p:nvSpPr>
          <p:cNvPr id="35" name="Shape 33"/>
          <p:cNvSpPr/>
          <p:nvPr/>
        </p:nvSpPr>
        <p:spPr>
          <a:xfrm>
            <a:off x="5852160" y="2743200"/>
            <a:ext cx="1371600" cy="1325880"/>
          </a:xfrm>
          <a:prstGeom prst="roundRect">
            <a:avLst>
              <a:gd name="adj" fmla="val 5517"/>
            </a:avLst>
          </a:prstGeom>
          <a:solidFill>
            <a:srgbClr val="0F2036"/>
          </a:solidFill>
          <a:ln w="12700">
            <a:solidFill>
              <a:srgbClr val="1D3A5C"/>
            </a:solidFill>
            <a:prstDash val="solid"/>
          </a:ln>
        </p:spPr>
      </p:sp>
      <p:sp>
        <p:nvSpPr>
          <p:cNvPr id="36" name="Text 34"/>
          <p:cNvSpPr txBox="1"/>
          <p:nvPr/>
        </p:nvSpPr>
        <p:spPr>
          <a:xfrm>
            <a:off x="5961888" y="2880360"/>
            <a:ext cx="1188720" cy="457200"/>
          </a:xfrm>
          <a:prstGeom prst="rect">
            <a:avLst/>
          </a:prstGeom>
          <a:noFill/>
          <a:ln/>
        </p:spPr>
        <p:txBody>
          <a:bodyPr wrap="square" lIns="0" tIns="0" rIns="0" bIns="0" rtlCol="0" anchor="ctr"/>
          <a:lstStyle/>
          <a:p>
            <a:pPr marL="0" indent="0">
              <a:buNone/>
            </a:pPr>
            <a:r>
              <a:rPr lang="en-US" sz="2400" b="1" dirty="0">
                <a:solidFill>
                  <a:srgbClr val="2DE2C0"/>
                </a:solidFill>
                <a:latin typeface="Calibri" pitchFamily="34" charset="0"/>
                <a:ea typeface="Calibri" pitchFamily="34" charset="-122"/>
                <a:cs typeface="Calibri" pitchFamily="34" charset="-120"/>
              </a:rPr>
              <a:t>98.63%</a:t>
            </a:r>
            <a:endParaRPr lang="en-US" sz="2400" dirty="0"/>
          </a:p>
        </p:txBody>
      </p:sp>
      <p:sp>
        <p:nvSpPr>
          <p:cNvPr id="37" name="Text 35"/>
          <p:cNvSpPr txBox="1"/>
          <p:nvPr/>
        </p:nvSpPr>
        <p:spPr>
          <a:xfrm>
            <a:off x="5961888" y="3401568"/>
            <a:ext cx="1170432" cy="594360"/>
          </a:xfrm>
          <a:prstGeom prst="rect">
            <a:avLst/>
          </a:prstGeom>
          <a:noFill/>
          <a:ln/>
        </p:spPr>
        <p:txBody>
          <a:bodyPr wrap="square" lIns="0" tIns="0" rIns="0" bIns="0" rtlCol="0" anchor="t"/>
          <a:lstStyle/>
          <a:p>
            <a:pPr marL="0" indent="0">
              <a:buNone/>
            </a:pPr>
            <a:r>
              <a:rPr lang="en-US" sz="1050" dirty="0">
                <a:solidFill>
                  <a:srgbClr val="9DB2CC"/>
                </a:solidFill>
                <a:latin typeface="Calibri" pitchFamily="34" charset="0"/>
                <a:ea typeface="Calibri" pitchFamily="34" charset="-122"/>
                <a:cs typeface="Calibri" pitchFamily="34" charset="-120"/>
              </a:rPr>
              <a:t>precision</a:t>
            </a:r>
            <a:endParaRPr lang="en-US" sz="1050" dirty="0"/>
          </a:p>
        </p:txBody>
      </p:sp>
      <p:sp>
        <p:nvSpPr>
          <p:cNvPr id="38" name="Shape 36"/>
          <p:cNvSpPr/>
          <p:nvPr/>
        </p:nvSpPr>
        <p:spPr>
          <a:xfrm>
            <a:off x="7315200" y="2743200"/>
            <a:ext cx="1371600" cy="1325880"/>
          </a:xfrm>
          <a:prstGeom prst="roundRect">
            <a:avLst>
              <a:gd name="adj" fmla="val 5517"/>
            </a:avLst>
          </a:prstGeom>
          <a:solidFill>
            <a:srgbClr val="0F2036"/>
          </a:solidFill>
          <a:ln w="12700">
            <a:solidFill>
              <a:srgbClr val="1D3A5C"/>
            </a:solidFill>
            <a:prstDash val="solid"/>
          </a:ln>
        </p:spPr>
      </p:sp>
      <p:sp>
        <p:nvSpPr>
          <p:cNvPr id="39" name="Text 37"/>
          <p:cNvSpPr txBox="1"/>
          <p:nvPr/>
        </p:nvSpPr>
        <p:spPr>
          <a:xfrm>
            <a:off x="7424928" y="2880360"/>
            <a:ext cx="1188720" cy="457200"/>
          </a:xfrm>
          <a:prstGeom prst="rect">
            <a:avLst/>
          </a:prstGeom>
          <a:noFill/>
          <a:ln/>
        </p:spPr>
        <p:txBody>
          <a:bodyPr wrap="square" lIns="0" tIns="0" rIns="0" bIns="0" rtlCol="0" anchor="ctr"/>
          <a:lstStyle/>
          <a:p>
            <a:pPr marL="0" indent="0">
              <a:buNone/>
            </a:pPr>
            <a:r>
              <a:rPr lang="en-US" sz="2400" b="1" dirty="0">
                <a:solidFill>
                  <a:srgbClr val="2DE2C0"/>
                </a:solidFill>
                <a:latin typeface="Calibri" pitchFamily="34" charset="0"/>
                <a:ea typeface="Calibri" pitchFamily="34" charset="-122"/>
                <a:cs typeface="Calibri" pitchFamily="34" charset="-120"/>
              </a:rPr>
              <a:t>99.25%</a:t>
            </a:r>
            <a:endParaRPr lang="en-US" sz="2400" dirty="0"/>
          </a:p>
        </p:txBody>
      </p:sp>
      <p:sp>
        <p:nvSpPr>
          <p:cNvPr id="40" name="Text 38"/>
          <p:cNvSpPr txBox="1"/>
          <p:nvPr/>
        </p:nvSpPr>
        <p:spPr>
          <a:xfrm>
            <a:off x="7424928" y="3401568"/>
            <a:ext cx="1170432" cy="594360"/>
          </a:xfrm>
          <a:prstGeom prst="rect">
            <a:avLst/>
          </a:prstGeom>
          <a:noFill/>
          <a:ln/>
        </p:spPr>
        <p:txBody>
          <a:bodyPr wrap="square" lIns="0" tIns="0" rIns="0" bIns="0" rtlCol="0" anchor="t"/>
          <a:lstStyle/>
          <a:p>
            <a:pPr marL="0" indent="0">
              <a:buNone/>
            </a:pPr>
            <a:r>
              <a:rPr lang="en-US" sz="1050" dirty="0">
                <a:solidFill>
                  <a:srgbClr val="9DB2CC"/>
                </a:solidFill>
                <a:latin typeface="Calibri" pitchFamily="34" charset="0"/>
                <a:ea typeface="Calibri" pitchFamily="34" charset="-122"/>
                <a:cs typeface="Calibri" pitchFamily="34" charset="-120"/>
              </a:rPr>
              <a:t>recall</a:t>
            </a:r>
            <a:endParaRPr lang="en-US" sz="1050" dirty="0"/>
          </a:p>
        </p:txBody>
      </p:sp>
      <p:sp>
        <p:nvSpPr>
          <p:cNvPr id="41" name="Text 39"/>
          <p:cNvSpPr txBox="1"/>
          <p:nvPr/>
        </p:nvSpPr>
        <p:spPr>
          <a:xfrm>
            <a:off x="5852160" y="4297680"/>
            <a:ext cx="2834640" cy="411480"/>
          </a:xfrm>
          <a:prstGeom prst="rect">
            <a:avLst/>
          </a:prstGeom>
          <a:noFill/>
          <a:ln/>
        </p:spPr>
        <p:txBody>
          <a:bodyPr wrap="square" lIns="0" tIns="0" rIns="0" bIns="0" rtlCol="0" anchor="t"/>
          <a:lstStyle/>
          <a:p>
            <a:pPr marL="0" indent="0">
              <a:buNone/>
            </a:pPr>
            <a:r>
              <a:rPr lang="en-US" sz="1050" dirty="0">
                <a:solidFill>
                  <a:srgbClr val="FFB547"/>
                </a:solidFill>
                <a:latin typeface="Calibri" pitchFamily="34" charset="0"/>
                <a:ea typeface="Calibri" pitchFamily="34" charset="-122"/>
                <a:cs typeface="Calibri" pitchFamily="34" charset="-120"/>
              </a:rPr>
              <a:t>Measured on one corpus (Enron-Spam plus generated samples); real-world results will vary.</a:t>
            </a:r>
            <a:endParaRPr lang="en-US" sz="1050" dirty="0"/>
          </a:p>
        </p:txBody>
      </p:sp>
    </p:spTree>
  </p:cSld>
  <p:clrMapOvr>
    <a:masterClrMapping/>
  </p:clrMapOvr>
  <p:transition spd="med">
    <p:push/>
  </p:transition>
</p:sld>
</file>

<file path=ppt/slides/slide2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rgbClr val="2DE2C0"/>
                </a:solidFill>
                <a:latin typeface="Courier New" pitchFamily="34" charset="0"/>
                <a:ea typeface="Courier New" pitchFamily="34" charset="-122"/>
                <a:cs typeface="Courier New" pitchFamily="34" charset="-120"/>
              </a:rPr>
              <a:t>// 12  CONCLUSION</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b="1" dirty="0">
                <a:solidFill>
                  <a:srgbClr val="EAF2FF"/>
                </a:solidFill>
                <a:latin typeface="Calibri" pitchFamily="34" charset="0"/>
                <a:ea typeface="Calibri" pitchFamily="34" charset="-122"/>
                <a:cs typeface="Calibri" pitchFamily="34" charset="-120"/>
              </a:rPr>
              <a:t>Accurate, explainable and easy to use</a:t>
            </a:r>
            <a:endParaRPr lang="en-US" sz="3000" dirty="0"/>
          </a:p>
        </p:txBody>
      </p:sp>
      <p:sp>
        <p:nvSpPr>
          <p:cNvPr id="4" name="Text 2"/>
          <p:cNvSpPr txBox="1"/>
          <p:nvPr/>
        </p:nvSpPr>
        <p:spPr>
          <a:xfrm>
            <a:off x="7498080" y="4864608"/>
            <a:ext cx="1188720" cy="182880"/>
          </a:xfrm>
          <a:prstGeom prst="rect">
            <a:avLst/>
          </a:prstGeom>
          <a:noFill/>
          <a:ln/>
        </p:spPr>
        <p:txBody>
          <a:bodyPr wrap="square" lIns="0" tIns="0" rIns="0" bIns="0" rtlCol="0" anchor="ctr"/>
          <a:lstStyle/>
          <a:p>
            <a:pPr marL="0" indent="0" algn="r">
              <a:buNone/>
            </a:pPr>
            <a:r>
              <a:rPr lang="en-US" sz="900" dirty="0">
                <a:solidFill>
                  <a:srgbClr val="9DB2CC"/>
                </a:solidFill>
                <a:latin typeface="Courier New" pitchFamily="34" charset="0"/>
                <a:ea typeface="Courier New" pitchFamily="34" charset="-122"/>
                <a:cs typeface="Courier New" pitchFamily="34" charset="-120"/>
              </a:rPr>
              <a:t>12 / 15</a:t>
            </a:r>
            <a:endParaRPr lang="en-US" sz="900" dirty="0"/>
          </a:p>
        </p:txBody>
      </p:sp>
      <p:sp>
        <p:nvSpPr>
          <p:cNvPr id="5" name="Shape 3"/>
          <p:cNvSpPr/>
          <p:nvPr/>
        </p:nvSpPr>
        <p:spPr>
          <a:xfrm>
            <a:off x="548640" y="1371600"/>
            <a:ext cx="1005840" cy="1005840"/>
          </a:xfrm>
          <a:prstGeom prst="ellipse">
            <a:avLst/>
          </a:prstGeom>
          <a:solidFill>
            <a:srgbClr val="0C2233"/>
          </a:solidFill>
          <a:ln w="15875">
            <a:solidFill>
              <a:srgbClr val="2DE2C0"/>
            </a:solidFill>
            <a:prstDash val="solid"/>
          </a:ln>
        </p:spPr>
      </p:sp>
      <p:pic>
        <p:nvPicPr>
          <p:cNvPr id="6" name="Image 0" descr="preencoded.png"/>
          <p:cNvPicPr>
            <a:picLocks noChangeAspect="1"/>
          </p:cNvPicPr>
          <p:nvPr/>
        </p:nvPicPr>
        <p:blipFill>
          <a:blip r:embed="rId4"/>
          <a:stretch>
            <a:fillRect/>
          </a:stretch>
        </p:blipFill>
        <p:spPr>
          <a:xfrm>
            <a:off x="810158" y="1633118"/>
            <a:ext cx="482803" cy="482803"/>
          </a:xfrm>
          <a:prstGeom prst="rect">
            <a:avLst/>
          </a:prstGeom>
        </p:spPr>
      </p:pic>
      <p:sp>
        <p:nvSpPr>
          <p:cNvPr id="7" name="Text 4"/>
          <p:cNvSpPr txBox="1"/>
          <p:nvPr/>
        </p:nvSpPr>
        <p:spPr>
          <a:xfrm>
            <a:off x="548640" y="2651760"/>
            <a:ext cx="3749040" cy="1737360"/>
          </a:xfrm>
          <a:prstGeom prst="rect">
            <a:avLst/>
          </a:prstGeom>
          <a:noFill/>
          <a:ln/>
        </p:spPr>
        <p:txBody>
          <a:bodyPr wrap="square" lIns="0" tIns="0" rIns="0" bIns="0" rtlCol="0" anchor="t"/>
          <a:lstStyle/>
          <a:p>
            <a:pPr marL="0" indent="0">
              <a:buNone/>
            </a:pPr>
            <a:r>
              <a:rPr lang="en-US" sz="1800" dirty="0">
                <a:solidFill>
                  <a:srgbClr val="EAF2FF"/>
                </a:solidFill>
                <a:latin typeface="Calibri" pitchFamily="34" charset="0"/>
                <a:ea typeface="Calibri" pitchFamily="34" charset="-122"/>
                <a:cs typeface="Calibri" pitchFamily="34" charset="-120"/>
              </a:rPr>
              <a:t>PhishGuard shows that phishing detection can combine machine learning, rules and real threat data in one explainable, practical tool.</a:t>
            </a:r>
            <a:endParaRPr lang="en-US" sz="1800" dirty="0"/>
          </a:p>
        </p:txBody>
      </p:sp>
      <p:sp>
        <p:nvSpPr>
          <p:cNvPr id="8" name="Shape 5"/>
          <p:cNvSpPr/>
          <p:nvPr/>
        </p:nvSpPr>
        <p:spPr>
          <a:xfrm>
            <a:off x="4663440" y="1280160"/>
            <a:ext cx="4023360" cy="1005840"/>
          </a:xfrm>
          <a:prstGeom prst="roundRect">
            <a:avLst>
              <a:gd name="adj" fmla="val 7273"/>
            </a:avLst>
          </a:prstGeom>
          <a:solidFill>
            <a:srgbClr val="0F2036"/>
          </a:solidFill>
          <a:ln w="12700">
            <a:solidFill>
              <a:srgbClr val="1D3A5C"/>
            </a:solidFill>
            <a:prstDash val="solid"/>
          </a:ln>
        </p:spPr>
      </p:sp>
      <p:sp>
        <p:nvSpPr>
          <p:cNvPr id="9" name="Shape 6"/>
          <p:cNvSpPr/>
          <p:nvPr/>
        </p:nvSpPr>
        <p:spPr>
          <a:xfrm>
            <a:off x="4846320" y="1527048"/>
            <a:ext cx="502920" cy="502920"/>
          </a:xfrm>
          <a:prstGeom prst="ellipse">
            <a:avLst/>
          </a:prstGeom>
          <a:solidFill>
            <a:srgbClr val="0C2233"/>
          </a:solidFill>
          <a:ln w="15875">
            <a:solidFill>
              <a:srgbClr val="2DE2C0"/>
            </a:solidFill>
            <a:prstDash val="solid"/>
          </a:ln>
        </p:spPr>
      </p:sp>
      <p:pic>
        <p:nvPicPr>
          <p:cNvPr id="10" name="Image 1" descr="preencoded.png"/>
          <p:cNvPicPr>
            <a:picLocks noChangeAspect="1"/>
          </p:cNvPicPr>
          <p:nvPr/>
        </p:nvPicPr>
        <p:blipFill>
          <a:blip r:embed="rId5"/>
          <a:stretch>
            <a:fillRect/>
          </a:stretch>
        </p:blipFill>
        <p:spPr>
          <a:xfrm>
            <a:off x="4977079" y="1657807"/>
            <a:ext cx="241402" cy="241402"/>
          </a:xfrm>
          <a:prstGeom prst="rect">
            <a:avLst/>
          </a:prstGeom>
        </p:spPr>
      </p:pic>
      <p:sp>
        <p:nvSpPr>
          <p:cNvPr id="11" name="Text 7"/>
          <p:cNvSpPr txBox="1"/>
          <p:nvPr/>
        </p:nvSpPr>
        <p:spPr>
          <a:xfrm>
            <a:off x="5532120" y="1408176"/>
            <a:ext cx="3017520" cy="274320"/>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Hybrid by design</a:t>
            </a:r>
            <a:endParaRPr lang="en-US" sz="1400" dirty="0"/>
          </a:p>
        </p:txBody>
      </p:sp>
      <p:sp>
        <p:nvSpPr>
          <p:cNvPr id="12" name="Text 8"/>
          <p:cNvSpPr txBox="1"/>
          <p:nvPr/>
        </p:nvSpPr>
        <p:spPr>
          <a:xfrm>
            <a:off x="5532120" y="1700784"/>
            <a:ext cx="3017520" cy="50292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Model, rules and a real threat database cover each other's blind spots.</a:t>
            </a:r>
            <a:endParaRPr lang="en-US" sz="1150" dirty="0"/>
          </a:p>
        </p:txBody>
      </p:sp>
      <p:sp>
        <p:nvSpPr>
          <p:cNvPr id="13" name="Shape 9"/>
          <p:cNvSpPr/>
          <p:nvPr/>
        </p:nvSpPr>
        <p:spPr>
          <a:xfrm>
            <a:off x="4663440" y="2423160"/>
            <a:ext cx="4023360" cy="1005840"/>
          </a:xfrm>
          <a:prstGeom prst="roundRect">
            <a:avLst>
              <a:gd name="adj" fmla="val 7273"/>
            </a:avLst>
          </a:prstGeom>
          <a:solidFill>
            <a:srgbClr val="0F2036"/>
          </a:solidFill>
          <a:ln w="12700">
            <a:solidFill>
              <a:srgbClr val="1D3A5C"/>
            </a:solidFill>
            <a:prstDash val="solid"/>
          </a:ln>
        </p:spPr>
      </p:sp>
      <p:sp>
        <p:nvSpPr>
          <p:cNvPr id="14" name="Shape 10"/>
          <p:cNvSpPr/>
          <p:nvPr/>
        </p:nvSpPr>
        <p:spPr>
          <a:xfrm>
            <a:off x="4846320" y="2670048"/>
            <a:ext cx="502920" cy="502920"/>
          </a:xfrm>
          <a:prstGeom prst="ellipse">
            <a:avLst/>
          </a:prstGeom>
          <a:solidFill>
            <a:srgbClr val="0C2233"/>
          </a:solidFill>
          <a:ln w="15875">
            <a:solidFill>
              <a:srgbClr val="2DE2C0"/>
            </a:solidFill>
            <a:prstDash val="solid"/>
          </a:ln>
        </p:spPr>
      </p:sp>
      <p:pic>
        <p:nvPicPr>
          <p:cNvPr id="15" name="Image 2" descr="preencoded.png"/>
          <p:cNvPicPr>
            <a:picLocks noChangeAspect="1"/>
          </p:cNvPicPr>
          <p:nvPr/>
        </p:nvPicPr>
        <p:blipFill>
          <a:blip r:embed="rId5"/>
          <a:stretch>
            <a:fillRect/>
          </a:stretch>
        </p:blipFill>
        <p:spPr>
          <a:xfrm>
            <a:off x="4977079" y="2800807"/>
            <a:ext cx="241402" cy="241402"/>
          </a:xfrm>
          <a:prstGeom prst="rect">
            <a:avLst/>
          </a:prstGeom>
        </p:spPr>
      </p:pic>
      <p:sp>
        <p:nvSpPr>
          <p:cNvPr id="16" name="Text 11"/>
          <p:cNvSpPr txBox="1"/>
          <p:nvPr/>
        </p:nvSpPr>
        <p:spPr>
          <a:xfrm>
            <a:off x="5532120" y="2551176"/>
            <a:ext cx="3017520" cy="274320"/>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A complete product</a:t>
            </a:r>
            <a:endParaRPr lang="en-US" sz="1400" dirty="0"/>
          </a:p>
        </p:txBody>
      </p:sp>
      <p:sp>
        <p:nvSpPr>
          <p:cNvPr id="17" name="Text 12"/>
          <p:cNvSpPr txBox="1"/>
          <p:nvPr/>
        </p:nvSpPr>
        <p:spPr>
          <a:xfrm>
            <a:off x="5532120" y="2843784"/>
            <a:ext cx="3017520" cy="50292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Database, API, history, bulk scan and feedback make it practical.</a:t>
            </a:r>
            <a:endParaRPr lang="en-US" sz="1150" dirty="0"/>
          </a:p>
        </p:txBody>
      </p:sp>
      <p:sp>
        <p:nvSpPr>
          <p:cNvPr id="18" name="Shape 13"/>
          <p:cNvSpPr/>
          <p:nvPr/>
        </p:nvSpPr>
        <p:spPr>
          <a:xfrm>
            <a:off x="4663440" y="3566160"/>
            <a:ext cx="4023360" cy="1005840"/>
          </a:xfrm>
          <a:prstGeom prst="roundRect">
            <a:avLst>
              <a:gd name="adj" fmla="val 7273"/>
            </a:avLst>
          </a:prstGeom>
          <a:solidFill>
            <a:srgbClr val="0F2036"/>
          </a:solidFill>
          <a:ln w="12700">
            <a:solidFill>
              <a:srgbClr val="1D3A5C"/>
            </a:solidFill>
            <a:prstDash val="solid"/>
          </a:ln>
        </p:spPr>
      </p:sp>
      <p:sp>
        <p:nvSpPr>
          <p:cNvPr id="19" name="Shape 14"/>
          <p:cNvSpPr/>
          <p:nvPr/>
        </p:nvSpPr>
        <p:spPr>
          <a:xfrm>
            <a:off x="4846320" y="3813048"/>
            <a:ext cx="502920" cy="502920"/>
          </a:xfrm>
          <a:prstGeom prst="ellipse">
            <a:avLst/>
          </a:prstGeom>
          <a:solidFill>
            <a:srgbClr val="0C2233"/>
          </a:solidFill>
          <a:ln w="15875">
            <a:solidFill>
              <a:srgbClr val="2DE2C0"/>
            </a:solidFill>
            <a:prstDash val="solid"/>
          </a:ln>
        </p:spPr>
      </p:sp>
      <p:pic>
        <p:nvPicPr>
          <p:cNvPr id="20" name="Image 3" descr="preencoded.png"/>
          <p:cNvPicPr>
            <a:picLocks noChangeAspect="1"/>
          </p:cNvPicPr>
          <p:nvPr/>
        </p:nvPicPr>
        <p:blipFill>
          <a:blip r:embed="rId5"/>
          <a:stretch>
            <a:fillRect/>
          </a:stretch>
        </p:blipFill>
        <p:spPr>
          <a:xfrm>
            <a:off x="4977079" y="3943807"/>
            <a:ext cx="241402" cy="241402"/>
          </a:xfrm>
          <a:prstGeom prst="rect">
            <a:avLst/>
          </a:prstGeom>
        </p:spPr>
      </p:pic>
      <p:sp>
        <p:nvSpPr>
          <p:cNvPr id="21" name="Text 15"/>
          <p:cNvSpPr txBox="1"/>
          <p:nvPr/>
        </p:nvSpPr>
        <p:spPr>
          <a:xfrm>
            <a:off x="5532120" y="3694176"/>
            <a:ext cx="3017520" cy="274320"/>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Honest about limits</a:t>
            </a:r>
            <a:endParaRPr lang="en-US" sz="1400" dirty="0"/>
          </a:p>
        </p:txBody>
      </p:sp>
      <p:sp>
        <p:nvSpPr>
          <p:cNvPr id="22" name="Text 16"/>
          <p:cNvSpPr txBox="1"/>
          <p:nvPr/>
        </p:nvSpPr>
        <p:spPr>
          <a:xfrm>
            <a:off x="5532120" y="3986784"/>
            <a:ext cx="3017520" cy="50292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98.23% on held-out real emails, with every verdict backed by reasons.</a:t>
            </a:r>
            <a:endParaRPr lang="en-US" sz="1150" dirty="0"/>
          </a:p>
        </p:txBody>
      </p:sp>
    </p:spTree>
  </p:cSld>
  <p:clrMapOvr>
    <a:masterClrMapping/>
  </p:clrMapOvr>
  <p:transition spd="med">
    <p:push/>
  </p:transition>
</p:sld>
</file>

<file path=ppt/slides/slide2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rgbClr val="2DE2C0"/>
                </a:solidFill>
                <a:latin typeface="Courier New" pitchFamily="34" charset="0"/>
                <a:ea typeface="Courier New" pitchFamily="34" charset="-122"/>
                <a:cs typeface="Courier New" pitchFamily="34" charset="-120"/>
              </a:rPr>
              <a:t>// 13  ADVANTAGES</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b="1" dirty="0">
                <a:solidFill>
                  <a:srgbClr val="EAF2FF"/>
                </a:solidFill>
                <a:latin typeface="Calibri" pitchFamily="34" charset="0"/>
                <a:ea typeface="Calibri" pitchFamily="34" charset="-122"/>
                <a:cs typeface="Calibri" pitchFamily="34" charset="-120"/>
              </a:rPr>
              <a:t>Why PhishGuard stands out</a:t>
            </a:r>
            <a:endParaRPr lang="en-US" sz="3000" dirty="0"/>
          </a:p>
        </p:txBody>
      </p:sp>
      <p:sp>
        <p:nvSpPr>
          <p:cNvPr id="4" name="Text 2"/>
          <p:cNvSpPr txBox="1"/>
          <p:nvPr/>
        </p:nvSpPr>
        <p:spPr>
          <a:xfrm>
            <a:off x="7498080" y="4864608"/>
            <a:ext cx="1188720" cy="182880"/>
          </a:xfrm>
          <a:prstGeom prst="rect">
            <a:avLst/>
          </a:prstGeom>
          <a:noFill/>
          <a:ln/>
        </p:spPr>
        <p:txBody>
          <a:bodyPr wrap="square" lIns="0" tIns="0" rIns="0" bIns="0" rtlCol="0" anchor="ctr"/>
          <a:lstStyle/>
          <a:p>
            <a:pPr marL="0" indent="0" algn="r">
              <a:buNone/>
            </a:pPr>
            <a:r>
              <a:rPr lang="en-US" sz="900" dirty="0">
                <a:solidFill>
                  <a:srgbClr val="9DB2CC"/>
                </a:solidFill>
                <a:latin typeface="Courier New" pitchFamily="34" charset="0"/>
                <a:ea typeface="Courier New" pitchFamily="34" charset="-122"/>
                <a:cs typeface="Courier New" pitchFamily="34" charset="-120"/>
              </a:rPr>
              <a:t>13 / 15</a:t>
            </a:r>
            <a:endParaRPr lang="en-US" sz="900" dirty="0"/>
          </a:p>
        </p:txBody>
      </p:sp>
      <p:sp>
        <p:nvSpPr>
          <p:cNvPr id="5" name="Shape 3"/>
          <p:cNvSpPr/>
          <p:nvPr/>
        </p:nvSpPr>
        <p:spPr>
          <a:xfrm>
            <a:off x="457200" y="1280160"/>
            <a:ext cx="2651760" cy="1554480"/>
          </a:xfrm>
          <a:prstGeom prst="roundRect">
            <a:avLst>
              <a:gd name="adj" fmla="val 4706"/>
            </a:avLst>
          </a:prstGeom>
          <a:solidFill>
            <a:srgbClr val="0F2036"/>
          </a:solidFill>
          <a:ln w="12700">
            <a:solidFill>
              <a:srgbClr val="1D3A5C"/>
            </a:solidFill>
            <a:prstDash val="solid"/>
          </a:ln>
        </p:spPr>
      </p:sp>
      <p:sp>
        <p:nvSpPr>
          <p:cNvPr id="6" name="Shape 4"/>
          <p:cNvSpPr/>
          <p:nvPr/>
        </p:nvSpPr>
        <p:spPr>
          <a:xfrm>
            <a:off x="640080" y="1463040"/>
            <a:ext cx="502920" cy="502920"/>
          </a:xfrm>
          <a:prstGeom prst="ellipse">
            <a:avLst/>
          </a:prstGeom>
          <a:solidFill>
            <a:srgbClr val="0C2233"/>
          </a:solidFill>
          <a:ln w="15875">
            <a:solidFill>
              <a:srgbClr val="2DE2C0"/>
            </a:solidFill>
            <a:prstDash val="solid"/>
          </a:ln>
        </p:spPr>
      </p:sp>
      <p:pic>
        <p:nvPicPr>
          <p:cNvPr id="7" name="Image 0" descr="preencoded.png"/>
          <p:cNvPicPr>
            <a:picLocks noChangeAspect="1"/>
          </p:cNvPicPr>
          <p:nvPr/>
        </p:nvPicPr>
        <p:blipFill>
          <a:blip r:embed="rId4"/>
          <a:stretch>
            <a:fillRect/>
          </a:stretch>
        </p:blipFill>
        <p:spPr>
          <a:xfrm>
            <a:off x="770839" y="1593799"/>
            <a:ext cx="241402" cy="241402"/>
          </a:xfrm>
          <a:prstGeom prst="rect">
            <a:avLst/>
          </a:prstGeom>
        </p:spPr>
      </p:pic>
      <p:sp>
        <p:nvSpPr>
          <p:cNvPr id="8" name="Text 5"/>
          <p:cNvSpPr txBox="1"/>
          <p:nvPr/>
        </p:nvSpPr>
        <p:spPr>
          <a:xfrm>
            <a:off x="1325880" y="1463040"/>
            <a:ext cx="1691640" cy="502920"/>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Explainable</a:t>
            </a:r>
            <a:endParaRPr lang="en-US" sz="1400" dirty="0"/>
          </a:p>
        </p:txBody>
      </p:sp>
      <p:sp>
        <p:nvSpPr>
          <p:cNvPr id="9" name="Text 6"/>
          <p:cNvSpPr txBox="1"/>
          <p:nvPr/>
        </p:nvSpPr>
        <p:spPr>
          <a:xfrm>
            <a:off x="640080" y="2148840"/>
            <a:ext cx="2286000" cy="59436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Every verdict lists its reasons, so users learn as they scan.</a:t>
            </a:r>
            <a:endParaRPr lang="en-US" sz="1150" dirty="0"/>
          </a:p>
        </p:txBody>
      </p:sp>
      <p:sp>
        <p:nvSpPr>
          <p:cNvPr id="10" name="Shape 7"/>
          <p:cNvSpPr/>
          <p:nvPr/>
        </p:nvSpPr>
        <p:spPr>
          <a:xfrm>
            <a:off x="3246120" y="1280160"/>
            <a:ext cx="2651760" cy="1554480"/>
          </a:xfrm>
          <a:prstGeom prst="roundRect">
            <a:avLst>
              <a:gd name="adj" fmla="val 4706"/>
            </a:avLst>
          </a:prstGeom>
          <a:solidFill>
            <a:srgbClr val="0F2036"/>
          </a:solidFill>
          <a:ln w="12700">
            <a:solidFill>
              <a:srgbClr val="1D3A5C"/>
            </a:solidFill>
            <a:prstDash val="solid"/>
          </a:ln>
        </p:spPr>
      </p:sp>
      <p:sp>
        <p:nvSpPr>
          <p:cNvPr id="11" name="Shape 8"/>
          <p:cNvSpPr/>
          <p:nvPr/>
        </p:nvSpPr>
        <p:spPr>
          <a:xfrm>
            <a:off x="3429000" y="1463040"/>
            <a:ext cx="502920" cy="502920"/>
          </a:xfrm>
          <a:prstGeom prst="ellipse">
            <a:avLst/>
          </a:prstGeom>
          <a:solidFill>
            <a:srgbClr val="0C2233"/>
          </a:solidFill>
          <a:ln w="15875">
            <a:solidFill>
              <a:srgbClr val="2DE2C0"/>
            </a:solidFill>
            <a:prstDash val="solid"/>
          </a:ln>
        </p:spPr>
      </p:sp>
      <p:pic>
        <p:nvPicPr>
          <p:cNvPr id="12" name="Image 1" descr="preencoded.png"/>
          <p:cNvPicPr>
            <a:picLocks noChangeAspect="1"/>
          </p:cNvPicPr>
          <p:nvPr/>
        </p:nvPicPr>
        <p:blipFill>
          <a:blip r:embed="rId5"/>
          <a:stretch>
            <a:fillRect/>
          </a:stretch>
        </p:blipFill>
        <p:spPr>
          <a:xfrm>
            <a:off x="3559759" y="1593799"/>
            <a:ext cx="241402" cy="241402"/>
          </a:xfrm>
          <a:prstGeom prst="rect">
            <a:avLst/>
          </a:prstGeom>
        </p:spPr>
      </p:pic>
      <p:sp>
        <p:nvSpPr>
          <p:cNvPr id="13" name="Text 9"/>
          <p:cNvSpPr txBox="1"/>
          <p:nvPr/>
        </p:nvSpPr>
        <p:spPr>
          <a:xfrm>
            <a:off x="4114800" y="1463040"/>
            <a:ext cx="1691640" cy="502920"/>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Hybrid accuracy</a:t>
            </a:r>
            <a:endParaRPr lang="en-US" sz="1400" dirty="0"/>
          </a:p>
        </p:txBody>
      </p:sp>
      <p:sp>
        <p:nvSpPr>
          <p:cNvPr id="14" name="Text 10"/>
          <p:cNvSpPr txBox="1"/>
          <p:nvPr/>
        </p:nvSpPr>
        <p:spPr>
          <a:xfrm>
            <a:off x="3429000" y="2148840"/>
            <a:ext cx="2286000" cy="59436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ML, rules and threat data cover each other's weak spots.</a:t>
            </a:r>
            <a:endParaRPr lang="en-US" sz="1150" dirty="0"/>
          </a:p>
        </p:txBody>
      </p:sp>
      <p:sp>
        <p:nvSpPr>
          <p:cNvPr id="15" name="Shape 11"/>
          <p:cNvSpPr/>
          <p:nvPr/>
        </p:nvSpPr>
        <p:spPr>
          <a:xfrm>
            <a:off x="6035040" y="1280160"/>
            <a:ext cx="2651760" cy="1554480"/>
          </a:xfrm>
          <a:prstGeom prst="roundRect">
            <a:avLst>
              <a:gd name="adj" fmla="val 4706"/>
            </a:avLst>
          </a:prstGeom>
          <a:solidFill>
            <a:srgbClr val="0F2036"/>
          </a:solidFill>
          <a:ln w="12700">
            <a:solidFill>
              <a:srgbClr val="1D3A5C"/>
            </a:solidFill>
            <a:prstDash val="solid"/>
          </a:ln>
        </p:spPr>
      </p:sp>
      <p:sp>
        <p:nvSpPr>
          <p:cNvPr id="16" name="Shape 12"/>
          <p:cNvSpPr/>
          <p:nvPr/>
        </p:nvSpPr>
        <p:spPr>
          <a:xfrm>
            <a:off x="6217920" y="1463040"/>
            <a:ext cx="502920" cy="502920"/>
          </a:xfrm>
          <a:prstGeom prst="ellipse">
            <a:avLst/>
          </a:prstGeom>
          <a:solidFill>
            <a:srgbClr val="0C2233"/>
          </a:solidFill>
          <a:ln w="15875">
            <a:solidFill>
              <a:srgbClr val="2DE2C0"/>
            </a:solidFill>
            <a:prstDash val="solid"/>
          </a:ln>
        </p:spPr>
      </p:sp>
      <p:pic>
        <p:nvPicPr>
          <p:cNvPr id="17" name="Image 2" descr="preencoded.png"/>
          <p:cNvPicPr>
            <a:picLocks noChangeAspect="1"/>
          </p:cNvPicPr>
          <p:nvPr/>
        </p:nvPicPr>
        <p:blipFill>
          <a:blip r:embed="rId6"/>
          <a:stretch>
            <a:fillRect/>
          </a:stretch>
        </p:blipFill>
        <p:spPr>
          <a:xfrm>
            <a:off x="6348679" y="1593799"/>
            <a:ext cx="241402" cy="241402"/>
          </a:xfrm>
          <a:prstGeom prst="rect">
            <a:avLst/>
          </a:prstGeom>
        </p:spPr>
      </p:pic>
      <p:sp>
        <p:nvSpPr>
          <p:cNvPr id="18" name="Text 13"/>
          <p:cNvSpPr txBox="1"/>
          <p:nvPr/>
        </p:nvSpPr>
        <p:spPr>
          <a:xfrm>
            <a:off x="6903720" y="1463040"/>
            <a:ext cx="1691640" cy="502920"/>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Built on real data</a:t>
            </a:r>
            <a:endParaRPr lang="en-US" sz="1400" dirty="0"/>
          </a:p>
        </p:txBody>
      </p:sp>
      <p:sp>
        <p:nvSpPr>
          <p:cNvPr id="19" name="Text 14"/>
          <p:cNvSpPr txBox="1"/>
          <p:nvPr/>
        </p:nvSpPr>
        <p:spPr>
          <a:xfrm>
            <a:off x="6217920" y="2148840"/>
            <a:ext cx="2286000" cy="59436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392,068 known phishing domains and 5,000 real emails.</a:t>
            </a:r>
            <a:endParaRPr lang="en-US" sz="1150" dirty="0"/>
          </a:p>
        </p:txBody>
      </p:sp>
      <p:sp>
        <p:nvSpPr>
          <p:cNvPr id="20" name="Shape 15"/>
          <p:cNvSpPr/>
          <p:nvPr/>
        </p:nvSpPr>
        <p:spPr>
          <a:xfrm>
            <a:off x="457200" y="3017520"/>
            <a:ext cx="2651760" cy="1554480"/>
          </a:xfrm>
          <a:prstGeom prst="roundRect">
            <a:avLst>
              <a:gd name="adj" fmla="val 4706"/>
            </a:avLst>
          </a:prstGeom>
          <a:solidFill>
            <a:srgbClr val="0F2036"/>
          </a:solidFill>
          <a:ln w="12700">
            <a:solidFill>
              <a:srgbClr val="1D3A5C"/>
            </a:solidFill>
            <a:prstDash val="solid"/>
          </a:ln>
        </p:spPr>
      </p:sp>
      <p:sp>
        <p:nvSpPr>
          <p:cNvPr id="21" name="Shape 16"/>
          <p:cNvSpPr/>
          <p:nvPr/>
        </p:nvSpPr>
        <p:spPr>
          <a:xfrm>
            <a:off x="640080" y="3200400"/>
            <a:ext cx="502920" cy="502920"/>
          </a:xfrm>
          <a:prstGeom prst="ellipse">
            <a:avLst/>
          </a:prstGeom>
          <a:solidFill>
            <a:srgbClr val="0C2233"/>
          </a:solidFill>
          <a:ln w="15875">
            <a:solidFill>
              <a:srgbClr val="2DE2C0"/>
            </a:solidFill>
            <a:prstDash val="solid"/>
          </a:ln>
        </p:spPr>
      </p:sp>
      <p:pic>
        <p:nvPicPr>
          <p:cNvPr id="22" name="Image 3" descr="preencoded.png"/>
          <p:cNvPicPr>
            <a:picLocks noChangeAspect="1"/>
          </p:cNvPicPr>
          <p:nvPr/>
        </p:nvPicPr>
        <p:blipFill>
          <a:blip r:embed="rId7"/>
          <a:stretch>
            <a:fillRect/>
          </a:stretch>
        </p:blipFill>
        <p:spPr>
          <a:xfrm>
            <a:off x="770839" y="3331159"/>
            <a:ext cx="241402" cy="241402"/>
          </a:xfrm>
          <a:prstGeom prst="rect">
            <a:avLst/>
          </a:prstGeom>
        </p:spPr>
      </p:pic>
      <p:sp>
        <p:nvSpPr>
          <p:cNvPr id="23" name="Text 17"/>
          <p:cNvSpPr txBox="1"/>
          <p:nvPr/>
        </p:nvSpPr>
        <p:spPr>
          <a:xfrm>
            <a:off x="1325880" y="3200400"/>
            <a:ext cx="1691640" cy="502920"/>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Easy to run</a:t>
            </a:r>
            <a:endParaRPr lang="en-US" sz="1400" dirty="0"/>
          </a:p>
        </p:txBody>
      </p:sp>
      <p:sp>
        <p:nvSpPr>
          <p:cNvPr id="24" name="Text 18"/>
          <p:cNvSpPr txBox="1"/>
          <p:nvPr/>
        </p:nvSpPr>
        <p:spPr>
          <a:xfrm>
            <a:off x="640080" y="3886200"/>
            <a:ext cx="2286000" cy="59436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A local web app that starts with one command.</a:t>
            </a:r>
            <a:endParaRPr lang="en-US" sz="1150" dirty="0"/>
          </a:p>
        </p:txBody>
      </p:sp>
      <p:sp>
        <p:nvSpPr>
          <p:cNvPr id="25" name="Shape 19"/>
          <p:cNvSpPr/>
          <p:nvPr/>
        </p:nvSpPr>
        <p:spPr>
          <a:xfrm>
            <a:off x="3246120" y="3017520"/>
            <a:ext cx="2651760" cy="1554480"/>
          </a:xfrm>
          <a:prstGeom prst="roundRect">
            <a:avLst>
              <a:gd name="adj" fmla="val 4706"/>
            </a:avLst>
          </a:prstGeom>
          <a:solidFill>
            <a:srgbClr val="0F2036"/>
          </a:solidFill>
          <a:ln w="12700">
            <a:solidFill>
              <a:srgbClr val="1D3A5C"/>
            </a:solidFill>
            <a:prstDash val="solid"/>
          </a:ln>
        </p:spPr>
      </p:sp>
      <p:sp>
        <p:nvSpPr>
          <p:cNvPr id="26" name="Shape 20"/>
          <p:cNvSpPr/>
          <p:nvPr/>
        </p:nvSpPr>
        <p:spPr>
          <a:xfrm>
            <a:off x="3429000" y="3200400"/>
            <a:ext cx="502920" cy="502920"/>
          </a:xfrm>
          <a:prstGeom prst="ellipse">
            <a:avLst/>
          </a:prstGeom>
          <a:solidFill>
            <a:srgbClr val="0C2233"/>
          </a:solidFill>
          <a:ln w="15875">
            <a:solidFill>
              <a:srgbClr val="2DE2C0"/>
            </a:solidFill>
            <a:prstDash val="solid"/>
          </a:ln>
        </p:spPr>
      </p:sp>
      <p:pic>
        <p:nvPicPr>
          <p:cNvPr id="27" name="Image 4" descr="preencoded.png"/>
          <p:cNvPicPr>
            <a:picLocks noChangeAspect="1"/>
          </p:cNvPicPr>
          <p:nvPr/>
        </p:nvPicPr>
        <p:blipFill>
          <a:blip r:embed="rId8"/>
          <a:stretch>
            <a:fillRect/>
          </a:stretch>
        </p:blipFill>
        <p:spPr>
          <a:xfrm>
            <a:off x="3559759" y="3331159"/>
            <a:ext cx="241402" cy="241402"/>
          </a:xfrm>
          <a:prstGeom prst="rect">
            <a:avLst/>
          </a:prstGeom>
        </p:spPr>
      </p:pic>
      <p:sp>
        <p:nvSpPr>
          <p:cNvPr id="28" name="Text 21"/>
          <p:cNvSpPr txBox="1"/>
          <p:nvPr/>
        </p:nvSpPr>
        <p:spPr>
          <a:xfrm>
            <a:off x="4114800" y="3200400"/>
            <a:ext cx="1691640" cy="502920"/>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Adapts to you</a:t>
            </a:r>
            <a:endParaRPr lang="en-US" sz="1400" dirty="0"/>
          </a:p>
        </p:txBody>
      </p:sp>
      <p:sp>
        <p:nvSpPr>
          <p:cNvPr id="29" name="Text 22"/>
          <p:cNvSpPr txBox="1"/>
          <p:nvPr/>
        </p:nvSpPr>
        <p:spPr>
          <a:xfrm>
            <a:off x="3429000" y="3886200"/>
            <a:ext cx="2286000" cy="59436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Trusted and blocked lists plus feedback retraining.</a:t>
            </a:r>
            <a:endParaRPr lang="en-US" sz="1150" dirty="0"/>
          </a:p>
        </p:txBody>
      </p:sp>
      <p:sp>
        <p:nvSpPr>
          <p:cNvPr id="30" name="Shape 23"/>
          <p:cNvSpPr/>
          <p:nvPr/>
        </p:nvSpPr>
        <p:spPr>
          <a:xfrm>
            <a:off x="6035040" y="3017520"/>
            <a:ext cx="2651760" cy="1554480"/>
          </a:xfrm>
          <a:prstGeom prst="roundRect">
            <a:avLst>
              <a:gd name="adj" fmla="val 4706"/>
            </a:avLst>
          </a:prstGeom>
          <a:solidFill>
            <a:srgbClr val="0F2036"/>
          </a:solidFill>
          <a:ln w="12700">
            <a:solidFill>
              <a:srgbClr val="1D3A5C"/>
            </a:solidFill>
            <a:prstDash val="solid"/>
          </a:ln>
        </p:spPr>
      </p:sp>
      <p:sp>
        <p:nvSpPr>
          <p:cNvPr id="31" name="Shape 24"/>
          <p:cNvSpPr/>
          <p:nvPr/>
        </p:nvSpPr>
        <p:spPr>
          <a:xfrm>
            <a:off x="6217920" y="3200400"/>
            <a:ext cx="502920" cy="502920"/>
          </a:xfrm>
          <a:prstGeom prst="ellipse">
            <a:avLst/>
          </a:prstGeom>
          <a:solidFill>
            <a:srgbClr val="0C2233"/>
          </a:solidFill>
          <a:ln w="15875">
            <a:solidFill>
              <a:srgbClr val="2DE2C0"/>
            </a:solidFill>
            <a:prstDash val="solid"/>
          </a:ln>
        </p:spPr>
      </p:sp>
      <p:pic>
        <p:nvPicPr>
          <p:cNvPr id="32" name="Image 5" descr="preencoded.png"/>
          <p:cNvPicPr>
            <a:picLocks noChangeAspect="1"/>
          </p:cNvPicPr>
          <p:nvPr/>
        </p:nvPicPr>
        <p:blipFill>
          <a:blip r:embed="rId9"/>
          <a:stretch>
            <a:fillRect/>
          </a:stretch>
        </p:blipFill>
        <p:spPr>
          <a:xfrm>
            <a:off x="6348679" y="3331159"/>
            <a:ext cx="241402" cy="241402"/>
          </a:xfrm>
          <a:prstGeom prst="rect">
            <a:avLst/>
          </a:prstGeom>
        </p:spPr>
      </p:pic>
      <p:sp>
        <p:nvSpPr>
          <p:cNvPr id="33" name="Text 25"/>
          <p:cNvSpPr txBox="1"/>
          <p:nvPr/>
        </p:nvSpPr>
        <p:spPr>
          <a:xfrm>
            <a:off x="6903720" y="3200400"/>
            <a:ext cx="1691640" cy="502920"/>
          </a:xfrm>
          <a:prstGeom prst="rect">
            <a:avLst/>
          </a:prstGeom>
          <a:noFill/>
          <a:ln/>
        </p:spPr>
        <p:txBody>
          <a:bodyPr wrap="square" lIns="0" tIns="0" rIns="0" bIns="0" rtlCol="0" anchor="ctr"/>
          <a:lstStyle/>
          <a:p>
            <a:pPr marL="0" indent="0">
              <a:buNone/>
            </a:pPr>
            <a:r>
              <a:rPr lang="en-US" sz="1400" b="1" dirty="0">
                <a:solidFill>
                  <a:srgbClr val="EAF2FF"/>
                </a:solidFill>
                <a:latin typeface="Calibri" pitchFamily="34" charset="0"/>
                <a:ea typeface="Calibri" pitchFamily="34" charset="-122"/>
                <a:cs typeface="Calibri" pitchFamily="34" charset="-120"/>
              </a:rPr>
              <a:t>Extensible</a:t>
            </a:r>
            <a:endParaRPr lang="en-US" sz="1400" dirty="0"/>
          </a:p>
        </p:txBody>
      </p:sp>
      <p:sp>
        <p:nvSpPr>
          <p:cNvPr id="34" name="Text 26"/>
          <p:cNvSpPr txBox="1"/>
          <p:nvPr/>
        </p:nvSpPr>
        <p:spPr>
          <a:xfrm>
            <a:off x="6217920" y="3886200"/>
            <a:ext cx="2286000" cy="594360"/>
          </a:xfrm>
          <a:prstGeom prst="rect">
            <a:avLst/>
          </a:prstGeom>
          <a:noFill/>
          <a:ln/>
        </p:spPr>
        <p:txBody>
          <a:bodyPr wrap="square" lIns="0" tIns="0" rIns="0" bIns="0" rtlCol="0" anchor="t"/>
          <a:lstStyle/>
          <a:p>
            <a:pPr marL="0" indent="0">
              <a:buNone/>
            </a:pPr>
            <a:r>
              <a:rPr lang="en-US" sz="1150" dirty="0">
                <a:solidFill>
                  <a:srgbClr val="9DB2CC"/>
                </a:solidFill>
                <a:latin typeface="Calibri" pitchFamily="34" charset="0"/>
                <a:ea typeface="Calibri" pitchFamily="34" charset="-122"/>
                <a:cs typeface="Calibri" pitchFamily="34" charset="-120"/>
              </a:rPr>
              <a:t>REST API and bulk scanning fit into other tools.</a:t>
            </a:r>
            <a:endParaRPr lang="en-US" sz="1150" dirty="0"/>
          </a:p>
        </p:txBody>
      </p:sp>
    </p:spTree>
  </p:cSld>
  <p:clrMapOvr>
    <a:masterClrMapping/>
  </p:clrMapOvr>
  <p:transition spd="med">
    <p:push/>
  </p:transition>
</p:sld>
</file>

<file path=ppt/slides/slide2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rgbClr val="2DE2C0"/>
                </a:solidFill>
                <a:latin typeface="Courier New" pitchFamily="34" charset="0"/>
                <a:ea typeface="Courier New" pitchFamily="34" charset="-122"/>
                <a:cs typeface="Courier New" pitchFamily="34" charset="-120"/>
              </a:rPr>
              <a:t>// 14  LIMITATIONS</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b="1" dirty="0">
                <a:solidFill>
                  <a:srgbClr val="EAF2FF"/>
                </a:solidFill>
                <a:latin typeface="Calibri" pitchFamily="34" charset="0"/>
                <a:ea typeface="Calibri" pitchFamily="34" charset="-122"/>
                <a:cs typeface="Calibri" pitchFamily="34" charset="-120"/>
              </a:rPr>
              <a:t>What to keep in mind</a:t>
            </a:r>
            <a:endParaRPr lang="en-US" sz="3000" dirty="0"/>
          </a:p>
        </p:txBody>
      </p:sp>
      <p:sp>
        <p:nvSpPr>
          <p:cNvPr id="4" name="Text 2"/>
          <p:cNvSpPr txBox="1"/>
          <p:nvPr/>
        </p:nvSpPr>
        <p:spPr>
          <a:xfrm>
            <a:off x="7498080" y="4864608"/>
            <a:ext cx="1188720" cy="182880"/>
          </a:xfrm>
          <a:prstGeom prst="rect">
            <a:avLst/>
          </a:prstGeom>
          <a:noFill/>
          <a:ln/>
        </p:spPr>
        <p:txBody>
          <a:bodyPr wrap="square" lIns="0" tIns="0" rIns="0" bIns="0" rtlCol="0" anchor="ctr"/>
          <a:lstStyle/>
          <a:p>
            <a:pPr marL="0" indent="0" algn="r">
              <a:buNone/>
            </a:pPr>
            <a:r>
              <a:rPr lang="en-US" sz="900" dirty="0">
                <a:solidFill>
                  <a:srgbClr val="9DB2CC"/>
                </a:solidFill>
                <a:latin typeface="Courier New" pitchFamily="34" charset="0"/>
                <a:ea typeface="Courier New" pitchFamily="34" charset="-122"/>
                <a:cs typeface="Courier New" pitchFamily="34" charset="-120"/>
              </a:rPr>
              <a:t>14 / 15</a:t>
            </a:r>
            <a:endParaRPr lang="en-US" sz="900" dirty="0"/>
          </a:p>
        </p:txBody>
      </p:sp>
      <p:sp>
        <p:nvSpPr>
          <p:cNvPr id="5" name="Text 3"/>
          <p:cNvSpPr txBox="1"/>
          <p:nvPr/>
        </p:nvSpPr>
        <p:spPr>
          <a:xfrm>
            <a:off x="640080" y="1188720"/>
            <a:ext cx="3657600" cy="201168"/>
          </a:xfrm>
          <a:prstGeom prst="rect">
            <a:avLst/>
          </a:prstGeom>
          <a:noFill/>
          <a:ln/>
        </p:spPr>
        <p:txBody>
          <a:bodyPr wrap="square" lIns="0" tIns="0" rIns="0" bIns="0" rtlCol="0" anchor="ctr"/>
          <a:lstStyle/>
          <a:p>
            <a:pPr marL="0" indent="0">
              <a:buNone/>
            </a:pPr>
            <a:r>
              <a:rPr lang="en-US" sz="1000" b="1" kern="0" spc="200" dirty="0">
                <a:solidFill>
                  <a:srgbClr val="FFB547"/>
                </a:solidFill>
                <a:latin typeface="Courier New" pitchFamily="34" charset="0"/>
                <a:ea typeface="Courier New" pitchFamily="34" charset="-122"/>
                <a:cs typeface="Courier New" pitchFamily="34" charset="-120"/>
              </a:rPr>
              <a:t>LIMITATION</a:t>
            </a:r>
            <a:endParaRPr lang="en-US" sz="1000" dirty="0"/>
          </a:p>
        </p:txBody>
      </p:sp>
      <p:sp>
        <p:nvSpPr>
          <p:cNvPr id="6" name="Text 4"/>
          <p:cNvSpPr txBox="1"/>
          <p:nvPr/>
        </p:nvSpPr>
        <p:spPr>
          <a:xfrm>
            <a:off x="4754880" y="1188720"/>
            <a:ext cx="3657600" cy="201168"/>
          </a:xfrm>
          <a:prstGeom prst="rect">
            <a:avLst/>
          </a:prstGeom>
          <a:noFill/>
          <a:ln/>
        </p:spPr>
        <p:txBody>
          <a:bodyPr wrap="square" lIns="0" tIns="0" rIns="0" bIns="0" rtlCol="0" anchor="ctr"/>
          <a:lstStyle/>
          <a:p>
            <a:pPr marL="0" indent="0">
              <a:buNone/>
            </a:pPr>
            <a:r>
              <a:rPr lang="en-US" sz="1000" b="1" kern="0" spc="200" dirty="0">
                <a:solidFill>
                  <a:srgbClr val="2DE2C0"/>
                </a:solidFill>
                <a:latin typeface="Courier New" pitchFamily="34" charset="0"/>
                <a:ea typeface="Courier New" pitchFamily="34" charset="-122"/>
                <a:cs typeface="Courier New" pitchFamily="34" charset="-120"/>
              </a:rPr>
              <a:t>HOW IT IS ADDRESSED</a:t>
            </a:r>
            <a:endParaRPr lang="en-US" sz="1000" dirty="0"/>
          </a:p>
        </p:txBody>
      </p:sp>
      <p:sp>
        <p:nvSpPr>
          <p:cNvPr id="7" name="Shape 5"/>
          <p:cNvSpPr/>
          <p:nvPr/>
        </p:nvSpPr>
        <p:spPr>
          <a:xfrm>
            <a:off x="457200" y="1463040"/>
            <a:ext cx="4160520" cy="585216"/>
          </a:xfrm>
          <a:prstGeom prst="roundRect">
            <a:avLst>
              <a:gd name="adj" fmla="val 12500"/>
            </a:avLst>
          </a:prstGeom>
          <a:solidFill>
            <a:srgbClr val="24191A"/>
          </a:solidFill>
          <a:ln w="12700">
            <a:solidFill>
              <a:srgbClr val="5A4326"/>
            </a:solidFill>
            <a:prstDash val="solid"/>
          </a:ln>
        </p:spPr>
      </p:sp>
      <p:sp>
        <p:nvSpPr>
          <p:cNvPr id="8" name="Shape 6"/>
          <p:cNvSpPr/>
          <p:nvPr/>
        </p:nvSpPr>
        <p:spPr>
          <a:xfrm>
            <a:off x="548640" y="1572768"/>
            <a:ext cx="365760" cy="365760"/>
          </a:xfrm>
          <a:prstGeom prst="ellipse">
            <a:avLst/>
          </a:prstGeom>
          <a:solidFill>
            <a:srgbClr val="0C2233"/>
          </a:solidFill>
          <a:ln w="15875">
            <a:solidFill>
              <a:srgbClr val="FFB547"/>
            </a:solidFill>
            <a:prstDash val="solid"/>
          </a:ln>
        </p:spPr>
      </p:sp>
      <p:pic>
        <p:nvPicPr>
          <p:cNvPr id="9" name="Image 0" descr="preencoded.png"/>
          <p:cNvPicPr>
            <a:picLocks noChangeAspect="1"/>
          </p:cNvPicPr>
          <p:nvPr/>
        </p:nvPicPr>
        <p:blipFill>
          <a:blip r:embed="rId4"/>
          <a:stretch>
            <a:fillRect/>
          </a:stretch>
        </p:blipFill>
        <p:spPr>
          <a:xfrm>
            <a:off x="643738" y="1667866"/>
            <a:ext cx="175565" cy="175565"/>
          </a:xfrm>
          <a:prstGeom prst="rect">
            <a:avLst/>
          </a:prstGeom>
        </p:spPr>
      </p:pic>
      <p:sp>
        <p:nvSpPr>
          <p:cNvPr id="10" name="Text 7"/>
          <p:cNvSpPr txBox="1"/>
          <p:nvPr/>
        </p:nvSpPr>
        <p:spPr>
          <a:xfrm>
            <a:off x="1005840" y="1463040"/>
            <a:ext cx="3520440" cy="585216"/>
          </a:xfrm>
          <a:prstGeom prst="rect">
            <a:avLst/>
          </a:prstGeom>
          <a:noFill/>
          <a:ln/>
        </p:spPr>
        <p:txBody>
          <a:bodyPr wrap="square" lIns="0" tIns="0" rIns="0" bIns="0" rtlCol="0" anchor="ctr"/>
          <a:lstStyle/>
          <a:p>
            <a:pPr marL="0" indent="0">
              <a:buNone/>
            </a:pPr>
            <a:r>
              <a:rPr lang="en-US" sz="1050" dirty="0">
                <a:solidFill>
                  <a:srgbClr val="EAF2FF"/>
                </a:solidFill>
                <a:latin typeface="Calibri" pitchFamily="34" charset="0"/>
                <a:ea typeface="Calibri" pitchFamily="34" charset="-122"/>
                <a:cs typeface="Calibri" pitchFamily="34" charset="-120"/>
              </a:rPr>
              <a:t>Trained on Enron-Spam (mostly spam, older mail) plus generated samples</a:t>
            </a:r>
            <a:endParaRPr lang="en-US" sz="1050" dirty="0"/>
          </a:p>
        </p:txBody>
      </p:sp>
      <p:sp>
        <p:nvSpPr>
          <p:cNvPr id="11" name="Shape 8"/>
          <p:cNvSpPr/>
          <p:nvPr/>
        </p:nvSpPr>
        <p:spPr>
          <a:xfrm>
            <a:off x="4645152" y="1664208"/>
            <a:ext cx="91440" cy="182880"/>
          </a:xfrm>
          <a:prstGeom prst="chevron">
            <a:avLst/>
          </a:prstGeom>
          <a:solidFill>
            <a:srgbClr val="9DB2CC"/>
          </a:solidFill>
          <a:ln w="12700">
            <a:solidFill>
              <a:srgbClr val="9DB2CC"/>
            </a:solidFill>
            <a:prstDash val="solid"/>
          </a:ln>
        </p:spPr>
      </p:sp>
      <p:sp>
        <p:nvSpPr>
          <p:cNvPr id="12" name="Shape 9"/>
          <p:cNvSpPr/>
          <p:nvPr/>
        </p:nvSpPr>
        <p:spPr>
          <a:xfrm>
            <a:off x="4800600" y="1463040"/>
            <a:ext cx="3886200" cy="585216"/>
          </a:xfrm>
          <a:prstGeom prst="roundRect">
            <a:avLst>
              <a:gd name="adj" fmla="val 12500"/>
            </a:avLst>
          </a:prstGeom>
          <a:solidFill>
            <a:srgbClr val="0C2D2E"/>
          </a:solidFill>
          <a:ln w="12700">
            <a:solidFill>
              <a:srgbClr val="1B6B62"/>
            </a:solidFill>
            <a:prstDash val="solid"/>
          </a:ln>
        </p:spPr>
      </p:sp>
      <p:sp>
        <p:nvSpPr>
          <p:cNvPr id="13" name="Text 10"/>
          <p:cNvSpPr txBox="1"/>
          <p:nvPr/>
        </p:nvSpPr>
        <p:spPr>
          <a:xfrm>
            <a:off x="4956048" y="1463040"/>
            <a:ext cx="3611880" cy="585216"/>
          </a:xfrm>
          <a:prstGeom prst="rect">
            <a:avLst/>
          </a:prstGeom>
          <a:noFill/>
          <a:ln/>
        </p:spPr>
        <p:txBody>
          <a:bodyPr wrap="square" lIns="0" tIns="0" rIns="0" bIns="0" rtlCol="0" anchor="ctr"/>
          <a:lstStyle/>
          <a:p>
            <a:pPr marL="0" indent="0">
              <a:buNone/>
            </a:pPr>
            <a:r>
              <a:rPr lang="en-US" sz="1050" dirty="0">
                <a:solidFill>
                  <a:srgbClr val="EAF2FF"/>
                </a:solidFill>
                <a:latin typeface="Calibri" pitchFamily="34" charset="0"/>
                <a:ea typeface="Calibri" pitchFamily="34" charset="-122"/>
                <a:cs typeface="Calibri" pitchFamily="34" charset="-120"/>
              </a:rPr>
              <a:t>Import real phishing datasets and retrain</a:t>
            </a:r>
            <a:endParaRPr lang="en-US" sz="1050" dirty="0"/>
          </a:p>
        </p:txBody>
      </p:sp>
      <p:sp>
        <p:nvSpPr>
          <p:cNvPr id="14" name="Shape 11"/>
          <p:cNvSpPr/>
          <p:nvPr/>
        </p:nvSpPr>
        <p:spPr>
          <a:xfrm>
            <a:off x="457200" y="2139696"/>
            <a:ext cx="4160520" cy="585216"/>
          </a:xfrm>
          <a:prstGeom prst="roundRect">
            <a:avLst>
              <a:gd name="adj" fmla="val 12500"/>
            </a:avLst>
          </a:prstGeom>
          <a:solidFill>
            <a:srgbClr val="24191A"/>
          </a:solidFill>
          <a:ln w="12700">
            <a:solidFill>
              <a:srgbClr val="5A4326"/>
            </a:solidFill>
            <a:prstDash val="solid"/>
          </a:ln>
        </p:spPr>
      </p:sp>
      <p:sp>
        <p:nvSpPr>
          <p:cNvPr id="15" name="Shape 12"/>
          <p:cNvSpPr/>
          <p:nvPr/>
        </p:nvSpPr>
        <p:spPr>
          <a:xfrm>
            <a:off x="548640" y="2249424"/>
            <a:ext cx="365760" cy="365760"/>
          </a:xfrm>
          <a:prstGeom prst="ellipse">
            <a:avLst/>
          </a:prstGeom>
          <a:solidFill>
            <a:srgbClr val="0C2233"/>
          </a:solidFill>
          <a:ln w="15875">
            <a:solidFill>
              <a:srgbClr val="FFB547"/>
            </a:solidFill>
            <a:prstDash val="solid"/>
          </a:ln>
        </p:spPr>
      </p:sp>
      <p:pic>
        <p:nvPicPr>
          <p:cNvPr id="16" name="Image 1" descr="preencoded.png"/>
          <p:cNvPicPr>
            <a:picLocks noChangeAspect="1"/>
          </p:cNvPicPr>
          <p:nvPr/>
        </p:nvPicPr>
        <p:blipFill>
          <a:blip r:embed="rId4"/>
          <a:stretch>
            <a:fillRect/>
          </a:stretch>
        </p:blipFill>
        <p:spPr>
          <a:xfrm>
            <a:off x="643738" y="2344522"/>
            <a:ext cx="175565" cy="175565"/>
          </a:xfrm>
          <a:prstGeom prst="rect">
            <a:avLst/>
          </a:prstGeom>
        </p:spPr>
      </p:pic>
      <p:sp>
        <p:nvSpPr>
          <p:cNvPr id="17" name="Text 13"/>
          <p:cNvSpPr txBox="1"/>
          <p:nvPr/>
        </p:nvSpPr>
        <p:spPr>
          <a:xfrm>
            <a:off x="1005840" y="2139696"/>
            <a:ext cx="3520440" cy="585216"/>
          </a:xfrm>
          <a:prstGeom prst="rect">
            <a:avLst/>
          </a:prstGeom>
          <a:noFill/>
          <a:ln/>
        </p:spPr>
        <p:txBody>
          <a:bodyPr wrap="square" lIns="0" tIns="0" rIns="0" bIns="0" rtlCol="0" anchor="ctr"/>
          <a:lstStyle/>
          <a:p>
            <a:pPr marL="0" indent="0">
              <a:buNone/>
            </a:pPr>
            <a:r>
              <a:rPr lang="en-US" sz="1050" dirty="0">
                <a:solidFill>
                  <a:srgbClr val="EAF2FF"/>
                </a:solidFill>
                <a:latin typeface="Calibri" pitchFamily="34" charset="0"/>
                <a:ea typeface="Calibri" pitchFamily="34" charset="-122"/>
                <a:cs typeface="Calibri" pitchFamily="34" charset="-120"/>
              </a:rPr>
              <a:t>Accuracy measured on one corpus; real-world results will be lower</a:t>
            </a:r>
            <a:endParaRPr lang="en-US" sz="1050" dirty="0"/>
          </a:p>
        </p:txBody>
      </p:sp>
      <p:sp>
        <p:nvSpPr>
          <p:cNvPr id="18" name="Shape 14"/>
          <p:cNvSpPr/>
          <p:nvPr/>
        </p:nvSpPr>
        <p:spPr>
          <a:xfrm>
            <a:off x="4645152" y="2340864"/>
            <a:ext cx="91440" cy="182880"/>
          </a:xfrm>
          <a:prstGeom prst="chevron">
            <a:avLst/>
          </a:prstGeom>
          <a:solidFill>
            <a:srgbClr val="9DB2CC"/>
          </a:solidFill>
          <a:ln w="12700">
            <a:solidFill>
              <a:srgbClr val="9DB2CC"/>
            </a:solidFill>
            <a:prstDash val="solid"/>
          </a:ln>
        </p:spPr>
      </p:sp>
      <p:sp>
        <p:nvSpPr>
          <p:cNvPr id="19" name="Shape 15"/>
          <p:cNvSpPr/>
          <p:nvPr/>
        </p:nvSpPr>
        <p:spPr>
          <a:xfrm>
            <a:off x="4800600" y="2139696"/>
            <a:ext cx="3886200" cy="585216"/>
          </a:xfrm>
          <a:prstGeom prst="roundRect">
            <a:avLst>
              <a:gd name="adj" fmla="val 12500"/>
            </a:avLst>
          </a:prstGeom>
          <a:solidFill>
            <a:srgbClr val="0C2D2E"/>
          </a:solidFill>
          <a:ln w="12700">
            <a:solidFill>
              <a:srgbClr val="1B6B62"/>
            </a:solidFill>
            <a:prstDash val="solid"/>
          </a:ln>
        </p:spPr>
      </p:sp>
      <p:sp>
        <p:nvSpPr>
          <p:cNvPr id="20" name="Text 16"/>
          <p:cNvSpPr txBox="1"/>
          <p:nvPr/>
        </p:nvSpPr>
        <p:spPr>
          <a:xfrm>
            <a:off x="4956048" y="2139696"/>
            <a:ext cx="3611880" cy="585216"/>
          </a:xfrm>
          <a:prstGeom prst="rect">
            <a:avLst/>
          </a:prstGeom>
          <a:noFill/>
          <a:ln/>
        </p:spPr>
        <p:txBody>
          <a:bodyPr wrap="square" lIns="0" tIns="0" rIns="0" bIns="0" rtlCol="0" anchor="ctr"/>
          <a:lstStyle/>
          <a:p>
            <a:pPr marL="0" indent="0">
              <a:buNone/>
            </a:pPr>
            <a:r>
              <a:rPr lang="en-US" sz="1050" dirty="0">
                <a:solidFill>
                  <a:srgbClr val="EAF2FF"/>
                </a:solidFill>
                <a:latin typeface="Calibri" pitchFamily="34" charset="0"/>
                <a:ea typeface="Calibri" pitchFamily="34" charset="-122"/>
                <a:cs typeface="Calibri" pitchFamily="34" charset="-120"/>
              </a:rPr>
              <a:t>Test on fresh mail and use feedback to adapt</a:t>
            </a:r>
            <a:endParaRPr lang="en-US" sz="1050" dirty="0"/>
          </a:p>
        </p:txBody>
      </p:sp>
      <p:sp>
        <p:nvSpPr>
          <p:cNvPr id="21" name="Shape 17"/>
          <p:cNvSpPr/>
          <p:nvPr/>
        </p:nvSpPr>
        <p:spPr>
          <a:xfrm>
            <a:off x="457200" y="2816352"/>
            <a:ext cx="4160520" cy="585216"/>
          </a:xfrm>
          <a:prstGeom prst="roundRect">
            <a:avLst>
              <a:gd name="adj" fmla="val 12500"/>
            </a:avLst>
          </a:prstGeom>
          <a:solidFill>
            <a:srgbClr val="24191A"/>
          </a:solidFill>
          <a:ln w="12700">
            <a:solidFill>
              <a:srgbClr val="5A4326"/>
            </a:solidFill>
            <a:prstDash val="solid"/>
          </a:ln>
        </p:spPr>
      </p:sp>
      <p:sp>
        <p:nvSpPr>
          <p:cNvPr id="22" name="Shape 18"/>
          <p:cNvSpPr/>
          <p:nvPr/>
        </p:nvSpPr>
        <p:spPr>
          <a:xfrm>
            <a:off x="548640" y="2926080"/>
            <a:ext cx="365760" cy="365760"/>
          </a:xfrm>
          <a:prstGeom prst="ellipse">
            <a:avLst/>
          </a:prstGeom>
          <a:solidFill>
            <a:srgbClr val="0C2233"/>
          </a:solidFill>
          <a:ln w="15875">
            <a:solidFill>
              <a:srgbClr val="FFB547"/>
            </a:solidFill>
            <a:prstDash val="solid"/>
          </a:ln>
        </p:spPr>
      </p:sp>
      <p:pic>
        <p:nvPicPr>
          <p:cNvPr id="23" name="Image 2" descr="preencoded.png"/>
          <p:cNvPicPr>
            <a:picLocks noChangeAspect="1"/>
          </p:cNvPicPr>
          <p:nvPr/>
        </p:nvPicPr>
        <p:blipFill>
          <a:blip r:embed="rId4"/>
          <a:stretch>
            <a:fillRect/>
          </a:stretch>
        </p:blipFill>
        <p:spPr>
          <a:xfrm>
            <a:off x="643738" y="3021178"/>
            <a:ext cx="175565" cy="175565"/>
          </a:xfrm>
          <a:prstGeom prst="rect">
            <a:avLst/>
          </a:prstGeom>
        </p:spPr>
      </p:pic>
      <p:sp>
        <p:nvSpPr>
          <p:cNvPr id="24" name="Text 19"/>
          <p:cNvSpPr txBox="1"/>
          <p:nvPr/>
        </p:nvSpPr>
        <p:spPr>
          <a:xfrm>
            <a:off x="1005840" y="2816352"/>
            <a:ext cx="3520440" cy="585216"/>
          </a:xfrm>
          <a:prstGeom prst="rect">
            <a:avLst/>
          </a:prstGeom>
          <a:noFill/>
          <a:ln/>
        </p:spPr>
        <p:txBody>
          <a:bodyPr wrap="square" lIns="0" tIns="0" rIns="0" bIns="0" rtlCol="0" anchor="ctr"/>
          <a:lstStyle/>
          <a:p>
            <a:pPr marL="0" indent="0">
              <a:buNone/>
            </a:pPr>
            <a:r>
              <a:rPr lang="en-US" sz="1050" dirty="0">
                <a:solidFill>
                  <a:srgbClr val="EAF2FF"/>
                </a:solidFill>
                <a:latin typeface="Calibri" pitchFamily="34" charset="0"/>
                <a:ea typeface="Calibri" pitchFamily="34" charset="-122"/>
                <a:cs typeface="Calibri" pitchFamily="34" charset="-120"/>
              </a:rPr>
              <a:t>English-language text only</a:t>
            </a:r>
            <a:endParaRPr lang="en-US" sz="1050" dirty="0"/>
          </a:p>
        </p:txBody>
      </p:sp>
      <p:sp>
        <p:nvSpPr>
          <p:cNvPr id="25" name="Shape 20"/>
          <p:cNvSpPr/>
          <p:nvPr/>
        </p:nvSpPr>
        <p:spPr>
          <a:xfrm>
            <a:off x="4645152" y="3017520"/>
            <a:ext cx="91440" cy="182880"/>
          </a:xfrm>
          <a:prstGeom prst="chevron">
            <a:avLst/>
          </a:prstGeom>
          <a:solidFill>
            <a:srgbClr val="9DB2CC"/>
          </a:solidFill>
          <a:ln w="12700">
            <a:solidFill>
              <a:srgbClr val="9DB2CC"/>
            </a:solidFill>
            <a:prstDash val="solid"/>
          </a:ln>
        </p:spPr>
      </p:sp>
      <p:sp>
        <p:nvSpPr>
          <p:cNvPr id="26" name="Shape 21"/>
          <p:cNvSpPr/>
          <p:nvPr/>
        </p:nvSpPr>
        <p:spPr>
          <a:xfrm>
            <a:off x="4800600" y="2816352"/>
            <a:ext cx="3886200" cy="585216"/>
          </a:xfrm>
          <a:prstGeom prst="roundRect">
            <a:avLst>
              <a:gd name="adj" fmla="val 12500"/>
            </a:avLst>
          </a:prstGeom>
          <a:solidFill>
            <a:srgbClr val="0C2D2E"/>
          </a:solidFill>
          <a:ln w="12700">
            <a:solidFill>
              <a:srgbClr val="1B6B62"/>
            </a:solidFill>
            <a:prstDash val="solid"/>
          </a:ln>
        </p:spPr>
      </p:sp>
      <p:sp>
        <p:nvSpPr>
          <p:cNvPr id="27" name="Text 22"/>
          <p:cNvSpPr txBox="1"/>
          <p:nvPr/>
        </p:nvSpPr>
        <p:spPr>
          <a:xfrm>
            <a:off x="4956048" y="2816352"/>
            <a:ext cx="3611880" cy="585216"/>
          </a:xfrm>
          <a:prstGeom prst="rect">
            <a:avLst/>
          </a:prstGeom>
          <a:noFill/>
          <a:ln/>
        </p:spPr>
        <p:txBody>
          <a:bodyPr wrap="square" lIns="0" tIns="0" rIns="0" bIns="0" rtlCol="0" anchor="ctr"/>
          <a:lstStyle/>
          <a:p>
            <a:pPr marL="0" indent="0">
              <a:buNone/>
            </a:pPr>
            <a:r>
              <a:rPr lang="en-US" sz="1050" dirty="0">
                <a:solidFill>
                  <a:srgbClr val="EAF2FF"/>
                </a:solidFill>
                <a:latin typeface="Calibri" pitchFamily="34" charset="0"/>
                <a:ea typeface="Calibri" pitchFamily="34" charset="-122"/>
                <a:cs typeface="Calibri" pitchFamily="34" charset="-120"/>
              </a:rPr>
              <a:t>Add Hindi and Telugu training data</a:t>
            </a:r>
            <a:endParaRPr lang="en-US" sz="1050" dirty="0"/>
          </a:p>
        </p:txBody>
      </p:sp>
      <p:sp>
        <p:nvSpPr>
          <p:cNvPr id="28" name="Shape 23"/>
          <p:cNvSpPr/>
          <p:nvPr/>
        </p:nvSpPr>
        <p:spPr>
          <a:xfrm>
            <a:off x="457200" y="3493008"/>
            <a:ext cx="4160520" cy="585216"/>
          </a:xfrm>
          <a:prstGeom prst="roundRect">
            <a:avLst>
              <a:gd name="adj" fmla="val 12500"/>
            </a:avLst>
          </a:prstGeom>
          <a:solidFill>
            <a:srgbClr val="24191A"/>
          </a:solidFill>
          <a:ln w="12700">
            <a:solidFill>
              <a:srgbClr val="5A4326"/>
            </a:solidFill>
            <a:prstDash val="solid"/>
          </a:ln>
        </p:spPr>
      </p:sp>
      <p:sp>
        <p:nvSpPr>
          <p:cNvPr id="29" name="Shape 24"/>
          <p:cNvSpPr/>
          <p:nvPr/>
        </p:nvSpPr>
        <p:spPr>
          <a:xfrm>
            <a:off x="548640" y="3602736"/>
            <a:ext cx="365760" cy="365760"/>
          </a:xfrm>
          <a:prstGeom prst="ellipse">
            <a:avLst/>
          </a:prstGeom>
          <a:solidFill>
            <a:srgbClr val="0C2233"/>
          </a:solidFill>
          <a:ln w="15875">
            <a:solidFill>
              <a:srgbClr val="FFB547"/>
            </a:solidFill>
            <a:prstDash val="solid"/>
          </a:ln>
        </p:spPr>
      </p:sp>
      <p:pic>
        <p:nvPicPr>
          <p:cNvPr id="30" name="Image 3" descr="preencoded.png"/>
          <p:cNvPicPr>
            <a:picLocks noChangeAspect="1"/>
          </p:cNvPicPr>
          <p:nvPr/>
        </p:nvPicPr>
        <p:blipFill>
          <a:blip r:embed="rId4"/>
          <a:stretch>
            <a:fillRect/>
          </a:stretch>
        </p:blipFill>
        <p:spPr>
          <a:xfrm>
            <a:off x="643738" y="3697834"/>
            <a:ext cx="175565" cy="175565"/>
          </a:xfrm>
          <a:prstGeom prst="rect">
            <a:avLst/>
          </a:prstGeom>
        </p:spPr>
      </p:pic>
      <p:sp>
        <p:nvSpPr>
          <p:cNvPr id="31" name="Text 25"/>
          <p:cNvSpPr txBox="1"/>
          <p:nvPr/>
        </p:nvSpPr>
        <p:spPr>
          <a:xfrm>
            <a:off x="1005840" y="3493008"/>
            <a:ext cx="3520440" cy="585216"/>
          </a:xfrm>
          <a:prstGeom prst="rect">
            <a:avLst/>
          </a:prstGeom>
          <a:noFill/>
          <a:ln/>
        </p:spPr>
        <p:txBody>
          <a:bodyPr wrap="square" lIns="0" tIns="0" rIns="0" bIns="0" rtlCol="0" anchor="ctr"/>
          <a:lstStyle/>
          <a:p>
            <a:pPr marL="0" indent="0">
              <a:buNone/>
            </a:pPr>
            <a:r>
              <a:rPr lang="en-US" sz="1050" dirty="0">
                <a:solidFill>
                  <a:srgbClr val="EAF2FF"/>
                </a:solidFill>
                <a:latin typeface="Calibri" pitchFamily="34" charset="0"/>
                <a:ea typeface="Calibri" pitchFamily="34" charset="-122"/>
                <a:cs typeface="Calibri" pitchFamily="34" charset="-120"/>
              </a:rPr>
              <a:t>Live checks need internet and third-party services</a:t>
            </a:r>
            <a:endParaRPr lang="en-US" sz="1050" dirty="0"/>
          </a:p>
        </p:txBody>
      </p:sp>
      <p:sp>
        <p:nvSpPr>
          <p:cNvPr id="32" name="Shape 26"/>
          <p:cNvSpPr/>
          <p:nvPr/>
        </p:nvSpPr>
        <p:spPr>
          <a:xfrm>
            <a:off x="4645152" y="3694176"/>
            <a:ext cx="91440" cy="182880"/>
          </a:xfrm>
          <a:prstGeom prst="chevron">
            <a:avLst/>
          </a:prstGeom>
          <a:solidFill>
            <a:srgbClr val="9DB2CC"/>
          </a:solidFill>
          <a:ln w="12700">
            <a:solidFill>
              <a:srgbClr val="9DB2CC"/>
            </a:solidFill>
            <a:prstDash val="solid"/>
          </a:ln>
        </p:spPr>
      </p:sp>
      <p:sp>
        <p:nvSpPr>
          <p:cNvPr id="33" name="Shape 27"/>
          <p:cNvSpPr/>
          <p:nvPr/>
        </p:nvSpPr>
        <p:spPr>
          <a:xfrm>
            <a:off x="4800600" y="3493008"/>
            <a:ext cx="3886200" cy="585216"/>
          </a:xfrm>
          <a:prstGeom prst="roundRect">
            <a:avLst>
              <a:gd name="adj" fmla="val 12500"/>
            </a:avLst>
          </a:prstGeom>
          <a:solidFill>
            <a:srgbClr val="0C2D2E"/>
          </a:solidFill>
          <a:ln w="12700">
            <a:solidFill>
              <a:srgbClr val="1B6B62"/>
            </a:solidFill>
            <a:prstDash val="solid"/>
          </a:ln>
        </p:spPr>
      </p:sp>
      <p:sp>
        <p:nvSpPr>
          <p:cNvPr id="34" name="Text 28"/>
          <p:cNvSpPr txBox="1"/>
          <p:nvPr/>
        </p:nvSpPr>
        <p:spPr>
          <a:xfrm>
            <a:off x="4956048" y="3493008"/>
            <a:ext cx="3611880" cy="585216"/>
          </a:xfrm>
          <a:prstGeom prst="rect">
            <a:avLst/>
          </a:prstGeom>
          <a:noFill/>
          <a:ln/>
        </p:spPr>
        <p:txBody>
          <a:bodyPr wrap="square" lIns="0" tIns="0" rIns="0" bIns="0" rtlCol="0" anchor="ctr"/>
          <a:lstStyle/>
          <a:p>
            <a:pPr marL="0" indent="0">
              <a:buNone/>
            </a:pPr>
            <a:r>
              <a:rPr lang="en-US" sz="1050" dirty="0">
                <a:solidFill>
                  <a:srgbClr val="EAF2FF"/>
                </a:solidFill>
                <a:latin typeface="Calibri" pitchFamily="34" charset="0"/>
                <a:ea typeface="Calibri" pitchFamily="34" charset="-122"/>
                <a:cs typeface="Calibri" pitchFamily="34" charset="-120"/>
              </a:rPr>
              <a:t>Each check fails safe; the offline database always works</a:t>
            </a:r>
            <a:endParaRPr lang="en-US" sz="1050" dirty="0"/>
          </a:p>
        </p:txBody>
      </p:sp>
      <p:sp>
        <p:nvSpPr>
          <p:cNvPr id="35" name="Shape 29"/>
          <p:cNvSpPr/>
          <p:nvPr/>
        </p:nvSpPr>
        <p:spPr>
          <a:xfrm>
            <a:off x="457200" y="4169664"/>
            <a:ext cx="4160520" cy="585216"/>
          </a:xfrm>
          <a:prstGeom prst="roundRect">
            <a:avLst>
              <a:gd name="adj" fmla="val 12500"/>
            </a:avLst>
          </a:prstGeom>
          <a:solidFill>
            <a:srgbClr val="24191A"/>
          </a:solidFill>
          <a:ln w="12700">
            <a:solidFill>
              <a:srgbClr val="5A4326"/>
            </a:solidFill>
            <a:prstDash val="solid"/>
          </a:ln>
        </p:spPr>
      </p:sp>
      <p:sp>
        <p:nvSpPr>
          <p:cNvPr id="36" name="Shape 30"/>
          <p:cNvSpPr/>
          <p:nvPr/>
        </p:nvSpPr>
        <p:spPr>
          <a:xfrm>
            <a:off x="548640" y="4279392"/>
            <a:ext cx="365760" cy="365760"/>
          </a:xfrm>
          <a:prstGeom prst="ellipse">
            <a:avLst/>
          </a:prstGeom>
          <a:solidFill>
            <a:srgbClr val="0C2233"/>
          </a:solidFill>
          <a:ln w="15875">
            <a:solidFill>
              <a:srgbClr val="FFB547"/>
            </a:solidFill>
            <a:prstDash val="solid"/>
          </a:ln>
        </p:spPr>
      </p:sp>
      <p:pic>
        <p:nvPicPr>
          <p:cNvPr id="37" name="Image 4" descr="preencoded.png"/>
          <p:cNvPicPr>
            <a:picLocks noChangeAspect="1"/>
          </p:cNvPicPr>
          <p:nvPr/>
        </p:nvPicPr>
        <p:blipFill>
          <a:blip r:embed="rId4"/>
          <a:stretch>
            <a:fillRect/>
          </a:stretch>
        </p:blipFill>
        <p:spPr>
          <a:xfrm>
            <a:off x="643738" y="4374490"/>
            <a:ext cx="175565" cy="175565"/>
          </a:xfrm>
          <a:prstGeom prst="rect">
            <a:avLst/>
          </a:prstGeom>
        </p:spPr>
      </p:pic>
      <p:sp>
        <p:nvSpPr>
          <p:cNvPr id="38" name="Text 31"/>
          <p:cNvSpPr txBox="1"/>
          <p:nvPr/>
        </p:nvSpPr>
        <p:spPr>
          <a:xfrm>
            <a:off x="1005840" y="4169664"/>
            <a:ext cx="3520440" cy="585216"/>
          </a:xfrm>
          <a:prstGeom prst="rect">
            <a:avLst/>
          </a:prstGeom>
          <a:noFill/>
          <a:ln/>
        </p:spPr>
        <p:txBody>
          <a:bodyPr wrap="square" lIns="0" tIns="0" rIns="0" bIns="0" rtlCol="0" anchor="ctr"/>
          <a:lstStyle/>
          <a:p>
            <a:pPr marL="0" indent="0">
              <a:buNone/>
            </a:pPr>
            <a:r>
              <a:rPr lang="en-US" sz="1050" dirty="0">
                <a:solidFill>
                  <a:srgbClr val="EAF2FF"/>
                </a:solidFill>
                <a:latin typeface="Calibri" pitchFamily="34" charset="0"/>
                <a:ea typeface="Calibri" pitchFamily="34" charset="-122"/>
                <a:cs typeface="Calibri" pitchFamily="34" charset="-120"/>
              </a:rPr>
              <a:t>Attachment contents are not scanned; single-user local app</a:t>
            </a:r>
            <a:endParaRPr lang="en-US" sz="1050" dirty="0"/>
          </a:p>
        </p:txBody>
      </p:sp>
      <p:sp>
        <p:nvSpPr>
          <p:cNvPr id="39" name="Shape 32"/>
          <p:cNvSpPr/>
          <p:nvPr/>
        </p:nvSpPr>
        <p:spPr>
          <a:xfrm>
            <a:off x="4645152" y="4370832"/>
            <a:ext cx="91440" cy="182880"/>
          </a:xfrm>
          <a:prstGeom prst="chevron">
            <a:avLst/>
          </a:prstGeom>
          <a:solidFill>
            <a:srgbClr val="9DB2CC"/>
          </a:solidFill>
          <a:ln w="12700">
            <a:solidFill>
              <a:srgbClr val="9DB2CC"/>
            </a:solidFill>
            <a:prstDash val="solid"/>
          </a:ln>
        </p:spPr>
      </p:sp>
      <p:sp>
        <p:nvSpPr>
          <p:cNvPr id="40" name="Shape 33"/>
          <p:cNvSpPr/>
          <p:nvPr/>
        </p:nvSpPr>
        <p:spPr>
          <a:xfrm>
            <a:off x="4800600" y="4169664"/>
            <a:ext cx="3886200" cy="585216"/>
          </a:xfrm>
          <a:prstGeom prst="roundRect">
            <a:avLst>
              <a:gd name="adj" fmla="val 12500"/>
            </a:avLst>
          </a:prstGeom>
          <a:solidFill>
            <a:srgbClr val="0C2D2E"/>
          </a:solidFill>
          <a:ln w="12700">
            <a:solidFill>
              <a:srgbClr val="1B6B62"/>
            </a:solidFill>
            <a:prstDash val="solid"/>
          </a:ln>
        </p:spPr>
      </p:sp>
      <p:sp>
        <p:nvSpPr>
          <p:cNvPr id="41" name="Text 34"/>
          <p:cNvSpPr txBox="1"/>
          <p:nvPr/>
        </p:nvSpPr>
        <p:spPr>
          <a:xfrm>
            <a:off x="4956048" y="4169664"/>
            <a:ext cx="3611880" cy="585216"/>
          </a:xfrm>
          <a:prstGeom prst="rect">
            <a:avLst/>
          </a:prstGeom>
          <a:noFill/>
          <a:ln/>
        </p:spPr>
        <p:txBody>
          <a:bodyPr wrap="square" lIns="0" tIns="0" rIns="0" bIns="0" rtlCol="0" anchor="ctr"/>
          <a:lstStyle/>
          <a:p>
            <a:pPr marL="0" indent="0">
              <a:buNone/>
            </a:pPr>
            <a:r>
              <a:rPr lang="en-US" sz="1050" dirty="0">
                <a:solidFill>
                  <a:srgbClr val="EAF2FF"/>
                </a:solidFill>
                <a:latin typeface="Calibri" pitchFamily="34" charset="0"/>
                <a:ea typeface="Calibri" pitchFamily="34" charset="-122"/>
                <a:cs typeface="Calibri" pitchFamily="34" charset="-120"/>
              </a:rPr>
              <a:t>Risky file types are flagged; hosted version planned</a:t>
            </a:r>
            <a:endParaRPr lang="en-US" sz="1050" dirty="0"/>
          </a:p>
        </p:txBody>
      </p:sp>
    </p:spTree>
  </p:cSld>
  <p:clrMapOvr>
    <a:masterClrMapping/>
  </p:clrMapOvr>
  <p:transition spd="med">
    <p:push/>
  </p:transition>
</p:sld>
</file>

<file path=ppt/slides/slide2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rgbClr val="2DE2C0"/>
                </a:solidFill>
                <a:latin typeface="Courier New" pitchFamily="34" charset="0"/>
                <a:ea typeface="Courier New" pitchFamily="34" charset="-122"/>
                <a:cs typeface="Courier New" pitchFamily="34" charset="-120"/>
              </a:rPr>
              <a:t>// 15  FUTURE SCOPE</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b="1" dirty="0">
                <a:solidFill>
                  <a:srgbClr val="EAF2FF"/>
                </a:solidFill>
                <a:latin typeface="Calibri" pitchFamily="34" charset="0"/>
                <a:ea typeface="Calibri" pitchFamily="34" charset="-122"/>
                <a:cs typeface="Calibri" pitchFamily="34" charset="-120"/>
              </a:rPr>
              <a:t>Where PhishGuard goes next</a:t>
            </a:r>
            <a:endParaRPr lang="en-US" sz="3000" dirty="0"/>
          </a:p>
        </p:txBody>
      </p:sp>
      <p:sp>
        <p:nvSpPr>
          <p:cNvPr id="4" name="Text 2"/>
          <p:cNvSpPr txBox="1"/>
          <p:nvPr/>
        </p:nvSpPr>
        <p:spPr>
          <a:xfrm>
            <a:off x="7498080" y="4864608"/>
            <a:ext cx="1188720" cy="182880"/>
          </a:xfrm>
          <a:prstGeom prst="rect">
            <a:avLst/>
          </a:prstGeom>
          <a:noFill/>
          <a:ln/>
        </p:spPr>
        <p:txBody>
          <a:bodyPr wrap="square" lIns="0" tIns="0" rIns="0" bIns="0" rtlCol="0" anchor="ctr"/>
          <a:lstStyle/>
          <a:p>
            <a:pPr marL="0" indent="0" algn="r">
              <a:buNone/>
            </a:pPr>
            <a:r>
              <a:rPr lang="en-US" sz="900" dirty="0">
                <a:solidFill>
                  <a:srgbClr val="9DB2CC"/>
                </a:solidFill>
                <a:latin typeface="Courier New" pitchFamily="34" charset="0"/>
                <a:ea typeface="Courier New" pitchFamily="34" charset="-122"/>
                <a:cs typeface="Courier New" pitchFamily="34" charset="-120"/>
              </a:rPr>
              <a:t>15 / 15</a:t>
            </a:r>
            <a:endParaRPr lang="en-US" sz="900" dirty="0"/>
          </a:p>
        </p:txBody>
      </p:sp>
      <p:sp>
        <p:nvSpPr>
          <p:cNvPr id="5" name="Shape 3"/>
          <p:cNvSpPr/>
          <p:nvPr/>
        </p:nvSpPr>
        <p:spPr>
          <a:xfrm>
            <a:off x="457200" y="1234440"/>
            <a:ext cx="2651760" cy="2743200"/>
          </a:xfrm>
          <a:prstGeom prst="roundRect">
            <a:avLst>
              <a:gd name="adj" fmla="val 2759"/>
            </a:avLst>
          </a:prstGeom>
          <a:solidFill>
            <a:srgbClr val="0F2036"/>
          </a:solidFill>
          <a:ln w="12700">
            <a:solidFill>
              <a:srgbClr val="1D3A5C"/>
            </a:solidFill>
            <a:prstDash val="solid"/>
          </a:ln>
        </p:spPr>
      </p:sp>
      <p:sp>
        <p:nvSpPr>
          <p:cNvPr id="6" name="Shape 4"/>
          <p:cNvSpPr/>
          <p:nvPr/>
        </p:nvSpPr>
        <p:spPr>
          <a:xfrm>
            <a:off x="640080" y="1371600"/>
            <a:ext cx="1188720" cy="292608"/>
          </a:xfrm>
          <a:prstGeom prst="roundRect">
            <a:avLst>
              <a:gd name="adj" fmla="val 50000"/>
            </a:avLst>
          </a:prstGeom>
          <a:solidFill>
            <a:srgbClr val="0C2233"/>
          </a:solidFill>
          <a:ln w="12700">
            <a:solidFill>
              <a:srgbClr val="2DE2C0"/>
            </a:solidFill>
            <a:prstDash val="solid"/>
          </a:ln>
        </p:spPr>
      </p:sp>
      <p:sp>
        <p:nvSpPr>
          <p:cNvPr id="7" name="Text 5"/>
          <p:cNvSpPr txBox="1"/>
          <p:nvPr/>
        </p:nvSpPr>
        <p:spPr>
          <a:xfrm>
            <a:off x="640080" y="1371600"/>
            <a:ext cx="1188720" cy="292608"/>
          </a:xfrm>
          <a:prstGeom prst="rect">
            <a:avLst/>
          </a:prstGeom>
          <a:noFill/>
          <a:ln/>
        </p:spPr>
        <p:txBody>
          <a:bodyPr wrap="square" lIns="0" tIns="0" rIns="0" bIns="0" rtlCol="0" anchor="ctr"/>
          <a:lstStyle/>
          <a:p>
            <a:pPr marL="0" indent="0" algn="ctr">
              <a:buNone/>
            </a:pPr>
            <a:r>
              <a:rPr lang="en-US" sz="1000" b="1" dirty="0">
                <a:solidFill>
                  <a:srgbClr val="2DE2C0"/>
                </a:solidFill>
                <a:latin typeface="Calibri" pitchFamily="34" charset="0"/>
                <a:ea typeface="Calibri" pitchFamily="34" charset="-122"/>
                <a:cs typeface="Calibri" pitchFamily="34" charset="-120"/>
              </a:rPr>
              <a:t>NEAR TERM</a:t>
            </a:r>
            <a:endParaRPr lang="en-US" sz="1000" dirty="0"/>
          </a:p>
        </p:txBody>
      </p:sp>
      <p:sp>
        <p:nvSpPr>
          <p:cNvPr id="8" name="Shape 6"/>
          <p:cNvSpPr/>
          <p:nvPr/>
        </p:nvSpPr>
        <p:spPr>
          <a:xfrm>
            <a:off x="640080" y="1920240"/>
            <a:ext cx="457200" cy="457200"/>
          </a:xfrm>
          <a:prstGeom prst="ellipse">
            <a:avLst/>
          </a:prstGeom>
          <a:solidFill>
            <a:srgbClr val="0C2233"/>
          </a:solidFill>
          <a:ln w="15875">
            <a:solidFill>
              <a:srgbClr val="2DE2C0"/>
            </a:solidFill>
            <a:prstDash val="solid"/>
          </a:ln>
        </p:spPr>
      </p:sp>
      <p:pic>
        <p:nvPicPr>
          <p:cNvPr id="9" name="Image 0" descr="preencoded.png"/>
          <p:cNvPicPr>
            <a:picLocks noChangeAspect="1"/>
          </p:cNvPicPr>
          <p:nvPr/>
        </p:nvPicPr>
        <p:blipFill>
          <a:blip r:embed="rId4"/>
          <a:stretch>
            <a:fillRect/>
          </a:stretch>
        </p:blipFill>
        <p:spPr>
          <a:xfrm>
            <a:off x="758952" y="2039112"/>
            <a:ext cx="219456" cy="219456"/>
          </a:xfrm>
          <a:prstGeom prst="rect">
            <a:avLst/>
          </a:prstGeom>
        </p:spPr>
      </p:pic>
      <p:sp>
        <p:nvSpPr>
          <p:cNvPr id="10" name="Text 7"/>
          <p:cNvSpPr txBox="1"/>
          <p:nvPr/>
        </p:nvSpPr>
        <p:spPr>
          <a:xfrm>
            <a:off x="1234440" y="1874520"/>
            <a:ext cx="1783080" cy="274320"/>
          </a:xfrm>
          <a:prstGeom prst="rect">
            <a:avLst/>
          </a:prstGeom>
          <a:noFill/>
          <a:ln/>
        </p:spPr>
        <p:txBody>
          <a:bodyPr wrap="square" lIns="0" tIns="0" rIns="0" bIns="0" rtlCol="0" anchor="ctr"/>
          <a:lstStyle/>
          <a:p>
            <a:pPr marL="0" indent="0">
              <a:buNone/>
            </a:pPr>
            <a:r>
              <a:rPr lang="en-US" sz="1250" b="1" dirty="0">
                <a:solidFill>
                  <a:srgbClr val="EAF2FF"/>
                </a:solidFill>
                <a:latin typeface="Calibri" pitchFamily="34" charset="0"/>
                <a:ea typeface="Calibri" pitchFamily="34" charset="-122"/>
                <a:cs typeface="Calibri" pitchFamily="34" charset="-120"/>
              </a:rPr>
              <a:t>More real phishing data</a:t>
            </a:r>
            <a:endParaRPr lang="en-US" sz="1250" dirty="0"/>
          </a:p>
        </p:txBody>
      </p:sp>
      <p:sp>
        <p:nvSpPr>
          <p:cNvPr id="11" name="Text 8"/>
          <p:cNvSpPr txBox="1"/>
          <p:nvPr/>
        </p:nvSpPr>
        <p:spPr>
          <a:xfrm>
            <a:off x="1234440" y="2167128"/>
            <a:ext cx="1783080" cy="548640"/>
          </a:xfrm>
          <a:prstGeom prst="rect">
            <a:avLst/>
          </a:prstGeom>
          <a:noFill/>
          <a:ln/>
        </p:spPr>
        <p:txBody>
          <a:bodyPr wrap="square" lIns="0" tIns="0" rIns="0" bIns="0" rtlCol="0" anchor="t"/>
          <a:lstStyle/>
          <a:p>
            <a:pPr marL="0" indent="0">
              <a:buNone/>
            </a:pPr>
            <a:r>
              <a:rPr lang="en-US" sz="1050" dirty="0">
                <a:solidFill>
                  <a:srgbClr val="9DB2CC"/>
                </a:solidFill>
                <a:latin typeface="Calibri" pitchFamily="34" charset="0"/>
                <a:ea typeface="Calibri" pitchFamily="34" charset="-122"/>
                <a:cs typeface="Calibri" pitchFamily="34" charset="-120"/>
              </a:rPr>
              <a:t>Train on large phishing corpora.</a:t>
            </a:r>
            <a:endParaRPr lang="en-US" sz="1050" dirty="0"/>
          </a:p>
        </p:txBody>
      </p:sp>
      <p:sp>
        <p:nvSpPr>
          <p:cNvPr id="12" name="Shape 9"/>
          <p:cNvSpPr/>
          <p:nvPr/>
        </p:nvSpPr>
        <p:spPr>
          <a:xfrm>
            <a:off x="640080" y="2971800"/>
            <a:ext cx="457200" cy="457200"/>
          </a:xfrm>
          <a:prstGeom prst="ellipse">
            <a:avLst/>
          </a:prstGeom>
          <a:solidFill>
            <a:srgbClr val="0C2233"/>
          </a:solidFill>
          <a:ln w="15875">
            <a:solidFill>
              <a:srgbClr val="2DE2C0"/>
            </a:solidFill>
            <a:prstDash val="solid"/>
          </a:ln>
        </p:spPr>
      </p:sp>
      <p:pic>
        <p:nvPicPr>
          <p:cNvPr id="13" name="Image 1" descr="preencoded.png"/>
          <p:cNvPicPr>
            <a:picLocks noChangeAspect="1"/>
          </p:cNvPicPr>
          <p:nvPr/>
        </p:nvPicPr>
        <p:blipFill>
          <a:blip r:embed="rId5"/>
          <a:stretch>
            <a:fillRect/>
          </a:stretch>
        </p:blipFill>
        <p:spPr>
          <a:xfrm>
            <a:off x="758952" y="3090672"/>
            <a:ext cx="219456" cy="219456"/>
          </a:xfrm>
          <a:prstGeom prst="rect">
            <a:avLst/>
          </a:prstGeom>
        </p:spPr>
      </p:pic>
      <p:sp>
        <p:nvSpPr>
          <p:cNvPr id="14" name="Text 10"/>
          <p:cNvSpPr txBox="1"/>
          <p:nvPr/>
        </p:nvSpPr>
        <p:spPr>
          <a:xfrm>
            <a:off x="1234440" y="2926080"/>
            <a:ext cx="1783080" cy="274320"/>
          </a:xfrm>
          <a:prstGeom prst="rect">
            <a:avLst/>
          </a:prstGeom>
          <a:noFill/>
          <a:ln/>
        </p:spPr>
        <p:txBody>
          <a:bodyPr wrap="square" lIns="0" tIns="0" rIns="0" bIns="0" rtlCol="0" anchor="ctr"/>
          <a:lstStyle/>
          <a:p>
            <a:pPr marL="0" indent="0">
              <a:buNone/>
            </a:pPr>
            <a:r>
              <a:rPr lang="en-US" sz="1250" b="1" dirty="0">
                <a:solidFill>
                  <a:srgbClr val="EAF2FF"/>
                </a:solidFill>
                <a:latin typeface="Calibri" pitchFamily="34" charset="0"/>
                <a:ea typeface="Calibri" pitchFamily="34" charset="-122"/>
                <a:cs typeface="Calibri" pitchFamily="34" charset="-120"/>
              </a:rPr>
              <a:t>Inbox integration</a:t>
            </a:r>
            <a:endParaRPr lang="en-US" sz="1250" dirty="0"/>
          </a:p>
        </p:txBody>
      </p:sp>
      <p:sp>
        <p:nvSpPr>
          <p:cNvPr id="15" name="Text 11"/>
          <p:cNvSpPr txBox="1"/>
          <p:nvPr/>
        </p:nvSpPr>
        <p:spPr>
          <a:xfrm>
            <a:off x="1234440" y="3218688"/>
            <a:ext cx="1783080" cy="548640"/>
          </a:xfrm>
          <a:prstGeom prst="rect">
            <a:avLst/>
          </a:prstGeom>
          <a:noFill/>
          <a:ln/>
        </p:spPr>
        <p:txBody>
          <a:bodyPr wrap="square" lIns="0" tIns="0" rIns="0" bIns="0" rtlCol="0" anchor="t"/>
          <a:lstStyle/>
          <a:p>
            <a:pPr marL="0" indent="0">
              <a:buNone/>
            </a:pPr>
            <a:r>
              <a:rPr lang="en-US" sz="1050" dirty="0">
                <a:solidFill>
                  <a:srgbClr val="9DB2CC"/>
                </a:solidFill>
                <a:latin typeface="Calibri" pitchFamily="34" charset="0"/>
                <a:ea typeface="Calibri" pitchFamily="34" charset="-122"/>
                <a:cs typeface="Calibri" pitchFamily="34" charset="-120"/>
              </a:rPr>
              <a:t>Gmail and Outlook plugins.</a:t>
            </a:r>
            <a:endParaRPr lang="en-US" sz="1050" dirty="0"/>
          </a:p>
        </p:txBody>
      </p:sp>
      <p:sp>
        <p:nvSpPr>
          <p:cNvPr id="16" name="Shape 12"/>
          <p:cNvSpPr/>
          <p:nvPr/>
        </p:nvSpPr>
        <p:spPr>
          <a:xfrm>
            <a:off x="3246120" y="1234440"/>
            <a:ext cx="2651760" cy="2743200"/>
          </a:xfrm>
          <a:prstGeom prst="roundRect">
            <a:avLst>
              <a:gd name="adj" fmla="val 2759"/>
            </a:avLst>
          </a:prstGeom>
          <a:solidFill>
            <a:srgbClr val="0F2036"/>
          </a:solidFill>
          <a:ln w="12700">
            <a:solidFill>
              <a:srgbClr val="1D3A5C"/>
            </a:solidFill>
            <a:prstDash val="solid"/>
          </a:ln>
        </p:spPr>
      </p:sp>
      <p:sp>
        <p:nvSpPr>
          <p:cNvPr id="17" name="Shape 13"/>
          <p:cNvSpPr/>
          <p:nvPr/>
        </p:nvSpPr>
        <p:spPr>
          <a:xfrm>
            <a:off x="3429000" y="1371600"/>
            <a:ext cx="1188720" cy="292608"/>
          </a:xfrm>
          <a:prstGeom prst="roundRect">
            <a:avLst>
              <a:gd name="adj" fmla="val 50000"/>
            </a:avLst>
          </a:prstGeom>
          <a:solidFill>
            <a:srgbClr val="0C2233"/>
          </a:solidFill>
          <a:ln w="12700">
            <a:solidFill>
              <a:srgbClr val="FFB547"/>
            </a:solidFill>
            <a:prstDash val="solid"/>
          </a:ln>
        </p:spPr>
      </p:sp>
      <p:sp>
        <p:nvSpPr>
          <p:cNvPr id="18" name="Text 14"/>
          <p:cNvSpPr txBox="1"/>
          <p:nvPr/>
        </p:nvSpPr>
        <p:spPr>
          <a:xfrm>
            <a:off x="3429000" y="1371600"/>
            <a:ext cx="1188720" cy="292608"/>
          </a:xfrm>
          <a:prstGeom prst="rect">
            <a:avLst/>
          </a:prstGeom>
          <a:noFill/>
          <a:ln/>
        </p:spPr>
        <p:txBody>
          <a:bodyPr wrap="square" lIns="0" tIns="0" rIns="0" bIns="0" rtlCol="0" anchor="ctr"/>
          <a:lstStyle/>
          <a:p>
            <a:pPr marL="0" indent="0" algn="ctr">
              <a:buNone/>
            </a:pPr>
            <a:r>
              <a:rPr lang="en-US" sz="1000" b="1" dirty="0">
                <a:solidFill>
                  <a:srgbClr val="FFB547"/>
                </a:solidFill>
                <a:latin typeface="Calibri" pitchFamily="34" charset="0"/>
                <a:ea typeface="Calibri" pitchFamily="34" charset="-122"/>
                <a:cs typeface="Calibri" pitchFamily="34" charset="-120"/>
              </a:rPr>
              <a:t>MID TERM</a:t>
            </a:r>
            <a:endParaRPr lang="en-US" sz="1000" dirty="0"/>
          </a:p>
        </p:txBody>
      </p:sp>
      <p:sp>
        <p:nvSpPr>
          <p:cNvPr id="19" name="Shape 15"/>
          <p:cNvSpPr/>
          <p:nvPr/>
        </p:nvSpPr>
        <p:spPr>
          <a:xfrm>
            <a:off x="3429000" y="1920240"/>
            <a:ext cx="457200" cy="457200"/>
          </a:xfrm>
          <a:prstGeom prst="ellipse">
            <a:avLst/>
          </a:prstGeom>
          <a:solidFill>
            <a:srgbClr val="0C2233"/>
          </a:solidFill>
          <a:ln w="15875">
            <a:solidFill>
              <a:srgbClr val="2DE2C0"/>
            </a:solidFill>
            <a:prstDash val="solid"/>
          </a:ln>
        </p:spPr>
      </p:sp>
      <p:pic>
        <p:nvPicPr>
          <p:cNvPr id="20" name="Image 2" descr="preencoded.png"/>
          <p:cNvPicPr>
            <a:picLocks noChangeAspect="1"/>
          </p:cNvPicPr>
          <p:nvPr/>
        </p:nvPicPr>
        <p:blipFill>
          <a:blip r:embed="rId6"/>
          <a:stretch>
            <a:fillRect/>
          </a:stretch>
        </p:blipFill>
        <p:spPr>
          <a:xfrm>
            <a:off x="3547872" y="2039112"/>
            <a:ext cx="219456" cy="219456"/>
          </a:xfrm>
          <a:prstGeom prst="rect">
            <a:avLst/>
          </a:prstGeom>
        </p:spPr>
      </p:pic>
      <p:sp>
        <p:nvSpPr>
          <p:cNvPr id="21" name="Text 16"/>
          <p:cNvSpPr txBox="1"/>
          <p:nvPr/>
        </p:nvSpPr>
        <p:spPr>
          <a:xfrm>
            <a:off x="4023360" y="1874520"/>
            <a:ext cx="1783080" cy="274320"/>
          </a:xfrm>
          <a:prstGeom prst="rect">
            <a:avLst/>
          </a:prstGeom>
          <a:noFill/>
          <a:ln/>
        </p:spPr>
        <p:txBody>
          <a:bodyPr wrap="square" lIns="0" tIns="0" rIns="0" bIns="0" rtlCol="0" anchor="ctr"/>
          <a:lstStyle/>
          <a:p>
            <a:pPr marL="0" indent="0">
              <a:buNone/>
            </a:pPr>
            <a:r>
              <a:rPr lang="en-US" sz="1250" b="1" dirty="0">
                <a:solidFill>
                  <a:srgbClr val="EAF2FF"/>
                </a:solidFill>
                <a:latin typeface="Calibri" pitchFamily="34" charset="0"/>
                <a:ea typeface="Calibri" pitchFamily="34" charset="-122"/>
                <a:cs typeface="Calibri" pitchFamily="34" charset="-120"/>
              </a:rPr>
              <a:t>SMS and QR scanning</a:t>
            </a:r>
            <a:endParaRPr lang="en-US" sz="1250" dirty="0"/>
          </a:p>
        </p:txBody>
      </p:sp>
      <p:sp>
        <p:nvSpPr>
          <p:cNvPr id="22" name="Text 17"/>
          <p:cNvSpPr txBox="1"/>
          <p:nvPr/>
        </p:nvSpPr>
        <p:spPr>
          <a:xfrm>
            <a:off x="4023360" y="2167128"/>
            <a:ext cx="1783080" cy="548640"/>
          </a:xfrm>
          <a:prstGeom prst="rect">
            <a:avLst/>
          </a:prstGeom>
          <a:noFill/>
          <a:ln/>
        </p:spPr>
        <p:txBody>
          <a:bodyPr wrap="square" lIns="0" tIns="0" rIns="0" bIns="0" rtlCol="0" anchor="t"/>
          <a:lstStyle/>
          <a:p>
            <a:pPr marL="0" indent="0">
              <a:buNone/>
            </a:pPr>
            <a:r>
              <a:rPr lang="en-US" sz="1050" dirty="0">
                <a:solidFill>
                  <a:srgbClr val="9DB2CC"/>
                </a:solidFill>
                <a:latin typeface="Calibri" pitchFamily="34" charset="0"/>
                <a:ea typeface="Calibri" pitchFamily="34" charset="-122"/>
                <a:cs typeface="Calibri" pitchFamily="34" charset="-120"/>
              </a:rPr>
              <a:t>Reuse the engine for scam texts and QR codes.</a:t>
            </a:r>
            <a:endParaRPr lang="en-US" sz="1050" dirty="0"/>
          </a:p>
        </p:txBody>
      </p:sp>
      <p:sp>
        <p:nvSpPr>
          <p:cNvPr id="23" name="Shape 18"/>
          <p:cNvSpPr/>
          <p:nvPr/>
        </p:nvSpPr>
        <p:spPr>
          <a:xfrm>
            <a:off x="3429000" y="2971800"/>
            <a:ext cx="457200" cy="457200"/>
          </a:xfrm>
          <a:prstGeom prst="ellipse">
            <a:avLst/>
          </a:prstGeom>
          <a:solidFill>
            <a:srgbClr val="0C2233"/>
          </a:solidFill>
          <a:ln w="15875">
            <a:solidFill>
              <a:srgbClr val="2DE2C0"/>
            </a:solidFill>
            <a:prstDash val="solid"/>
          </a:ln>
        </p:spPr>
      </p:sp>
      <p:pic>
        <p:nvPicPr>
          <p:cNvPr id="24" name="Image 3" descr="preencoded.png"/>
          <p:cNvPicPr>
            <a:picLocks noChangeAspect="1"/>
          </p:cNvPicPr>
          <p:nvPr/>
        </p:nvPicPr>
        <p:blipFill>
          <a:blip r:embed="rId7"/>
          <a:stretch>
            <a:fillRect/>
          </a:stretch>
        </p:blipFill>
        <p:spPr>
          <a:xfrm>
            <a:off x="3547872" y="3090672"/>
            <a:ext cx="219456" cy="219456"/>
          </a:xfrm>
          <a:prstGeom prst="rect">
            <a:avLst/>
          </a:prstGeom>
        </p:spPr>
      </p:pic>
      <p:sp>
        <p:nvSpPr>
          <p:cNvPr id="25" name="Text 19"/>
          <p:cNvSpPr txBox="1"/>
          <p:nvPr/>
        </p:nvSpPr>
        <p:spPr>
          <a:xfrm>
            <a:off x="4023360" y="2926080"/>
            <a:ext cx="1783080" cy="274320"/>
          </a:xfrm>
          <a:prstGeom prst="rect">
            <a:avLst/>
          </a:prstGeom>
          <a:noFill/>
          <a:ln/>
        </p:spPr>
        <p:txBody>
          <a:bodyPr wrap="square" lIns="0" tIns="0" rIns="0" bIns="0" rtlCol="0" anchor="ctr"/>
          <a:lstStyle/>
          <a:p>
            <a:pPr marL="0" indent="0">
              <a:buNone/>
            </a:pPr>
            <a:r>
              <a:rPr lang="en-US" sz="1250" b="1" dirty="0">
                <a:solidFill>
                  <a:srgbClr val="EAF2FF"/>
                </a:solidFill>
                <a:latin typeface="Calibri" pitchFamily="34" charset="0"/>
                <a:ea typeface="Calibri" pitchFamily="34" charset="-122"/>
                <a:cs typeface="Calibri" pitchFamily="34" charset="-120"/>
              </a:rPr>
              <a:t>Hindi and Telugu</a:t>
            </a:r>
            <a:endParaRPr lang="en-US" sz="1250" dirty="0"/>
          </a:p>
        </p:txBody>
      </p:sp>
      <p:sp>
        <p:nvSpPr>
          <p:cNvPr id="26" name="Text 20"/>
          <p:cNvSpPr txBox="1"/>
          <p:nvPr/>
        </p:nvSpPr>
        <p:spPr>
          <a:xfrm>
            <a:off x="4023360" y="3218688"/>
            <a:ext cx="1783080" cy="548640"/>
          </a:xfrm>
          <a:prstGeom prst="rect">
            <a:avLst/>
          </a:prstGeom>
          <a:noFill/>
          <a:ln/>
        </p:spPr>
        <p:txBody>
          <a:bodyPr wrap="square" lIns="0" tIns="0" rIns="0" bIns="0" rtlCol="0" anchor="t"/>
          <a:lstStyle/>
          <a:p>
            <a:pPr marL="0" indent="0">
              <a:buNone/>
            </a:pPr>
            <a:r>
              <a:rPr lang="en-US" sz="1050" dirty="0">
                <a:solidFill>
                  <a:srgbClr val="9DB2CC"/>
                </a:solidFill>
                <a:latin typeface="Calibri" pitchFamily="34" charset="0"/>
                <a:ea typeface="Calibri" pitchFamily="34" charset="-122"/>
                <a:cs typeface="Calibri" pitchFamily="34" charset="-120"/>
              </a:rPr>
              <a:t>Detect scams in regional languages.</a:t>
            </a:r>
            <a:endParaRPr lang="en-US" sz="1050" dirty="0"/>
          </a:p>
        </p:txBody>
      </p:sp>
      <p:sp>
        <p:nvSpPr>
          <p:cNvPr id="27" name="Shape 21"/>
          <p:cNvSpPr/>
          <p:nvPr/>
        </p:nvSpPr>
        <p:spPr>
          <a:xfrm>
            <a:off x="6035040" y="1234440"/>
            <a:ext cx="2651760" cy="2743200"/>
          </a:xfrm>
          <a:prstGeom prst="roundRect">
            <a:avLst>
              <a:gd name="adj" fmla="val 2759"/>
            </a:avLst>
          </a:prstGeom>
          <a:solidFill>
            <a:srgbClr val="0F2036"/>
          </a:solidFill>
          <a:ln w="12700">
            <a:solidFill>
              <a:srgbClr val="1D3A5C"/>
            </a:solidFill>
            <a:prstDash val="solid"/>
          </a:ln>
        </p:spPr>
      </p:sp>
      <p:sp>
        <p:nvSpPr>
          <p:cNvPr id="28" name="Shape 22"/>
          <p:cNvSpPr/>
          <p:nvPr/>
        </p:nvSpPr>
        <p:spPr>
          <a:xfrm>
            <a:off x="6217920" y="1371600"/>
            <a:ext cx="1188720" cy="292608"/>
          </a:xfrm>
          <a:prstGeom prst="roundRect">
            <a:avLst>
              <a:gd name="adj" fmla="val 50000"/>
            </a:avLst>
          </a:prstGeom>
          <a:solidFill>
            <a:srgbClr val="0C2233"/>
          </a:solidFill>
          <a:ln w="12700">
            <a:solidFill>
              <a:srgbClr val="FF5C5C"/>
            </a:solidFill>
            <a:prstDash val="solid"/>
          </a:ln>
        </p:spPr>
      </p:sp>
      <p:sp>
        <p:nvSpPr>
          <p:cNvPr id="29" name="Text 23"/>
          <p:cNvSpPr txBox="1"/>
          <p:nvPr/>
        </p:nvSpPr>
        <p:spPr>
          <a:xfrm>
            <a:off x="6217920" y="1371600"/>
            <a:ext cx="1188720" cy="292608"/>
          </a:xfrm>
          <a:prstGeom prst="rect">
            <a:avLst/>
          </a:prstGeom>
          <a:noFill/>
          <a:ln/>
        </p:spPr>
        <p:txBody>
          <a:bodyPr wrap="square" lIns="0" tIns="0" rIns="0" bIns="0" rtlCol="0" anchor="ctr"/>
          <a:lstStyle/>
          <a:p>
            <a:pPr marL="0" indent="0" algn="ctr">
              <a:buNone/>
            </a:pPr>
            <a:r>
              <a:rPr lang="en-US" sz="1000" b="1" dirty="0">
                <a:solidFill>
                  <a:srgbClr val="FF5C5C"/>
                </a:solidFill>
                <a:latin typeface="Calibri" pitchFamily="34" charset="0"/>
                <a:ea typeface="Calibri" pitchFamily="34" charset="-122"/>
                <a:cs typeface="Calibri" pitchFamily="34" charset="-120"/>
              </a:rPr>
              <a:t>LONG TERM</a:t>
            </a:r>
            <a:endParaRPr lang="en-US" sz="1000" dirty="0"/>
          </a:p>
        </p:txBody>
      </p:sp>
      <p:sp>
        <p:nvSpPr>
          <p:cNvPr id="30" name="Shape 24"/>
          <p:cNvSpPr/>
          <p:nvPr/>
        </p:nvSpPr>
        <p:spPr>
          <a:xfrm>
            <a:off x="6217920" y="1920240"/>
            <a:ext cx="457200" cy="457200"/>
          </a:xfrm>
          <a:prstGeom prst="ellipse">
            <a:avLst/>
          </a:prstGeom>
          <a:solidFill>
            <a:srgbClr val="0C2233"/>
          </a:solidFill>
          <a:ln w="15875">
            <a:solidFill>
              <a:srgbClr val="2DE2C0"/>
            </a:solidFill>
            <a:prstDash val="solid"/>
          </a:ln>
        </p:spPr>
      </p:sp>
      <p:pic>
        <p:nvPicPr>
          <p:cNvPr id="31" name="Image 4" descr="preencoded.png"/>
          <p:cNvPicPr>
            <a:picLocks noChangeAspect="1"/>
          </p:cNvPicPr>
          <p:nvPr/>
        </p:nvPicPr>
        <p:blipFill>
          <a:blip r:embed="rId8"/>
          <a:stretch>
            <a:fillRect/>
          </a:stretch>
        </p:blipFill>
        <p:spPr>
          <a:xfrm>
            <a:off x="6336792" y="2039112"/>
            <a:ext cx="219456" cy="219456"/>
          </a:xfrm>
          <a:prstGeom prst="rect">
            <a:avLst/>
          </a:prstGeom>
        </p:spPr>
      </p:pic>
      <p:sp>
        <p:nvSpPr>
          <p:cNvPr id="32" name="Text 25"/>
          <p:cNvSpPr txBox="1"/>
          <p:nvPr/>
        </p:nvSpPr>
        <p:spPr>
          <a:xfrm>
            <a:off x="6812280" y="1874520"/>
            <a:ext cx="1783080" cy="274320"/>
          </a:xfrm>
          <a:prstGeom prst="rect">
            <a:avLst/>
          </a:prstGeom>
          <a:noFill/>
          <a:ln/>
        </p:spPr>
        <p:txBody>
          <a:bodyPr wrap="square" lIns="0" tIns="0" rIns="0" bIns="0" rtlCol="0" anchor="ctr"/>
          <a:lstStyle/>
          <a:p>
            <a:pPr marL="0" indent="0">
              <a:buNone/>
            </a:pPr>
            <a:r>
              <a:rPr lang="en-US" sz="1250" b="1" dirty="0">
                <a:solidFill>
                  <a:srgbClr val="EAF2FF"/>
                </a:solidFill>
                <a:latin typeface="Calibri" pitchFamily="34" charset="0"/>
                <a:ea typeface="Calibri" pitchFamily="34" charset="-122"/>
                <a:cs typeface="Calibri" pitchFamily="34" charset="-120"/>
              </a:rPr>
              <a:t>Deep learning</a:t>
            </a:r>
            <a:endParaRPr lang="en-US" sz="1250" dirty="0"/>
          </a:p>
        </p:txBody>
      </p:sp>
      <p:sp>
        <p:nvSpPr>
          <p:cNvPr id="33" name="Text 26"/>
          <p:cNvSpPr txBox="1"/>
          <p:nvPr/>
        </p:nvSpPr>
        <p:spPr>
          <a:xfrm>
            <a:off x="6812280" y="2167128"/>
            <a:ext cx="1783080" cy="548640"/>
          </a:xfrm>
          <a:prstGeom prst="rect">
            <a:avLst/>
          </a:prstGeom>
          <a:noFill/>
          <a:ln/>
        </p:spPr>
        <p:txBody>
          <a:bodyPr wrap="square" lIns="0" tIns="0" rIns="0" bIns="0" rtlCol="0" anchor="t"/>
          <a:lstStyle/>
          <a:p>
            <a:pPr marL="0" indent="0">
              <a:buNone/>
            </a:pPr>
            <a:r>
              <a:rPr lang="en-US" sz="1050" dirty="0">
                <a:solidFill>
                  <a:srgbClr val="9DB2CC"/>
                </a:solidFill>
                <a:latin typeface="Calibri" pitchFamily="34" charset="0"/>
                <a:ea typeface="Calibri" pitchFamily="34" charset="-122"/>
                <a:cs typeface="Calibri" pitchFamily="34" charset="-120"/>
              </a:rPr>
              <a:t>Compare transformer models such as BERT.</a:t>
            </a:r>
            <a:endParaRPr lang="en-US" sz="1050" dirty="0"/>
          </a:p>
        </p:txBody>
      </p:sp>
      <p:sp>
        <p:nvSpPr>
          <p:cNvPr id="34" name="Shape 27"/>
          <p:cNvSpPr/>
          <p:nvPr/>
        </p:nvSpPr>
        <p:spPr>
          <a:xfrm>
            <a:off x="6217920" y="2971800"/>
            <a:ext cx="457200" cy="457200"/>
          </a:xfrm>
          <a:prstGeom prst="ellipse">
            <a:avLst/>
          </a:prstGeom>
          <a:solidFill>
            <a:srgbClr val="0C2233"/>
          </a:solidFill>
          <a:ln w="15875">
            <a:solidFill>
              <a:srgbClr val="2DE2C0"/>
            </a:solidFill>
            <a:prstDash val="solid"/>
          </a:ln>
        </p:spPr>
      </p:sp>
      <p:pic>
        <p:nvPicPr>
          <p:cNvPr id="35" name="Image 5" descr="preencoded.png"/>
          <p:cNvPicPr>
            <a:picLocks noChangeAspect="1"/>
          </p:cNvPicPr>
          <p:nvPr/>
        </p:nvPicPr>
        <p:blipFill>
          <a:blip r:embed="rId9"/>
          <a:stretch>
            <a:fillRect/>
          </a:stretch>
        </p:blipFill>
        <p:spPr>
          <a:xfrm>
            <a:off x="6336792" y="3090672"/>
            <a:ext cx="219456" cy="219456"/>
          </a:xfrm>
          <a:prstGeom prst="rect">
            <a:avLst/>
          </a:prstGeom>
        </p:spPr>
      </p:pic>
      <p:sp>
        <p:nvSpPr>
          <p:cNvPr id="36" name="Text 28"/>
          <p:cNvSpPr txBox="1"/>
          <p:nvPr/>
        </p:nvSpPr>
        <p:spPr>
          <a:xfrm>
            <a:off x="6812280" y="2926080"/>
            <a:ext cx="1783080" cy="274320"/>
          </a:xfrm>
          <a:prstGeom prst="rect">
            <a:avLst/>
          </a:prstGeom>
          <a:noFill/>
          <a:ln/>
        </p:spPr>
        <p:txBody>
          <a:bodyPr wrap="square" lIns="0" tIns="0" rIns="0" bIns="0" rtlCol="0" anchor="ctr"/>
          <a:lstStyle/>
          <a:p>
            <a:pPr marL="0" indent="0">
              <a:buNone/>
            </a:pPr>
            <a:r>
              <a:rPr lang="en-US" sz="1250" b="1" dirty="0">
                <a:solidFill>
                  <a:srgbClr val="EAF2FF"/>
                </a:solidFill>
                <a:latin typeface="Calibri" pitchFamily="34" charset="0"/>
                <a:ea typeface="Calibri" pitchFamily="34" charset="-122"/>
                <a:cs typeface="Calibri" pitchFamily="34" charset="-120"/>
              </a:rPr>
              <a:t>Cloud deployment</a:t>
            </a:r>
            <a:endParaRPr lang="en-US" sz="1250" dirty="0"/>
          </a:p>
        </p:txBody>
      </p:sp>
      <p:sp>
        <p:nvSpPr>
          <p:cNvPr id="37" name="Text 29"/>
          <p:cNvSpPr txBox="1"/>
          <p:nvPr/>
        </p:nvSpPr>
        <p:spPr>
          <a:xfrm>
            <a:off x="6812280" y="3218688"/>
            <a:ext cx="1783080" cy="548640"/>
          </a:xfrm>
          <a:prstGeom prst="rect">
            <a:avLst/>
          </a:prstGeom>
          <a:noFill/>
          <a:ln/>
        </p:spPr>
        <p:txBody>
          <a:bodyPr wrap="square" lIns="0" tIns="0" rIns="0" bIns="0" rtlCol="0" anchor="t"/>
          <a:lstStyle/>
          <a:p>
            <a:pPr marL="0" indent="0">
              <a:buNone/>
            </a:pPr>
            <a:r>
              <a:rPr lang="en-US" sz="1050" dirty="0">
                <a:solidFill>
                  <a:srgbClr val="9DB2CC"/>
                </a:solidFill>
                <a:latin typeface="Calibri" pitchFamily="34" charset="0"/>
                <a:ea typeface="Calibri" pitchFamily="34" charset="-122"/>
                <a:cs typeface="Calibri" pitchFamily="34" charset="-120"/>
              </a:rPr>
              <a:t>Hosted version with user accounts.</a:t>
            </a:r>
            <a:endParaRPr lang="en-US" sz="1050" dirty="0"/>
          </a:p>
        </p:txBody>
      </p:sp>
      <p:sp>
        <p:nvSpPr>
          <p:cNvPr id="38" name="Shape 30"/>
          <p:cNvSpPr/>
          <p:nvPr/>
        </p:nvSpPr>
        <p:spPr>
          <a:xfrm>
            <a:off x="457200" y="4160520"/>
            <a:ext cx="8229600" cy="548640"/>
          </a:xfrm>
          <a:prstGeom prst="roundRect">
            <a:avLst>
              <a:gd name="adj" fmla="val 13333"/>
            </a:avLst>
          </a:prstGeom>
          <a:solidFill>
            <a:srgbClr val="0C2233"/>
          </a:solidFill>
          <a:ln w="12700">
            <a:solidFill>
              <a:srgbClr val="1B6B62"/>
            </a:solidFill>
            <a:prstDash val="solid"/>
          </a:ln>
        </p:spPr>
      </p:sp>
      <p:sp>
        <p:nvSpPr>
          <p:cNvPr id="39" name="Text 31"/>
          <p:cNvSpPr txBox="1"/>
          <p:nvPr/>
        </p:nvSpPr>
        <p:spPr>
          <a:xfrm>
            <a:off x="457200" y="4160520"/>
            <a:ext cx="8229600" cy="548640"/>
          </a:xfrm>
          <a:prstGeom prst="rect">
            <a:avLst/>
          </a:prstGeom>
          <a:noFill/>
          <a:ln/>
        </p:spPr>
        <p:txBody>
          <a:bodyPr wrap="square" lIns="0" tIns="0" rIns="0" bIns="0" rtlCol="0" anchor="ctr"/>
          <a:lstStyle/>
          <a:p>
            <a:pPr marL="0" indent="0" algn="ctr">
              <a:buNone/>
            </a:pPr>
            <a:r>
              <a:rPr lang="en-US" sz="1800" b="1" dirty="0">
                <a:solidFill>
                  <a:srgbClr val="2DE2C0"/>
                </a:solidFill>
                <a:latin typeface="Calibri" pitchFamily="34" charset="0"/>
                <a:ea typeface="Calibri" pitchFamily="34" charset="-122"/>
                <a:cs typeface="Calibri" pitchFamily="34" charset="-120"/>
              </a:rPr>
              <a:t>Thank you   |   Questions?</a:t>
            </a:r>
            <a:endParaRPr lang="en-US" sz="1800" dirty="0"/>
          </a:p>
        </p:txBody>
      </p:sp>
    </p:spTree>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TotalTime>
  <Words>2299</Words>
  <Application>Microsoft Office PowerPoint</Application>
  <PresentationFormat>On-screen Show (16:9)</PresentationFormat>
  <Paragraphs>360</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PhishGuard - Email Phishing Detection System</dc:title>
  <dc:subject>PptxGenJS Presentation</dc:subject>
  <dc:creator>PptxGenJS</dc:creator>
  <cp:lastModifiedBy>Vemula Nithin Murali</cp:lastModifiedBy>
  <cp:revision>2</cp:revision>
  <dcterms:created xsi:type="dcterms:W3CDTF">2026-10-04T11:03:35Z</dcterms:created>
  <dcterms:modified xsi:type="dcterms:W3CDTF">2026-10-04T19:30:22Z</dcterms:modified>
</cp:coreProperties>
</file>